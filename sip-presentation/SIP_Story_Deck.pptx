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Units</c:v>
                </c:pt>
              </c:strCache>
            </c:strRef>
          </c:tx>
          <c:spPr>
            <a:solidFill>
              <a:srgbClr val="B9C3CF"/>
            </a:solidFill>
            <a:effectLst/>
          </c:spPr>
          <c:invertIfNegative val="0"/>
          <c:dLbls>
            <c:numFmt formatCode="#,##0" sourceLinked="0"/>
            <c:txPr>
              <a:bodyPr/>
              <a:lstStyle/>
              <a:p>
                <a:pPr>
                  <a:defRPr b="0" i="0" strike="noStrike" sz="1600" u="none">
                    <a:solidFill>
                      <a:srgbClr val="1A1D21"/>
                    </a:solidFill>
                    <a:latin typeface="Calibri"/>
                  </a:defRPr>
                </a:pPr>
              </a:p>
            </c:txPr>
            <c:showLegendKey val="0"/>
            <c:showVal val="1"/>
            <c:showCatName val="0"/>
            <c:showSerName val="0"/>
            <c:showPercent val="0"/>
            <c:showBubbleSize val="0"/>
            <c:showLeaderLines val="0"/>
          </c:dLbls>
          <c:dPt>
            <c:idx val="0"/>
            <c:invertIfNegative val="0"/>
            <c:bubble3D val="0"/>
            <c:spPr>
              <a:solidFill>
                <a:srgbClr val="B9C3CF"/>
              </a:solidFill>
              <a:effectLst/>
            </c:spPr>
          </c:dPt>
          <c:dPt>
            <c:idx val="1"/>
            <c:invertIfNegative val="0"/>
            <c:bubble3D val="0"/>
            <c:spPr>
              <a:solidFill>
                <a:srgbClr val="121518"/>
              </a:solidFill>
              <a:effectLst/>
            </c:spPr>
          </c:dPt>
          <c:cat>
            <c:multiLvlStrRef>
              <c:f>Sheet1!$A$2:$A$3</c:f>
              <c:multiLvlStrCache>
                <c:ptCount val="2"/>
                <c:lvl>
                  <c:pt idx="0">
                    <c:v>Ideal output</c:v>
                  </c:pt>
                  <c:pt idx="1">
                    <c:v>Actual output</c:v>
                  </c:pt>
                </c:lvl>
              </c:multiLvlStrCache>
            </c:multiLvlStrRef>
          </c:cat>
          <c:val>
            <c:numRef>
              <c:f>Sheet1!$B$2:$B$3</c:f>
              <c:numCache>
                <c:formatCode>General</c:formatCode>
                <c:ptCount val="2"/>
                <c:pt idx="0">
                  <c:v>67500</c:v>
                </c:pt>
                <c:pt idx="1">
                  <c:v>40000</c:v>
                </c:pt>
              </c:numCache>
            </c:numRef>
          </c:val>
        </c:ser>
        <c:dLbls>
          <c:numFmt formatCode="#,##0" sourceLinked="0"/>
          <c:txPr>
            <a:bodyPr/>
            <a:lstStyle/>
            <a:p>
              <a:pPr>
                <a:defRPr b="0" i="0" strike="noStrike" sz="1600" u="none">
                  <a:solidFill>
                    <a:srgbClr val="1A1D21"/>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1A1D21"/>
                </a:solidFill>
                <a:latin typeface="Calibri"/>
              </a:defRPr>
            </a:pPr>
            <a:endParaRPr lang="en-US"/>
          </a:p>
        </c:txPr>
        <c:crossAx val="2094734552"/>
        <c:crosses val="autoZero"/>
        <c:auto val="1"/>
        <c:lblAlgn val="ctr"/>
        <c:noMultiLvlLbl val="1"/>
      </c:catAx>
      <c:valAx>
        <c:axId val="2094734552"/>
        <c:scaling>
          <c:orientation val="minMax"/>
          <c:max val="75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Good morning. Before I tell you about my internship, I want to start with a situation. Imagine a customer sends us a complaint about one of our products. That's where this whole project begins.
WHY IT MATTERS
The panel sees a real JHS machine before they see a single bullet point. It signals that this is a story from the shop floor, not a report written from outside.
WHAT THE PANEL SHOULD NOTICE
This is an actual photograph from the plant, a tube filling line, not a stock image.
LIKELY PANEL QUESTIONS &amp; MY ANSWERS
Q1. Is this a real complaint?
A: No. It's a traceability scenario I used to design and test the system. I'll use it all the way through because it shows exactly what the MES has to do.
TRANSITION TO NEXT SLIDE
So what does the complaint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The complaint is short: "The bristles are getting off." For the customer, that's the whole story. For the plant, it's the start of an investigation. I want to be clear that this is a scenario I built the project around. It isn't a specific complaint that came in while I was there. But it's a very realistic one for a toothbrush manufacturer.
WHY IT MATTERS
Bristle retention is a core quality parameter for a toothbrush. It points back to tufting, to materials like filament and anchor wire, to machine settings and to QC checks. So one sentence touches almost every department.
WHAT THE PANEL SHOULD NOTICE
The disclaimer at the bottom. I'm not overstating what happened during the internship.
LIKELY PANEL QUESTIONS &amp; MY ANSWERS
Q1. Why this particular complaint?
A: Because bristle pull-out can come from the handle material, the filament, the anchor wire or the tufting machine. To answer it you have to connect production, material and quality data, which is exactly what the system does.
Q2. Did JHS actually receive such complaints?
A: I'm not claiming that. I used it as a design scenario to test whether the system could handle a realistic investigation.
TRANSITION TO NEXT SLIDE
So the question for the plant is simple to say and hard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How do we find out what happened? To investigate properly, you need to know which production run made this brush, which materials went into it, what QC recorded, which machine and shift were involved, and where else that batch was sent. I'm not going to answer this yet. First, let's look at what we actually have in hand.
WHY IT MATTERS
This sets up the rest of the presentation. Everything I built is really an answer to this one question.
WHAT THE PANEL SHOULD NOTICE
The questions fade as they go down. The first one, identifying the production run, has to be answered before any of the others.
LIKELY PANEL QUESTIONS &amp; MY ANSWERS
Q1. Isn't this QA's job rather than Operations?
A: QA owns the investigation, but it depends on production, warehouse and dispatch records. Operations is where those records are created, so that's where the connection has to be made.
TRANSITION TO NEXT SLIDE
The only thing we have is the pack. So what does the pack tell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From the pack we realistically get four pieces of information. The batch number and manufacturing date are printed on it. The product name is on the front, and the colour you can see from the brush itself. That's all the customer can give us. The whole investigation has to start from these four fields.
WHY IT MATTERS
The design of the system starts from what's physically available at the point of complaint, not from what would be convenient to have.
WHAT THE PANEL SHOULD NOTICE
Only two of the four fields are actually printed codes. Product and colour come from the pack and the brush.
LIKELY PANEL QUESTIONS &amp; MY ANSWERS
Q1. Why not print the Production Run ID on the pack?
A: That would mean changing artwork and coding on the line, which is outside the scope of an internship and needs regulatory and marketing sign-off. So I designed the system to work with what's already printed.
TRANSITION TO NEXT SLIDE
The obvious move is to search by batch number. But that's where the first problem shows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Naturally, the first thing you'd do is search by batch number. But batch numbers can repeat. They're printed codes from a finite annual series, so the same number recurs later in the year, often on a different product and a different colour. So a batch-number search can return several records, and you can't tell which one the customer is holding. If you pick the wrong one, you end up investigating the wrong production run. I'll be honest: I didn't know this at the start. I found it while testing the system, and it changed the design.
WHY IT MATTERS
This is the key design insight of the project. If the identifier isn't unique, every lookup built on it is unreliable.
WHAT THE PANEL SHOULD NOTICE
The same printed batch number maps to more than one manufacturing occurrence.
LIKELY PANEL QUESTIONS &amp; MY ANSWERS
Q1. Why doesn't the plant just make batch numbers unique?
A: The batch coding follows the plant's existing convention, and it's tied to printed packaging and regulatory records. Changing it affects many departments. My approach was to leave the printed identifier alone and add a unique key inside the system.
Q2. How often did batch numbers actually repeat?
A: I didn't do a formal frequency study. The point is structural: the convention allows repeats, so the system can't assume uniqueness.
TRANSITION TO NEXT SLIDE
So if one field isn't enough, what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What actually identifies a single manufacturing occurrence is the combination of batch number, product, colour and manufacturing date. That's the idea behind what became the Trace Report. You enter the four fields from the pack, and it returns only the production records that match all four. But to build that, I couldn't just design a lookup. I had to understand where each of these pieces of information was being created in the plant.
WHY IT MATTERS
This is the bridge from the problem to the plant. The requirement came from the complaint, but the solution depended on understanding the process.
WHAT THE PANEL SHOULD NOTICE
It's a composite identifier. None of the four fields is unique by itself, but together they point to one run.
LIKELY PANEL QUESTIONS &amp; MY ANSWERS
Q1. What if the four fields still return two records?
A: Then the Trace Report shows both, and the investigator uses the next level of detail, like line, shift or time, to narrow it down. The report is designed to show every match rather than silently picking the first one.
Q2. Why not just use batch plus date?
A: Different products and colours can run on the same date under the same batch convention. Product and colour remove that ambiguity.
TRANSITION TO NEXT SLIDE
So let me take you into the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I did my internship with JHS Svendgaard Laboratories, in the Operations department at their Kala-Amb plant in Himachal Pradesh. JHS is an oral-care manufacturer making toothpaste, toothbrushes and mouthwash, with its corporate office in New Delhi. I spent my time on the floor, understanding how planning, stores, production, QC, packing and dispatch actually work day to day.
WHY IT MATTERS
The panel needs to know this is grounded in a real plant. The system was designed around JHS's actual flow.
WHAT THE PANEL SHOULD NOTICE
The aerial view: several production blocks, warehousing and utilities on one campus. Information has to move between all of them.
LIKELY PANEL QUESTIONS &amp; MY ANSWERS
Q1. What exactly was your role?
A: I was an operations intern. I studied the process, observed a production line, gathered requirements from the people using the records, and designed and built the MES prototype.
TRANSITION TO NEXT SLIDE
The first thing I tried to understand was how material physically moves through the plant.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This is the flow I mapped. Planning decides what to make. The warehouse receives and issues material. Production converts it, QC checks it, packing packs it, and dispatch sends it out. At every step, someone creates a record. So the plant isn't short of records. But these records were created by different people, in different formats, at different times. They didn't automatically join up into one story you could follow from a complaint back to a machine and a material lot.
WHY IT MATTERS
This is where I realised the problem wasn't a lack of data.
WHAT THE PANEL SHOULD NOTICE
Six stages, six records. The link between them is the part that's missing.
LIKELY PANEL QUESTIONS &amp; MY ANSWERS
Q1. How did you map this flow?
A: By walking the process, talking to the people in each function, and looking at the registers and formats they actually filled in.
TRANSITION TO NEXT SLIDE
During the induction I spent time in three plants in particular, and each one changed what the system had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This slide is the one the design rests on. My exposure was observational: I was there to understand where information is created, not to run equipment. In the paste plant, I saw that material gets a traceable identity at the weighbridge and keeps it through quarantine, sampling and release. I also saw that QC testing and QA release are two different decisions, recorded separately. In moulding, the brush first gets its identity at the handle lot, and one moulding lot feeds up to three assembly runs. That's why reverse traceability matters. And in tufting, bristle retention is decided at the anchoring operation, which is exactly what our complaint is about. The right-hand column is the point: each observation became a specific requirement for the system.
WHY IT MATTERS
It shows the design came from the floor, not from a template.
WHAT THE PANEL SHOULD NOTICE
Row 03. The complaint from the opening slide leads straight here.
LIKELY PANEL QUESTIONS &amp; MY ANSWERS
Q1. Did you work on the machines?
A: No, the exposure was observational. I studied the process and the records each stage creates.
Q2. What's the difference between QC and QA?
A: QC tests the material or product against specifications. QA decides whether the batch is released. They're different decisions, made by different people, and recorded separately, so the MES keeps them as separate fields.
TRANSITION TO NEXT SLIDE
Here's what that looks like on the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These are photographs from the plant. On the left is the yard between production blocks, where material moves between stores, production and dispatch all day. Top right is a tube filling line in the paste plant: empty tubes come in from the hopper, then get filled, coded and sealed. Bottom right is the Kala-Amb industrial belt from the roof. Every one of these operations creates records: what was run, what material was used, what was rejected, when the machine stopped.
WHY IT MATTERS
It shows the panel I was physically on the floor, and that the system is built around real operations.
WHAT THE PANEL SHOULD NOTICE
The scale: several blocks, several lines and several shifts. Connecting the information by hand is slow.
LIKELY PANEL QUESTIONS &amp; MY ANSWERS
Q1. Was the MES deployed on these lines?
A: No. It's a working prototype built on the plant's process and record structure, and populated with a demonstration dataset, not the company's production records. Live deployment would be the next step.
TRANSITION TO NEXT SLIDE
And spending time here is what led me to the real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This was the most important thing I learned in the first few weeks. The plant had the data. The problem was how the data was connected. I went in expecting to find missing information. What I actually found was information that existed but lived in separate places and couldn't easily be joined.
WHY IT MATTERS
It changes the solution completely. If data is missing, you collect more. If it's disconnected, you need structure: keys, relationships and a consistent flow.
WHAT THE PANEL SHOULD NOTICE
This single sentence reframes the whole project.
LIKELY PANEL QUESTIONS &amp; MY ANSWERS
Q1. Isn't this true of most plants?
A: Yes, and that's why it matters. It's a very common problem in plants that run on registers and spreadsheets. The fix isn't more data entry. It's connecting what already exists.
TRANSITION TO NEXT SLIDE
Let me show you what "disconnected" actually meant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These are the five kinds of record I kept coming back to: production, quality, material, downtime and dispatch. Each one made sense on its own. But to answer a question that crosses them, like our complaint, someone has to search each register manually, then consolidate what they find, usually by hand. That delays the investigation, and it means management only sees the full picture when someone has done that work. So the issue was structural. There was no common key and no automatic link between the registers.
WHY IT MATTERS
This defines what the MES must fix: a shared key and connected flows, not just a nicer report.
WHAT THE PANEL SHOULD NOTICE
The registers are deliberately drawn scattered, with nothing joining them. That's the problem in one picture.
LIKELY PANEL QUESTIONS &amp; MY ANSWERS
Q1. Were these registers on paper or in Excel?
A: Both. Each function kept its own departmental register or spreadsheet. The records were generally accurate. The issue was that they weren't connected to each other.
Q2. Did you measure how long an investigation took?
A: No, I didn't formally time it, so I won't put a number on it. What I observed was the number of steps and hand-offs involved.
TRANSITION TO NEXT SLIDE
Alongside this, I did a line study, and that gave me a second, more measurable view of the same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During the plant induction, I observed one full operating cycle on the main toothpaste line. This is the one figure in the presentation that comes from actual plant observation rather than the demonstration dataset. Two shifts give 720 available minutes. Take away a 30-minute lunch and a 15-minute tea break, and you have 675 effective minutes. At the line's rated speed of 100 units a minute, the ideal is 67,500 units. That's the benchmark: every available minute, at full speed, with no rejects.
WHY IT MATTERS
It gives a concrete, measurable baseline, and it separates planned time, which isn't a loss, from actual loss.
WHAT THE PANEL SHOULD NOTICE
Planned breaks are removed before calculating the ideal, so the benchmark is fair to the line.
LIKELY PANEL QUESTIONS &amp; MY ANSWERS
Q1. Where did 100 units per minute come from?
A: It's the rated speed of that line. In the MES, the equivalent figure is the ideal speed held in the machine master, not typed on each production record.
Q2. Why exclude breaks?
A: Because they're planned. Loss is measured against the time the line was meant to run, so planned breaks aren't counted as downtime.
Q3. Is one cycle enough?
A: Not for a performance conclusion, and I don't draw one. It was enough to show me the problem: working out the gap was simple, but explaining it wasn't.
TRANSITION TO NEXT SLIDE
So what did the line actually produce?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The line actually produced around 40,000 units. That's a gap of about 27,500 units, or roughly 40.7% below the ideal. I want to be careful here: this is one line on one shift that I observed. It's not a statement about JHS's overall performance. What interested me more was that this single number doesn't tell you why. Did the machine stop? Did it run slowly? Were units rejected? Without connected records, you can't split the gap.
WHY IT MATTERS
This is the operational version of the same problem. The data exists, but it isn't structured to explain the loss.
WHAT THE PANEL SHOULD NOTICE
The caveat. I'm presenting an observation, not a KPI claim about the company.
LIKELY PANEL QUESTIONS &amp; MY ANSWERS
Q1. Is 40% loss normal?
A: It's not unusual for a single observed shift to include changeovers, minor stops and speed losses. But I wouldn't generalise from one shift. That would need data across many shifts.
Q2. How did you count actual output?
A: It's the output registered for that cycle, about 40,000 units. That's why I keep the approximate figure rather than implying false precision.
Q3. Why ~ and not exact?
A: The actual output was an approximate figure from the shift, so I kept the precision honest.
TRANSITION TO NEXT SLIDE
At this point I had two problems: a traceability problem and a visibility problem. So I asked myself what a system would need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So instead of starting with Excel, I started with questions. Can I identify the correct production run from a pack? Can I connect production with quality? Can I trace a material forward to see where it went? Can I trace an implicated lot backwards? Can management see production and losses without someone compiling a report? And can I calculate OEE to explain the gap I saw on the line? These six questions became my requirements.
WHY IT MATTERS
Requirements came from real questions, not from features I wanted to build. It also gives me a way to test the system: does it answer each question?
WHAT THE PANEL SHOULD NOTICE
Questions 1 to 4 are about traceability, from the complaint. Questions 5 and 6 are about performance, from the line study.
LIKELY PANEL QUESTIONS &amp; MY ANSWERS
Q1. How did you validate these requirements?
A: By discussing them with the operations team and checking them against the records they actually maintained, so the system could be fed from existing data.
TRANSITION TO NEXT SLIDE
Getting from these questions to a working system wasn't a straight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This is how the project actually evolved. The first three stages were about understanding: studying the process, turning it into requirements, and defining the real problem. Only then did I design the system, build it, test it and refine it. It wasn't linear. Several parts were rebuilt as my understanding improved. The biggest change came in testing: I found that batch numbers repeat, so in refinement I reworked the identification logic around four fields and an internal run key. The design changed because the evidence changed it.
WHY IT MATTERS
It shows a structured approach and that the design came out of understanding the operation.
WHAT THE PANEL SHOULD NOTICE
The build phase starts at stage four.
LIKELY PANEL QUESTIONS &amp; MY ANSWERS
Q1. How long did each phase take?
A: I didn't run it as fixed time-boxes. Roughly, the first weeks went on the plant induction, process study and requirements. Building and testing followed, and the identification logic was reworked late, once testing exposed the batch-number problem.
Q2. What changed during refinement?
A: The traceability logic. The first version searched on batch number. Testing showed the same batch number returning several runs, so I moved to four-field identification with a unique Production Run ID. I also tightened validation: every coded field became a dropdown from master data.
TRANSITION TO NEXT SLIDE
Let me show you how I structured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I organised the workbook into five layers. Master data holds the reference lists: products, colours, machines, materials and ideal speeds. Transaction registers are where daily events are entered: production, quality, material issue, downtime and dispatch. The calculation layer joins and summarises those registers using formulas like SUMIFS, COUNTIFS and INDEX-MATCH. The presentation layer is what users see: dashboards, the trace report and the OEE view. Documentation explains how to use and maintain it. Data flows in one direction, from masters to registers to calculations to outputs.
WHY IT MATTERS
Separating reference data, event data and calculations is basic data modelling. It keeps the system consistent and easier to maintain than one big sheet.
WHAT THE PANEL SHOULD NOTICE
The calculation layer, highlighted, is where the disconnected registers finally get joined.
LIKELY PANEL QUESTIONS &amp; MY ANSWERS
Q1. Why separate master and transaction data?
A: Master data changes rarely and should be entered once. If a product name is typed freely in every register, lookups break. Dropdowns pull from the master, so every register uses the same values.
Q2. Why not one big sheet?
A: One sheet mixes reference data, events and calculations. It gets slow, hard to validate and easy to break. Layers keep each job separate.
TRANSITION TO NEXT SLIDE
But the layers only work if the records can be linked. And that needs a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This is the single most important design decision in the system. The batch number stays exactly as it is. It's printed on the pack and it's what the customer and regulators see. But inside the system, every production run gets its own Production Run ID, which is unique. It looks like PR-2026-00630. Every downstream record, quality checks, material issues, downtime and dispatch, carries that Run ID. So once the Trace Report identifies the right run from the four pack fields, everything else is connected through one key.
WHY IT MATTERS
A key must be unique. Batch number is the printed identifier; Production Run ID is the relational key. Separating the two is what makes traceability reliable.
WHAT THE PANEL SHOULD NOTICE
Batch Number isn't replaced. The system translates from the printed identifier to the internal key.
LIKELY PANEL QUESTIONS &amp; MY ANSWERS
Q1. Why can't Batch Number be the key?
A: Because it can repeat. A key used for lookups must be unique, otherwise INDEX-MATCH returns the first match, which might be the wrong run.
Q2. How is the Run ID generated?
A: It's assigned when the run is logged in RAW Production, in the format PR-year-sequence. Master Traceability then validates it: a 'Duplicate Run ID' flag if it appears twice, and the production register flags a run with no QC record, an invalid handle lot or a quantity mismatch.
Q3. What stops two people creating the same Run ID?
A: In the prototype, nothing physically stops it, but Master Traceability has a validation column that flags 'Duplicate Run ID' straight away. In a multi-user system, a database would generate the ID and enforce uniqueness. That's one of the limitations I'll come to.
TRANSITION TO NEXT SLIDE
I could walk you through each module now. But I think it's easier if you see the flow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Before I explain the individual modules: may I take approximately 40 seconds to show you a short workflow video? It will make the MES flow easier to understand before I explain the individual modules.
[PLAY VIDEO]
AFTER THE VIDEO: Now that you have seen the overall flow, let me show you what each part is doing.
WHY IT MATTERS
Seeing the flow once gives the panel a mental map. The screenshots that follow then make sense as parts of one system instead of isolated sheets.
WHAT THE PANEL SHOULD NOTICE
The sequence: master data, registers, dashboard, trace report, retrieved record.
LIKELY PANEL QUESTIONS &amp; MY ANSWERS
Q1. Can we see it live in Excel?
A: Yes, I have the workbook open and can show any sheet you'd like after the walkthrough.
TRANSITION TO NEXT SLIDE
Let's start where a manager would start: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This is the management dashboard, where a manager would start. The filter block at the top lets you choose the brand account, plant, shift and date range, and that one filter drives this page and nine others. Below it: actual against planned output, production efficiency, OEE, yield and rejection rate, then downtime and open critical alerts. None of these numbers is typed. Each one is calculated from the production, quality and downtime records under the current filter. And I want to say this clearly: the workbook uses a demonstration dataset, not JHS's production records, so these are not company results.
WHY IT MATTERS
It answers requirement five: can management see production and losses without someone compiling a report first?
WHAT THE PANEL SHOULD NOTICE
"Records in scope: 1,529" at the top right. You always know the basis of the figure you're looking at.
LIKELY PANEL QUESTIONS &amp; MY ANSWERS
Q1. How are the dashboard numbers calculated?
A: SUMIFS and COUNTIFS over the calculation layer, using the same four filter criteria. For example, actual production is SUMIFS of total output where brand, shift and date fall within the filter. Ratios like efficiency are a ratio of two SUMIFS, never an average of percentages.
Q2. How do the alerts work?
A: The Alerts sheet raises exceptions from the records: machine breakdowns above a threshold, batches that failed release, low inventory. Each has a severity, a recommended action, an owner and a status. The dashboard counts the open critical ones.
Q3. Is this real data?
A: No. It's a demonstration dataset, with Amway, Chicco and Dabur modelled as client accounts and fictional operational data. The design is real; the numbers are for demonstration. The only figure in the deck from actual observation is the line study.
TRANSITION TO NEXT SLIDE
A dashboard number is only useful if you can go from it to the records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Behind the dashboard sit the modules. On the left is Production: the order book and schedule adherence. The useful part is the drill-down. A production order is a commercial commitment, a production run is a physical event, so if an order is short you can immediately see the runs that produced it, each with its Production Run ID. On the right is Quality: release performance and a defect Pareto. Instead of reporting only a rejection percentage, it ranks defect categories by batches affected, which is the analysis approach I saw used on the floor. Both modules drill down to the individual batches.
WHY IT MATTERS
This is requirement two: connecting production with quality. The Run ID appears in both.
WHAT THE PANEL SHOULD NOTICE
The orange boxes show where each zoom comes from. The Run ID column in the drill-down is the thread that connects everything.
LIKELY PANEL QUESTIONS &amp; MY ANSWERS
Q1. How do you stop a QC entry pointing to a run that doesn't exist?
A: The Run ID in the QC register isn't a dropdown in this version. Instead, validation columns flag problems: 'Run Not In QC', 'Duplicate Run ID', 'Invalid Handle Lot' and 'Quantity Mismatch'. In a database, this would be a foreign-key constraint. It's one of the things I'd strengthen.
Q2. Who enters this data?
A: The same people who fill the registers today: production supervisors, QC inspectors and dispatch. Users only type into the transaction registers, and coded fields such as product, machine and defect are dropdowns from master data.
TRANSITION TO NEXT SLIDE
Now back to the complaint. Which manufacturing occurrence are we investigating?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So here's the Trace Report, with our complaint. I've entered only the batch number from the pack, JHS-26433, and left product and colour as "All" on purpose. Six production records come back: three different products, four colours, six dates from June to September. Any of them could be the brush the customer is holding. I actually discovered this during testing, not at the design stage. It's why the identification logic was reworked. And the report deliberately returns every match rather than choosing one.
WHY IT MATTERS
This is the evidence for the most important design decision in the project.
WHAT THE PANEL SHOULD NOTICE
The "Matching records: 6" counter. The user knows immediately whether the search has been narrowed enough.
LIKELY PANEL QUESTIONS &amp; MY ANSWERS
Q1. Why do batch numbers repeat?
A: They're printed codes drawn from a finite annual series, so the same number comes round again through the year, often on a different product and colour. In the demonstration dataset, 364 batch numbers cover 1,529 runs, and each recurs three to six times.
Q2. Which formula finds the matches?
A: Each row in Master Traceability has a match flag: 1 if batch, product and colour match (where 'All' acts as a wildcard) and the date is within the range. The report lists the k-th match with INDEX and SMALL(IF(flag=1, row number), k), and the counter is COUNTIF of the flag.
TRANSITION TO NEXT SLIDE
So let's add what else is on the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Now I add the other three fields from the pack: Dabur Red Toothbrush, Medium; colour red; manufacturing date 14 July. Matching records: one. When I open it, the system resolves the unique Production Run ID, PR-2026-00630. That's the hand-off I described earlier: the printed identifier goes in, the internal key comes out, and everything downstream is joined on that key.
WHY IT MATTERS
It answers requirement one, and it's the direct answer to the question I opened with.
WHAT THE PANEL SHOULD NOTICE
The key is resolved by the system, not typed by the investigator.
LIKELY PANEL QUESTIONS &amp; MY ANSWERS
Q1. What if the four fields still return two records?
A: The report shows both, and the investigator picks the right one using the record number. It never silently chooses. In the demonstration data, the four fields were enough to separate every repeat I tested.
Q2. Why a date range rather than one date?
A: Sometimes the customer's pack is damaged or the date is partly legible, so the report takes a from-to range. When the date is clear, from and to are the same day, as here.
TRANSITION TO NEXT SLIDE
So what can we see once we have that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This is the retrieved manufacturing record for PR-2026-00630. It comes in six blocks: product, manufacturing, production, quality, material genealogy, and machine and dispatch. Below these, the sheet also lists the stoppages logged against the run and the materials issued to it. Before, each of these blocks meant a separate search in a separate register. Now it's one view, and every field is a live lookup on the Run ID from Master Traceability.
WHY IT MATTERS
This is the connected story that didn't exist before, and it's the core output of the traceability module.
WHAT THE PANEL SHOULD NOTICE
Block 5, material genealogy. That's what makes reverse traceability possible later.
LIKELY PANEL QUESTIONS &amp; MY ANSWERS
Q1. How is all this pulled together?
A: Master Traceability holds one consolidated row per production run, 78 columns wide, built from the registers with INDEX-MATCH on the Run ID. The report then looks up that one row.
Q2. What is material genealogy?
A: It's the record of which input lots went into which output: here the handle lot, the resin grade and lot, masterbatch, mould, bristle supplier and filament reference. It's like a family tree for the product.
TRANSITION TO NEXT SLIDE
For a bristle complaint specifically, let me zoom into the parts an investigator would look at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For this complaint, bristles coming out, bristle retention is set at the tufting stage, where the filament is anchored into the handle. That's something I saw in the tufting plant. So QA would look first at where and when it was made: the tufting machine, DBR-TUF-11, shift A, and the operator. Then at what went into it: the handle lot, the bristle supplier and the filament reference. All of it is on one record now, instead of in three registers.
WHY IT MATTERS
It connects the system back to what I observed on the floor. The fields in the record were chosen because of what matters in tufting and moulding.
WHAT THE PANEL SHOULD NOTICE
These are zoomed crops of the same record, so they're readable.
LIKELY PANEL QUESTIONS &amp; MY ANSWERS
Q1. Does the system tell you the root cause?
A: No. It gives the investigator the right record and the connected data. Root-cause analysis is still QA's job. In this demonstration case, the root cause recorded in the complaint register is filament lot moisture above specification.
Q2. Why these fields and not others?
A: They came from the plant exposure: in tufting, retention depends on the anchoring; in moulding, identity begins at the handle lot. The record was designed around those observations.
TRANSITION TO NEXT SLIDE
So let's close the loop on the complaint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This brings us back to where we started. The Complaint Tool holds the market complaint register. Complaint CMP-26-0024 in the demonstration data says: "Bristle fall-out during use." The complaint is logged with what the customer reported: batch, product, colour, manufacturing date. The Trace Report identifies the run, and the complaint then carries the Production Run ID, PR-2026-00630. So the manufacturing record behind it, the plant, line, machine, shift, operator, handle lot and QC status, is drawn live from Master Traceability. The corrective action is then tracked to closure against it. In this case the recorded root cause is filament lot moisture above specification.
WHY IT MATTERS
It closes the loop the opening slide created. The question "How do we find out what happened?" now has a concrete path.
WHAT THE PANEL SHOULD NOTICE
The flow at the top is the opening story, now running as a system. Reading the pack is still a human step: there's no image recognition anywhere in the project.
LIKELY PANEL QUESTIONS &amp; MY ANSWERS
Q1. Does the system read the customer's photograph?
A: No. There's no image recognition, computer vision or automatic batch extraction. Reading the four fields from the pack is a human step that takes a few seconds.
Q2. Is CMP-26-0024 a real complaint?
A: No. It's a record in the demonstration dataset. I used it because it matches the scenario I opened with.
TRANSITION TO NEXT SLIDE
And if the investigation implicates a material lot, the question flips: where else did that lot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The Reverse Trace sheet works in two directions. Direction one goes from our production run back to its components: the handle lot, resin, masterbatch, mould, bristle supplier, filament and brass wire. Direction two flips it. Take a component lot, here the handle lot HL-DBR-26-0519, and it lists every other run that lot reached: three runs, with 8,698 good units exposed, and where each one was dispatched. That's the recall-readiness question. The scope of a recall is calculated, not estimated. One honest point: in this prototype, direction two is keyed on the handle lot, because that's where a brush's identity begins, and one moulding lot feeds one to three assembly runs. Tracing by filament lot would use exactly the same pattern on a different column.
WHY IT MATTERS
Investigating one complaint is useful. Containing a problem across every affected batch is what really protects the customer and the brand.
WHAT THE PANEL SHOULD NOTICE
The dispatch numbers in the last column. You can go straight from a suspect lot to the shipments that need to be held or recalled.
LIKELY PANEL QUESTIONS &amp; MY ANSWERS
Q1. What's the difference between forward and reverse traceability?
A: Backward, or upstream, goes from a finished product to its inputs: what went into it. Forward, or downstream, goes from an input lot to every product and shipment it reached. In my workbook, the 'Reverse Trace' sheet does both; I call the lot-to-runs direction reverse traceability because it runs opposite to the complaint investigation.
Q2. How does it find the runs?
A: COUNTIF of the handle lot in Master Traceability gives the number of runs, SUMIFS of good quantity gives the exposure, and INDEX with SMALL(IF(...)) lists each run.
Q3. The root cause was a filament lot, but you traced a handle lot. Why?
A: Because in this version direction two is built on the handle lot. Extending it to the filament AR number is the same formula on another column. I'd add that next.
TRANSITION TO NEXT SLIDE
So traceability tells us where a product came from. But there was a second question from the line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Traceability tells us where a product came from. But the line study raised a different question: how efficiently was it produced? That's what OEE, Overall Equipment Effectiveness, answers. It's Availability times Performance times Quality. Availability is run time over planned production time, so did the line run when it should have? Performance is ideal cycle time times total count over run time, so when it ran, did it run at full speed? Quality is good count over total count, so of what it made, how much was good? Multiply them and you get OEE. It takes the one loss number from the line study and splits it into stops, slow running and rejects.
WHY IT MATTERS
A single gap number tells you there's a problem. OEE tells you which kind of problem, which tells you who should act: maintenance, process or quality.
WHAT THE PANEL SHOULD NOTICE
Each factor maps to a type of loss. That's why it's useful for managers, not just a formula.
LIKELY PANEL QUESTIONS &amp; MY ANSWERS
Q1. Why multiply rather than average?
A: Because losses compound. If you only run 80% of the time, at 90% speed, with 95% good, you only get 0.8 × 0.9 × 0.95 = 68% of ideal good output.
Q2. What's a good OEE?
A: 85% is often quoted as world-class for discrete manufacturing, but I'd use it as a reference point, not a target, without knowing the line and product mix.
Q3. Is Performance the same as efficiency?
A: No. Performance compares actual speed with ideal speed during run time only. Production efficiency, in my dashboard, compares actual output with planned output.
TRANSITION TO NEXT SLIDE
Here's how that looks in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This is the OEE module. For the filter selected, it shows OEE, 74%, and its three parts: availability 84.6%, performance 89.6% and quality 97.6%. The second row shows where they come from: 733,920 minutes planned, 620,878 minutes actually running, and the downtime split into unplanned and planned. Two technical points matter here. First, ideal speed is a property of the machine, held in the machine master, not typed on the production record. Otherwise performance measures the data entry rather than the equipment. Second, when I combine runs, I add up the minutes and the units first and then divide. That's a ratio of sums, not an average of each run's percentage. And to be explicit: this is calculated from recorded data. There's no SCADA, PLC or IoT connection.
WHY IT MATTERS
It connects back to the line study. The single gap now has a structure: how much was stops, how much was speed and how much was rejects.
WHAT THE PANEL SHOULD NOTICE
84.6% × 89.6% × 97.6% = 74.0%. The arithmetic can be checked on the slide.
LIKELY PANEL QUESTIONS &amp; MY ANSWERS
Q1. Why ratio of sums instead of average of ratios?
A: Averaging percentages gives a short run the same weight as a long one. Say run A is 1 hour at 50% availability and run B is 9 hours at 90%. The simple average is 70%, but the real figure is (0.5 + 8.1) ÷ 10 = 86%. Summing first gives the correct weighted result.
Q2. Where do run time and downtime come from?
A: Scheduled minutes come from the production record. Every stoppage is logged in the Downtime register as an event with the Run ID, category, reason and minutes. SUMIFS of downtime by Run ID gives the loss, and run time is scheduled minus downtime.
Q3. Is 74% good?
A: 85% is often quoted as world-class, and the dashboard shows it as a reference. But this is demonstration data, so I wouldn't draw a conclusion about JHS from it.
TRANSITION TO NEXT SLIDE
So, with traceability and OEE in place, what actually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So what changed? Information that used to live in separate registers is now connected through one key. An investigation is a structured retrieval rather than a manual search. Instead of searching by batch number, we identify the run with four fields and a Production Run ID. Reporting comes from a dashboard rather than manual compilation. A single loss number becomes availability, performance and quality. And material investigations can be done with reverse traceability. I haven't put a percentage on any of this, because I didn't formally measure time saved, and I don't want to claim a number I can't defend.
WHY IT MATTERS
It's honest about the impact. The change is structural, and that's what the project can defensibly claim.
WHAT THE PANEL SHOULD NOTICE
No invented ROI.
LIKELY PANEL QUESTIONS &amp; MY ANSWERS
Q1. So how do you know it's better?
A: Each of the six requirements can now be answered from the workbook, which I tested with scenarios. The next step would be to time investigations before and after in a pilot.
Q2. How would you measure impact if you had more time?
A: Time from complaint to identified run, time to produce the daily report, and the number of manual look-ups per investigation, before and after a pilot.
TRANSITION TO NEXT SLIDE
Beyond the system, the project taught me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I'd put what I learned at three levels. At the plant level, I learned how a manufacturing operation actually works: how material moves, where records are created, why traceability is a quality obligation and not just a nice-to-have, and where time is really lost on a line. At the system level, I learned data modelling: separating master and transaction data, why a key has to be unique, why validation has to come before calculation, and how to test with realistic scenarios. And at the manager level, I learned that requirements come from users, that a system is only useful if people will actually fill it in, and how to scope a project under real time and tool constraints.
WHY IT MATTERS
The learning maps directly to the three things an MBA operations role needs: process knowledge, analytical tools and managing change.
WHAT THE PANEL SHOULD NOTICE
Each learning is tied to something specific in the project.
LIKELY PANEL QUESTIONS &amp; MY ANSWERS
Q1. What was the most difficult part?
A: Understanding the operation well enough to know which questions mattered, and designing around the fact that batch numbers repeat. The Excel part was easier once that was clear.
Q2. What would you do differently?
A: I'd involve the end users earlier in testing, and I'd plan a small pilot to measure before-and-after time.
TRANSITION TO NEXT SLIDE
I also want to be honest about what this system is, and what it isn't.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This is a practical, working Excel-based MES prototype. It isn't a full enterprise MES, and I don't want to present it as one. Excel will slow down as the registers grow. It isn't built for many users editing at the same time. There are no user roles and no audit trail. It depends on people entering data correctly, and it doesn't capture data directly from machines. The future path is clear, though. Barcodes or RFID to capture batch and material data at source, SQL for the data layer, IoT for machine run time and counts, integration with ERP, Power BI for reporting, and eventually predictive analytics on downtime and quality.
WHY IT MATTERS
Being clear about limits makes the claims I do make more credible.
WHAT THE PANEL SHOULD NOTICE
The data model, meaning the masters, the registers and the Run ID, carries over to any of the future platforms. Only the tool changes.
LIKELY PANEL QUESTIONS &amp; MY ANSWERS
Q1. Why Excel then?
A: It's what the plant already uses, it needs no new licences or IT approval, and it let me build and test a working prototype within the internship. The design is what matters, and it transfers.
Q2. How scalable is this?
A: Fine for a prototype and a pilot on a few lines. For plant-wide, multi-user use, the registers should move to a database, with Excel or Power BI on top.
TRANSITION TO NEXT SLIDE
So,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If I had to sum up the whole internship in one line: the hardest part wasn't building the workbook.
[PAUSE]
WHY IT MATTERS
The pause lets the panel anticipate the answer.
WHAT THE PANEL SHOULD NOTICE
—
LIKELY PANEL QUESTIONS &amp; MY ANSWERS
—
TRANSITION TO NEXT SLIDE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It was understanding the operation well enough to know what the system needed to answer. Once I understood the plant, I could structure the data. Once the data was structured, traceability was possible. And once it was traceable and measurable, it could support decisions.
WHY IT MATTERS
It ties the whole story together: the plant came first, the tool came second.
WHAT THE PANEL SHOULD NOTICE
The chain reads left to right as the story of the project.
LIKELY PANEL QUESTIONS &amp; MY ANSWERS
Q1. What was your personal contribution?
A: The process study, the line observation, the requirement definition, the data model including the Production Run ID and the four-field trace logic, building all the sheets and formulas, and the testing and refinement.
TRANSITION TO NEXT SLIDE
So, back to the complaint.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SAY
We started with a customer saying, "The bristles are getting off," and a plant that had the data but no easy way to connect it. Now, from the four fields on the pack, we can find the right production run, see its materials, quality and machine history, and trace any suspect material to every batch it touched. Thank you. I'm happy to take your questions, or to show you any part of the workbook live.
WHY IT MATTERS
It closes the loop the opening created.
WHAT THE PANEL SHOULD NOTICE
The ending answers the opening question.
LIKELY PANEL QUESTIONS &amp; MY ANSWERS
Q1. See the viva guide for the full question bank.
A: —
TRANSITION TO NEXT SLIDE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image" Target="../media/image-31-2.png"/><Relationship Id="rId3" Type="http://schemas.openxmlformats.org/officeDocument/2006/relationships/image" Target="../media/image-31-3.jpg"/><Relationship Id="rId4" Type="http://schemas.openxmlformats.org/officeDocument/2006/relationships/slideLayout" Target="../slideLayouts/slideLayout1.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518"/>
        </a:solidFill>
      </p:bgPr>
    </p:bg>
    <p:spTree>
      <p:nvGrpSpPr>
        <p:cNvPr id="1" name=""/>
        <p:cNvGrpSpPr/>
        <p:nvPr/>
      </p:nvGrpSpPr>
      <p:grpSpPr>
        <a:xfrm>
          <a:off x="0" y="0"/>
          <a:ext cx="0" cy="0"/>
          <a:chOff x="0" y="0"/>
          <a:chExt cx="0" cy="0"/>
        </a:xfrm>
      </p:grpSpPr>
      <p:pic>
        <p:nvPicPr>
          <p:cNvPr id="2" name="Image 0" descr="/home/user/master-executive-system/sip-presentation/source/photos/4.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58000"/>
            </a:srgbClr>
          </a:solidFill>
          <a:ln/>
        </p:spPr>
      </p:sp>
      <p:sp>
        <p:nvSpPr>
          <p:cNvPr id="4" name="Shape 1"/>
          <p:cNvSpPr/>
          <p:nvPr/>
        </p:nvSpPr>
        <p:spPr>
          <a:xfrm>
            <a:off x="0" y="3840480"/>
            <a:ext cx="12191695" cy="3017520"/>
          </a:xfrm>
          <a:prstGeom prst="rect">
            <a:avLst/>
          </a:prstGeom>
          <a:solidFill>
            <a:srgbClr val="000000">
              <a:alpha val="70000"/>
            </a:srgbClr>
          </a:solidFill>
          <a:ln/>
        </p:spPr>
      </p:sp>
      <p:sp>
        <p:nvSpPr>
          <p:cNvPr id="5" name="Text 2"/>
          <p:cNvSpPr txBox="1"/>
          <p:nvPr/>
        </p:nvSpPr>
        <p:spPr>
          <a:xfrm>
            <a:off x="548640" y="411480"/>
            <a:ext cx="9144000" cy="274320"/>
          </a:xfrm>
          <a:prstGeom prst="rect">
            <a:avLst/>
          </a:prstGeom>
          <a:noFill/>
          <a:ln/>
        </p:spPr>
        <p:txBody>
          <a:bodyPr wrap="square" lIns="0" tIns="0" rIns="0" bIns="0" rtlCol="0" anchor="ctr"/>
          <a:lstStyle/>
          <a:p>
            <a:pPr indent="0" marL="0">
              <a:buNone/>
            </a:pPr>
            <a:r>
              <a:rPr lang="en-US" sz="1050" spc="300" kern="0" dirty="0">
                <a:solidFill>
                  <a:srgbClr val="E4E6E8"/>
                </a:solidFill>
                <a:latin typeface="Calibri" pitchFamily="34" charset="0"/>
                <a:ea typeface="Calibri" pitchFamily="34" charset="-122"/>
                <a:cs typeface="Calibri" pitchFamily="34" charset="-120"/>
              </a:rPr>
              <a:t>A SUMMER INTERNSHIP PROJECT  ·  JHS SVENDGAARD LABORATORIES LTD.</a:t>
            </a:r>
            <a:endParaRPr lang="en-US" sz="1050" dirty="0"/>
          </a:p>
        </p:txBody>
      </p:sp>
      <p:sp>
        <p:nvSpPr>
          <p:cNvPr id="6" name="Text 3"/>
          <p:cNvSpPr txBox="1"/>
          <p:nvPr/>
        </p:nvSpPr>
        <p:spPr>
          <a:xfrm>
            <a:off x="548640" y="4069080"/>
            <a:ext cx="8686800" cy="1737360"/>
          </a:xfrm>
          <a:prstGeom prst="rect">
            <a:avLst/>
          </a:prstGeom>
          <a:noFill/>
          <a:ln/>
        </p:spPr>
        <p:txBody>
          <a:bodyPr wrap="square" lIns="0" tIns="0" rIns="0" bIns="0" rtlCol="0" anchor="t"/>
          <a:lstStyle/>
          <a:p>
            <a:pPr indent="0" marL="0">
              <a:buNone/>
            </a:pPr>
            <a:r>
              <a:rPr lang="en-US" sz="5400" dirty="0">
                <a:solidFill>
                  <a:srgbClr val="FFFFFF"/>
                </a:solidFill>
                <a:latin typeface="Cambria" pitchFamily="34" charset="0"/>
                <a:ea typeface="Cambria" pitchFamily="34" charset="-122"/>
                <a:cs typeface="Cambria" pitchFamily="34" charset="-120"/>
              </a:rPr>
              <a:t>Imagine a customer</a:t>
            </a:r>
            <a:endParaRPr lang="en-US" sz="5400" dirty="0"/>
          </a:p>
          <a:p>
            <a:pPr indent="0" marL="0">
              <a:buNone/>
            </a:pPr>
            <a:r>
              <a:rPr lang="en-US" sz="5400" dirty="0">
                <a:solidFill>
                  <a:srgbClr val="FFFFFF"/>
                </a:solidFill>
                <a:latin typeface="Cambria" pitchFamily="34" charset="0"/>
                <a:ea typeface="Cambria" pitchFamily="34" charset="-122"/>
                <a:cs typeface="Cambria" pitchFamily="34" charset="-120"/>
              </a:rPr>
              <a:t>sends us this.</a:t>
            </a:r>
            <a:endParaRPr lang="en-US" sz="5400" dirty="0"/>
          </a:p>
        </p:txBody>
      </p:sp>
      <p:sp>
        <p:nvSpPr>
          <p:cNvPr id="7" name="Text 4"/>
          <p:cNvSpPr txBox="1"/>
          <p:nvPr/>
        </p:nvSpPr>
        <p:spPr>
          <a:xfrm>
            <a:off x="548640" y="6126480"/>
            <a:ext cx="8229600" cy="274320"/>
          </a:xfrm>
          <a:prstGeom prst="rect">
            <a:avLst/>
          </a:prstGeom>
          <a:noFill/>
          <a:ln/>
        </p:spPr>
        <p:txBody>
          <a:bodyPr wrap="square" lIns="0" tIns="0" rIns="0" bIns="0" rtlCol="0" anchor="ctr"/>
          <a:lstStyle/>
          <a:p>
            <a:pPr indent="0" marL="0">
              <a:buNone/>
            </a:pPr>
            <a:r>
              <a:rPr lang="en-US" sz="1200" dirty="0">
                <a:solidFill>
                  <a:srgbClr val="C9CDD1"/>
                </a:solidFill>
                <a:latin typeface="Calibri" pitchFamily="34" charset="0"/>
                <a:ea typeface="Calibri" pitchFamily="34" charset="-122"/>
                <a:cs typeface="Calibri" pitchFamily="34" charset="-120"/>
              </a:rPr>
              <a:t>Shreejita Srivastava  ·  MBA, IIIT Allahabad  ·  IMB2025026  ·  SIP 2026</a:t>
            </a:r>
            <a:endParaRPr lang="en-US" sz="1200" dirty="0"/>
          </a:p>
        </p:txBody>
      </p:sp>
      <p:sp>
        <p:nvSpPr>
          <p:cNvPr id="9" name="Text 5"/>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7D858B"/>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518"/>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01</a:t>
            </a:r>
            <a:pPr indent="0" marL="0">
              <a:buNone/>
            </a:pPr>
            <a:r>
              <a:rPr lang="en-US" sz="1050" spc="300" kern="0" dirty="0">
                <a:solidFill>
                  <a:srgbClr val="9AA1A7"/>
                </a:solidFill>
                <a:latin typeface="Calibri" pitchFamily="34" charset="0"/>
                <a:ea typeface="Calibri" pitchFamily="34" charset="-122"/>
                <a:cs typeface="Calibri" pitchFamily="34" charset="-120"/>
              </a:rPr>
              <a:t>   THE QUESTION</a:t>
            </a:r>
            <a:endParaRPr lang="en-US" sz="1050" dirty="0"/>
          </a:p>
        </p:txBody>
      </p:sp>
      <p:sp>
        <p:nvSpPr>
          <p:cNvPr id="3" name="Text 1"/>
          <p:cNvSpPr txBox="1"/>
          <p:nvPr/>
        </p:nvSpPr>
        <p:spPr>
          <a:xfrm>
            <a:off x="1097280" y="1737360"/>
            <a:ext cx="5486400" cy="274320"/>
          </a:xfrm>
          <a:prstGeom prst="rect">
            <a:avLst/>
          </a:prstGeom>
          <a:noFill/>
          <a:ln/>
        </p:spPr>
        <p:txBody>
          <a:bodyPr wrap="square" lIns="0" tIns="0" rIns="0" bIns="0" rtlCol="0" anchor="ctr"/>
          <a:lstStyle/>
          <a:p>
            <a:pPr indent="0" marL="0">
              <a:buNone/>
            </a:pPr>
            <a:r>
              <a:rPr lang="en-US" sz="1100" b="1" spc="400" kern="0" dirty="0">
                <a:solidFill>
                  <a:srgbClr val="E0561F"/>
                </a:solidFill>
                <a:latin typeface="Calibri" pitchFamily="34" charset="0"/>
                <a:ea typeface="Calibri" pitchFamily="34" charset="-122"/>
                <a:cs typeface="Calibri" pitchFamily="34" charset="-120"/>
              </a:rPr>
              <a:t>CUSTOMER COMPLAINT</a:t>
            </a:r>
            <a:endParaRPr lang="en-US" sz="1100" dirty="0"/>
          </a:p>
        </p:txBody>
      </p:sp>
      <p:sp>
        <p:nvSpPr>
          <p:cNvPr id="4" name="Text 2"/>
          <p:cNvSpPr txBox="1"/>
          <p:nvPr/>
        </p:nvSpPr>
        <p:spPr>
          <a:xfrm>
            <a:off x="1097280" y="2148840"/>
            <a:ext cx="10058400" cy="2560320"/>
          </a:xfrm>
          <a:prstGeom prst="rect">
            <a:avLst/>
          </a:prstGeom>
          <a:noFill/>
          <a:ln/>
        </p:spPr>
        <p:txBody>
          <a:bodyPr wrap="square" lIns="0" tIns="0" rIns="0" bIns="0" rtlCol="0" anchor="t"/>
          <a:lstStyle/>
          <a:p>
            <a:pPr indent="0" marL="0">
              <a:buNone/>
            </a:pPr>
            <a:r>
              <a:rPr lang="en-US" sz="7200" i="1" dirty="0">
                <a:solidFill>
                  <a:srgbClr val="FFFFFF"/>
                </a:solidFill>
                <a:latin typeface="Cambria" pitchFamily="34" charset="0"/>
                <a:ea typeface="Cambria" pitchFamily="34" charset="-122"/>
                <a:cs typeface="Cambria" pitchFamily="34" charset="-120"/>
              </a:rPr>
              <a:t>“The bristles are</a:t>
            </a:r>
            <a:endParaRPr lang="en-US" sz="7200" dirty="0"/>
          </a:p>
          <a:p>
            <a:pPr indent="0" marL="0">
              <a:buNone/>
            </a:pPr>
            <a:r>
              <a:rPr lang="en-US" sz="7200" i="1" dirty="0">
                <a:solidFill>
                  <a:srgbClr val="FFFFFF"/>
                </a:solidFill>
                <a:latin typeface="Cambria" pitchFamily="34" charset="0"/>
                <a:ea typeface="Cambria" pitchFamily="34" charset="-122"/>
                <a:cs typeface="Cambria" pitchFamily="34" charset="-120"/>
              </a:rPr>
              <a:t>getting off.”</a:t>
            </a:r>
            <a:endParaRPr lang="en-US" sz="7200" dirty="0"/>
          </a:p>
        </p:txBody>
      </p:sp>
      <p:sp>
        <p:nvSpPr>
          <p:cNvPr id="5" name="Text 3"/>
          <p:cNvSpPr txBox="1"/>
          <p:nvPr/>
        </p:nvSpPr>
        <p:spPr>
          <a:xfrm>
            <a:off x="1097280" y="4892040"/>
            <a:ext cx="9144000" cy="320040"/>
          </a:xfrm>
          <a:prstGeom prst="rect">
            <a:avLst/>
          </a:prstGeom>
          <a:noFill/>
          <a:ln/>
        </p:spPr>
        <p:txBody>
          <a:bodyPr wrap="square" lIns="0" tIns="0" rIns="0" bIns="0" rtlCol="0" anchor="ctr"/>
          <a:lstStyle/>
          <a:p>
            <a:pPr indent="0" marL="0">
              <a:buNone/>
            </a:pPr>
            <a:r>
              <a:rPr lang="en-US" sz="1400" dirty="0">
                <a:solidFill>
                  <a:srgbClr val="AEB4B9"/>
                </a:solidFill>
                <a:latin typeface="Calibri" pitchFamily="34" charset="0"/>
                <a:ea typeface="Calibri" pitchFamily="34" charset="-122"/>
                <a:cs typeface="Calibri" pitchFamily="34" charset="-120"/>
              </a:rPr>
              <a:t>Product: toothbrush   ·   Evidence: the pack in the customer's hand</a:t>
            </a:r>
            <a:endParaRPr lang="en-US" sz="1400" dirty="0"/>
          </a:p>
        </p:txBody>
      </p:sp>
      <p:sp>
        <p:nvSpPr>
          <p:cNvPr id="6" name="Text 4"/>
          <p:cNvSpPr txBox="1"/>
          <p:nvPr/>
        </p:nvSpPr>
        <p:spPr>
          <a:xfrm>
            <a:off x="1097280" y="6035040"/>
            <a:ext cx="9601200" cy="274320"/>
          </a:xfrm>
          <a:prstGeom prst="rect">
            <a:avLst/>
          </a:prstGeom>
          <a:noFill/>
          <a:ln/>
        </p:spPr>
        <p:txBody>
          <a:bodyPr wrap="square" lIns="0" tIns="0" rIns="0" bIns="0" rtlCol="0" anchor="ctr"/>
          <a:lstStyle/>
          <a:p>
            <a:pPr indent="0" marL="0">
              <a:buNone/>
            </a:pPr>
            <a:r>
              <a:rPr lang="en-US" sz="1000" i="1" dirty="0">
                <a:solidFill>
                  <a:srgbClr val="7D858B"/>
                </a:solidFill>
                <a:latin typeface="Calibri" pitchFamily="34" charset="0"/>
                <a:ea typeface="Calibri" pitchFamily="34" charset="-122"/>
                <a:cs typeface="Calibri" pitchFamily="34" charset="-120"/>
              </a:rPr>
              <a:t>A traceability scenario used to design and test this project, not a specific complaint from my internship period.</a:t>
            </a:r>
            <a:endParaRPr lang="en-US" sz="1000" dirty="0"/>
          </a:p>
        </p:txBody>
      </p:sp>
      <p:sp>
        <p:nvSpPr>
          <p:cNvPr id="8" name="Text 5"/>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7D858B"/>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518"/>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01</a:t>
            </a:r>
            <a:pPr indent="0" marL="0">
              <a:buNone/>
            </a:pPr>
            <a:r>
              <a:rPr lang="en-US" sz="1050" spc="300" kern="0" dirty="0">
                <a:solidFill>
                  <a:srgbClr val="9AA1A7"/>
                </a:solidFill>
                <a:latin typeface="Calibri" pitchFamily="34" charset="0"/>
                <a:ea typeface="Calibri" pitchFamily="34" charset="-122"/>
                <a:cs typeface="Calibri" pitchFamily="34" charset="-120"/>
              </a:rPr>
              <a:t>   THE QUESTION</a:t>
            </a:r>
            <a:endParaRPr lang="en-US" sz="1050" dirty="0"/>
          </a:p>
        </p:txBody>
      </p:sp>
      <p:sp>
        <p:nvSpPr>
          <p:cNvPr id="3" name="Text 1"/>
          <p:cNvSpPr txBox="1"/>
          <p:nvPr/>
        </p:nvSpPr>
        <p:spPr>
          <a:xfrm>
            <a:off x="548640" y="1828800"/>
            <a:ext cx="6949440" cy="2377440"/>
          </a:xfrm>
          <a:prstGeom prst="rect">
            <a:avLst/>
          </a:prstGeom>
          <a:noFill/>
          <a:ln/>
        </p:spPr>
        <p:txBody>
          <a:bodyPr wrap="square" lIns="0" tIns="0" rIns="0" bIns="0" rtlCol="0" anchor="t"/>
          <a:lstStyle/>
          <a:p>
            <a:pPr indent="0" marL="0">
              <a:buNone/>
            </a:pPr>
            <a:r>
              <a:rPr lang="en-US" sz="5000" dirty="0">
                <a:solidFill>
                  <a:srgbClr val="FFFFFF"/>
                </a:solidFill>
                <a:latin typeface="Cambria" pitchFamily="34" charset="0"/>
                <a:ea typeface="Cambria" pitchFamily="34" charset="-122"/>
                <a:cs typeface="Cambria" pitchFamily="34" charset="-120"/>
              </a:rPr>
              <a:t>How do we find out</a:t>
            </a:r>
            <a:endParaRPr lang="en-US" sz="5000" dirty="0"/>
          </a:p>
          <a:p>
            <a:pPr indent="0" marL="0">
              <a:buNone/>
            </a:pPr>
            <a:r>
              <a:rPr lang="en-US" sz="5000" dirty="0">
                <a:solidFill>
                  <a:srgbClr val="FFFFFF"/>
                </a:solidFill>
                <a:latin typeface="Cambria" pitchFamily="34" charset="0"/>
                <a:ea typeface="Cambria" pitchFamily="34" charset="-122"/>
                <a:cs typeface="Cambria" pitchFamily="34" charset="-120"/>
              </a:rPr>
              <a:t>what happened?</a:t>
            </a:r>
            <a:endParaRPr lang="en-US" sz="5000" dirty="0"/>
          </a:p>
        </p:txBody>
      </p:sp>
      <p:sp>
        <p:nvSpPr>
          <p:cNvPr id="4" name="Text 2"/>
          <p:cNvSpPr txBox="1"/>
          <p:nvPr/>
        </p:nvSpPr>
        <p:spPr>
          <a:xfrm>
            <a:off x="7955280" y="1783080"/>
            <a:ext cx="3840480" cy="457200"/>
          </a:xfrm>
          <a:prstGeom prst="rect">
            <a:avLst/>
          </a:prstGeom>
          <a:noFill/>
          <a:ln/>
        </p:spPr>
        <p:txBody>
          <a:bodyPr wrap="square" lIns="0" tIns="0" rIns="0" bIns="0" rtlCol="0" anchor="ctr"/>
          <a:lstStyle/>
          <a:p>
            <a:pPr indent="0" marL="0">
              <a:buNone/>
            </a:pPr>
            <a:r>
              <a:rPr lang="en-US" sz="1600" dirty="0">
                <a:solidFill>
                  <a:srgbClr val="D9DCDF"/>
                </a:solidFill>
                <a:latin typeface="Calibri" pitchFamily="34" charset="0"/>
                <a:ea typeface="Calibri" pitchFamily="34" charset="-122"/>
                <a:cs typeface="Calibri" pitchFamily="34" charset="-120"/>
              </a:rPr>
              <a:t>Which production run made it?</a:t>
            </a:r>
            <a:endParaRPr lang="en-US" sz="1600" dirty="0"/>
          </a:p>
        </p:txBody>
      </p:sp>
      <p:sp>
        <p:nvSpPr>
          <p:cNvPr id="5" name="Text 3"/>
          <p:cNvSpPr txBox="1"/>
          <p:nvPr/>
        </p:nvSpPr>
        <p:spPr>
          <a:xfrm>
            <a:off x="7955280" y="2441448"/>
            <a:ext cx="3840480" cy="457200"/>
          </a:xfrm>
          <a:prstGeom prst="rect">
            <a:avLst/>
          </a:prstGeom>
          <a:noFill/>
          <a:ln/>
        </p:spPr>
        <p:txBody>
          <a:bodyPr wrap="square" lIns="0" tIns="0" rIns="0" bIns="0" rtlCol="0" anchor="ctr"/>
          <a:lstStyle/>
          <a:p>
            <a:pPr indent="0" marL="0">
              <a:buNone/>
            </a:pPr>
            <a:r>
              <a:rPr lang="en-US" sz="1600" dirty="0">
                <a:solidFill>
                  <a:srgbClr val="B5BBC0"/>
                </a:solidFill>
                <a:latin typeface="Calibri" pitchFamily="34" charset="0"/>
                <a:ea typeface="Calibri" pitchFamily="34" charset="-122"/>
                <a:cs typeface="Calibri" pitchFamily="34" charset="-120"/>
              </a:rPr>
              <a:t>Which materials went into it?</a:t>
            </a:r>
            <a:endParaRPr lang="en-US" sz="1600" dirty="0"/>
          </a:p>
        </p:txBody>
      </p:sp>
      <p:sp>
        <p:nvSpPr>
          <p:cNvPr id="6" name="Text 4"/>
          <p:cNvSpPr txBox="1"/>
          <p:nvPr/>
        </p:nvSpPr>
        <p:spPr>
          <a:xfrm>
            <a:off x="7955280" y="3099816"/>
            <a:ext cx="3840480" cy="457200"/>
          </a:xfrm>
          <a:prstGeom prst="rect">
            <a:avLst/>
          </a:prstGeom>
          <a:noFill/>
          <a:ln/>
        </p:spPr>
        <p:txBody>
          <a:bodyPr wrap="square" lIns="0" tIns="0" rIns="0" bIns="0" rtlCol="0" anchor="ctr"/>
          <a:lstStyle/>
          <a:p>
            <a:pPr indent="0" marL="0">
              <a:buNone/>
            </a:pPr>
            <a:r>
              <a:rPr lang="en-US" sz="1600" dirty="0">
                <a:solidFill>
                  <a:srgbClr val="979EA4"/>
                </a:solidFill>
                <a:latin typeface="Calibri" pitchFamily="34" charset="0"/>
                <a:ea typeface="Calibri" pitchFamily="34" charset="-122"/>
                <a:cs typeface="Calibri" pitchFamily="34" charset="-120"/>
              </a:rPr>
              <a:t>What did QC record that day?</a:t>
            </a:r>
            <a:endParaRPr lang="en-US" sz="1600" dirty="0"/>
          </a:p>
        </p:txBody>
      </p:sp>
      <p:sp>
        <p:nvSpPr>
          <p:cNvPr id="7" name="Text 5"/>
          <p:cNvSpPr txBox="1"/>
          <p:nvPr/>
        </p:nvSpPr>
        <p:spPr>
          <a:xfrm>
            <a:off x="7955280" y="3758184"/>
            <a:ext cx="3840480" cy="457200"/>
          </a:xfrm>
          <a:prstGeom prst="rect">
            <a:avLst/>
          </a:prstGeom>
          <a:noFill/>
          <a:ln/>
        </p:spPr>
        <p:txBody>
          <a:bodyPr wrap="square" lIns="0" tIns="0" rIns="0" bIns="0" rtlCol="0" anchor="ctr"/>
          <a:lstStyle/>
          <a:p>
            <a:pPr indent="0" marL="0">
              <a:buNone/>
            </a:pPr>
            <a:r>
              <a:rPr lang="en-US" sz="1600" dirty="0">
                <a:solidFill>
                  <a:srgbClr val="7C8389"/>
                </a:solidFill>
                <a:latin typeface="Calibri" pitchFamily="34" charset="0"/>
                <a:ea typeface="Calibri" pitchFamily="34" charset="-122"/>
                <a:cs typeface="Calibri" pitchFamily="34" charset="-120"/>
              </a:rPr>
              <a:t>Which machine, which shift?</a:t>
            </a:r>
            <a:endParaRPr lang="en-US" sz="1600" dirty="0"/>
          </a:p>
        </p:txBody>
      </p:sp>
      <p:sp>
        <p:nvSpPr>
          <p:cNvPr id="8" name="Text 6"/>
          <p:cNvSpPr txBox="1"/>
          <p:nvPr/>
        </p:nvSpPr>
        <p:spPr>
          <a:xfrm>
            <a:off x="7955280" y="4416552"/>
            <a:ext cx="3840480" cy="457200"/>
          </a:xfrm>
          <a:prstGeom prst="rect">
            <a:avLst/>
          </a:prstGeom>
          <a:noFill/>
          <a:ln/>
        </p:spPr>
        <p:txBody>
          <a:bodyPr wrap="square" lIns="0" tIns="0" rIns="0" bIns="0" rtlCol="0" anchor="ctr"/>
          <a:lstStyle/>
          <a:p>
            <a:pPr indent="0" marL="0">
              <a:buNone/>
            </a:pPr>
            <a:r>
              <a:rPr lang="en-US" sz="1600" dirty="0">
                <a:solidFill>
                  <a:srgbClr val="626A70"/>
                </a:solidFill>
                <a:latin typeface="Calibri" pitchFamily="34" charset="0"/>
                <a:ea typeface="Calibri" pitchFamily="34" charset="-122"/>
                <a:cs typeface="Calibri" pitchFamily="34" charset="-120"/>
              </a:rPr>
              <a:t>Where else did that batch go?</a:t>
            </a:r>
            <a:endParaRPr lang="en-US" sz="1600" dirty="0"/>
          </a:p>
        </p:txBody>
      </p:sp>
      <p:sp>
        <p:nvSpPr>
          <p:cNvPr id="9" name="Shape 7"/>
          <p:cNvSpPr/>
          <p:nvPr/>
        </p:nvSpPr>
        <p:spPr>
          <a:xfrm>
            <a:off x="7635240" y="1828800"/>
            <a:ext cx="0" cy="3108960"/>
          </a:xfrm>
          <a:prstGeom prst="line">
            <a:avLst/>
          </a:prstGeom>
          <a:noFill/>
          <a:ln w="12700">
            <a:solidFill>
              <a:srgbClr val="3A4148"/>
            </a:solidFill>
            <a:prstDash val="solid"/>
          </a:ln>
        </p:spPr>
      </p:sp>
      <p:sp>
        <p:nvSpPr>
          <p:cNvPr id="10" name="Text 8"/>
          <p:cNvSpPr txBox="1"/>
          <p:nvPr/>
        </p:nvSpPr>
        <p:spPr>
          <a:xfrm>
            <a:off x="548640" y="5120640"/>
            <a:ext cx="6858000" cy="365760"/>
          </a:xfrm>
          <a:prstGeom prst="rect">
            <a:avLst/>
          </a:prstGeom>
          <a:noFill/>
          <a:ln/>
        </p:spPr>
        <p:txBody>
          <a:bodyPr wrap="square" lIns="0" tIns="0" rIns="0" bIns="0" rtlCol="0" anchor="ctr"/>
          <a:lstStyle/>
          <a:p>
            <a:pPr indent="0" marL="0">
              <a:buNone/>
            </a:pPr>
            <a:r>
              <a:rPr lang="en-US" sz="1500" dirty="0">
                <a:solidFill>
                  <a:srgbClr val="E0561F"/>
                </a:solidFill>
                <a:latin typeface="Calibri" pitchFamily="34" charset="0"/>
                <a:ea typeface="Calibri" pitchFamily="34" charset="-122"/>
                <a:cs typeface="Calibri" pitchFamily="34" charset="-120"/>
              </a:rPr>
              <a:t>Every one of these answers sits in a different record.</a:t>
            </a:r>
            <a:endParaRPr lang="en-US" sz="1500" dirty="0"/>
          </a:p>
        </p:txBody>
      </p:sp>
      <p:sp>
        <p:nvSpPr>
          <p:cNvPr id="12" name="Text 9"/>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7D858B"/>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1"/>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02</a:t>
            </a:r>
            <a:pPr indent="0" marL="0">
              <a:buNone/>
            </a:pPr>
            <a:r>
              <a:rPr lang="en-US" sz="1050" spc="300" kern="0" dirty="0">
                <a:solidFill>
                  <a:srgbClr val="6B7278"/>
                </a:solidFill>
                <a:latin typeface="Calibri" pitchFamily="34" charset="0"/>
                <a:ea typeface="Calibri" pitchFamily="34" charset="-122"/>
                <a:cs typeface="Calibri" pitchFamily="34" charset="-120"/>
              </a:rPr>
              <a:t>   THE INVESTIGATION</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indent="0" marL="0">
              <a:buNone/>
            </a:pPr>
            <a:r>
              <a:rPr lang="en-US" sz="3200" dirty="0">
                <a:solidFill>
                  <a:srgbClr val="1A1D21"/>
                </a:solidFill>
                <a:latin typeface="Cambria" pitchFamily="34" charset="0"/>
                <a:ea typeface="Cambria" pitchFamily="34" charset="-122"/>
                <a:cs typeface="Cambria" pitchFamily="34" charset="-120"/>
              </a:rPr>
              <a:t>What does the pack tell us?</a:t>
            </a:r>
            <a:endParaRPr lang="en-US" sz="3200" dirty="0"/>
          </a:p>
        </p:txBody>
      </p:sp>
      <p:sp>
        <p:nvSpPr>
          <p:cNvPr id="4" name="Shape 2"/>
          <p:cNvSpPr/>
          <p:nvPr/>
        </p:nvSpPr>
        <p:spPr>
          <a:xfrm>
            <a:off x="822960" y="1783080"/>
            <a:ext cx="4206240" cy="4480560"/>
          </a:xfrm>
          <a:prstGeom prst="roundRect">
            <a:avLst>
              <a:gd name="adj" fmla="val 5435"/>
            </a:avLst>
          </a:prstGeom>
          <a:solidFill>
            <a:srgbClr val="FFFFFF"/>
          </a:solidFill>
          <a:ln w="12700">
            <a:solidFill>
              <a:srgbClr val="B9BEC2"/>
            </a:solidFill>
            <a:prstDash val="solid"/>
          </a:ln>
          <a:effectLst>
            <a:outerShdw sx="100000" sy="100000" kx="0" ky="0" algn="bl" rotWithShape="0" blurRad="127000" dist="38100" dir="5400000">
              <a:srgbClr val="000000">
                <a:alpha val="12000"/>
              </a:srgbClr>
            </a:outerShdw>
          </a:effectLst>
        </p:spPr>
      </p:sp>
      <p:sp>
        <p:nvSpPr>
          <p:cNvPr id="5" name="Shape 3"/>
          <p:cNvSpPr/>
          <p:nvPr/>
        </p:nvSpPr>
        <p:spPr>
          <a:xfrm>
            <a:off x="2697480" y="2148840"/>
            <a:ext cx="457200" cy="2926080"/>
          </a:xfrm>
          <a:prstGeom prst="roundRect">
            <a:avLst>
              <a:gd name="adj" fmla="val 50000"/>
            </a:avLst>
          </a:prstGeom>
          <a:solidFill>
            <a:srgbClr val="C8322B"/>
          </a:solidFill>
          <a:ln/>
        </p:spPr>
      </p:sp>
      <p:sp>
        <p:nvSpPr>
          <p:cNvPr id="6" name="Shape 4"/>
          <p:cNvSpPr/>
          <p:nvPr/>
        </p:nvSpPr>
        <p:spPr>
          <a:xfrm>
            <a:off x="2606040" y="2103120"/>
            <a:ext cx="640080" cy="868680"/>
          </a:xfrm>
          <a:prstGeom prst="roundRect">
            <a:avLst>
              <a:gd name="adj" fmla="val 17143"/>
            </a:avLst>
          </a:prstGeom>
          <a:solidFill>
            <a:srgbClr val="E9ECEE"/>
          </a:solidFill>
          <a:ln w="9525">
            <a:solidFill>
              <a:srgbClr val="B9BEC2"/>
            </a:solidFill>
            <a:prstDash val="solid"/>
          </a:ln>
        </p:spPr>
      </p:sp>
      <p:sp>
        <p:nvSpPr>
          <p:cNvPr id="7" name="Shape 5"/>
          <p:cNvSpPr/>
          <p:nvPr/>
        </p:nvSpPr>
        <p:spPr>
          <a:xfrm>
            <a:off x="2679192" y="2194560"/>
            <a:ext cx="109728" cy="109728"/>
          </a:xfrm>
          <a:prstGeom prst="ellipse">
            <a:avLst/>
          </a:prstGeom>
          <a:solidFill>
            <a:srgbClr val="FFFFFF"/>
          </a:solidFill>
          <a:ln w="6350">
            <a:solidFill>
              <a:srgbClr val="A9B0B5"/>
            </a:solidFill>
            <a:prstDash val="solid"/>
          </a:ln>
        </p:spPr>
      </p:sp>
      <p:sp>
        <p:nvSpPr>
          <p:cNvPr id="8" name="Shape 6"/>
          <p:cNvSpPr/>
          <p:nvPr/>
        </p:nvSpPr>
        <p:spPr>
          <a:xfrm>
            <a:off x="2862072" y="2194560"/>
            <a:ext cx="109728" cy="109728"/>
          </a:xfrm>
          <a:prstGeom prst="ellipse">
            <a:avLst/>
          </a:prstGeom>
          <a:solidFill>
            <a:srgbClr val="FFFFFF"/>
          </a:solidFill>
          <a:ln w="6350">
            <a:solidFill>
              <a:srgbClr val="A9B0B5"/>
            </a:solidFill>
            <a:prstDash val="solid"/>
          </a:ln>
        </p:spPr>
      </p:sp>
      <p:sp>
        <p:nvSpPr>
          <p:cNvPr id="9" name="Shape 7"/>
          <p:cNvSpPr/>
          <p:nvPr/>
        </p:nvSpPr>
        <p:spPr>
          <a:xfrm>
            <a:off x="3044952" y="2194560"/>
            <a:ext cx="109728" cy="109728"/>
          </a:xfrm>
          <a:prstGeom prst="ellipse">
            <a:avLst/>
          </a:prstGeom>
          <a:solidFill>
            <a:srgbClr val="FFFFFF"/>
          </a:solidFill>
          <a:ln w="6350">
            <a:solidFill>
              <a:srgbClr val="A9B0B5"/>
            </a:solidFill>
            <a:prstDash val="solid"/>
          </a:ln>
        </p:spPr>
      </p:sp>
      <p:sp>
        <p:nvSpPr>
          <p:cNvPr id="10" name="Shape 8"/>
          <p:cNvSpPr/>
          <p:nvPr/>
        </p:nvSpPr>
        <p:spPr>
          <a:xfrm>
            <a:off x="2679192" y="2377440"/>
            <a:ext cx="109728" cy="109728"/>
          </a:xfrm>
          <a:prstGeom prst="ellipse">
            <a:avLst/>
          </a:prstGeom>
          <a:solidFill>
            <a:srgbClr val="FFFFFF"/>
          </a:solidFill>
          <a:ln w="6350">
            <a:solidFill>
              <a:srgbClr val="A9B0B5"/>
            </a:solidFill>
            <a:prstDash val="solid"/>
          </a:ln>
        </p:spPr>
      </p:sp>
      <p:sp>
        <p:nvSpPr>
          <p:cNvPr id="11" name="Shape 9"/>
          <p:cNvSpPr/>
          <p:nvPr/>
        </p:nvSpPr>
        <p:spPr>
          <a:xfrm>
            <a:off x="2862072" y="2377440"/>
            <a:ext cx="109728" cy="109728"/>
          </a:xfrm>
          <a:prstGeom prst="ellipse">
            <a:avLst/>
          </a:prstGeom>
          <a:solidFill>
            <a:srgbClr val="FFFFFF"/>
          </a:solidFill>
          <a:ln w="6350">
            <a:solidFill>
              <a:srgbClr val="A9B0B5"/>
            </a:solidFill>
            <a:prstDash val="solid"/>
          </a:ln>
        </p:spPr>
      </p:sp>
      <p:sp>
        <p:nvSpPr>
          <p:cNvPr id="12" name="Shape 10"/>
          <p:cNvSpPr/>
          <p:nvPr/>
        </p:nvSpPr>
        <p:spPr>
          <a:xfrm>
            <a:off x="3044952" y="2377440"/>
            <a:ext cx="109728" cy="109728"/>
          </a:xfrm>
          <a:prstGeom prst="ellipse">
            <a:avLst/>
          </a:prstGeom>
          <a:solidFill>
            <a:srgbClr val="FFFFFF"/>
          </a:solidFill>
          <a:ln w="6350">
            <a:solidFill>
              <a:srgbClr val="A9B0B5"/>
            </a:solidFill>
            <a:prstDash val="solid"/>
          </a:ln>
        </p:spPr>
      </p:sp>
      <p:sp>
        <p:nvSpPr>
          <p:cNvPr id="13" name="Shape 11"/>
          <p:cNvSpPr/>
          <p:nvPr/>
        </p:nvSpPr>
        <p:spPr>
          <a:xfrm>
            <a:off x="2679192" y="2560320"/>
            <a:ext cx="109728" cy="109728"/>
          </a:xfrm>
          <a:prstGeom prst="ellipse">
            <a:avLst/>
          </a:prstGeom>
          <a:solidFill>
            <a:srgbClr val="FFFFFF"/>
          </a:solidFill>
          <a:ln w="6350">
            <a:solidFill>
              <a:srgbClr val="A9B0B5"/>
            </a:solidFill>
            <a:prstDash val="solid"/>
          </a:ln>
        </p:spPr>
      </p:sp>
      <p:sp>
        <p:nvSpPr>
          <p:cNvPr id="14" name="Shape 12"/>
          <p:cNvSpPr/>
          <p:nvPr/>
        </p:nvSpPr>
        <p:spPr>
          <a:xfrm>
            <a:off x="2862072" y="2560320"/>
            <a:ext cx="109728" cy="109728"/>
          </a:xfrm>
          <a:prstGeom prst="ellipse">
            <a:avLst/>
          </a:prstGeom>
          <a:solidFill>
            <a:srgbClr val="FFFFFF"/>
          </a:solidFill>
          <a:ln w="6350">
            <a:solidFill>
              <a:srgbClr val="A9B0B5"/>
            </a:solidFill>
            <a:prstDash val="solid"/>
          </a:ln>
        </p:spPr>
      </p:sp>
      <p:sp>
        <p:nvSpPr>
          <p:cNvPr id="15" name="Shape 13"/>
          <p:cNvSpPr/>
          <p:nvPr/>
        </p:nvSpPr>
        <p:spPr>
          <a:xfrm>
            <a:off x="3044952" y="2560320"/>
            <a:ext cx="109728" cy="109728"/>
          </a:xfrm>
          <a:prstGeom prst="ellipse">
            <a:avLst/>
          </a:prstGeom>
          <a:solidFill>
            <a:srgbClr val="FFFFFF"/>
          </a:solidFill>
          <a:ln w="6350">
            <a:solidFill>
              <a:srgbClr val="A9B0B5"/>
            </a:solidFill>
            <a:prstDash val="solid"/>
          </a:ln>
        </p:spPr>
      </p:sp>
      <p:sp>
        <p:nvSpPr>
          <p:cNvPr id="16" name="Shape 14"/>
          <p:cNvSpPr/>
          <p:nvPr/>
        </p:nvSpPr>
        <p:spPr>
          <a:xfrm>
            <a:off x="2679192" y="2743200"/>
            <a:ext cx="109728" cy="109728"/>
          </a:xfrm>
          <a:prstGeom prst="ellipse">
            <a:avLst/>
          </a:prstGeom>
          <a:solidFill>
            <a:srgbClr val="FFFFFF"/>
          </a:solidFill>
          <a:ln w="6350">
            <a:solidFill>
              <a:srgbClr val="A9B0B5"/>
            </a:solidFill>
            <a:prstDash val="solid"/>
          </a:ln>
        </p:spPr>
      </p:sp>
      <p:sp>
        <p:nvSpPr>
          <p:cNvPr id="17" name="Shape 15"/>
          <p:cNvSpPr/>
          <p:nvPr/>
        </p:nvSpPr>
        <p:spPr>
          <a:xfrm>
            <a:off x="2862072" y="2743200"/>
            <a:ext cx="109728" cy="109728"/>
          </a:xfrm>
          <a:prstGeom prst="ellipse">
            <a:avLst/>
          </a:prstGeom>
          <a:solidFill>
            <a:srgbClr val="FFFFFF"/>
          </a:solidFill>
          <a:ln w="6350">
            <a:solidFill>
              <a:srgbClr val="A9B0B5"/>
            </a:solidFill>
            <a:prstDash val="solid"/>
          </a:ln>
        </p:spPr>
      </p:sp>
      <p:sp>
        <p:nvSpPr>
          <p:cNvPr id="18" name="Shape 16"/>
          <p:cNvSpPr/>
          <p:nvPr/>
        </p:nvSpPr>
        <p:spPr>
          <a:xfrm>
            <a:off x="3044952" y="2743200"/>
            <a:ext cx="109728" cy="109728"/>
          </a:xfrm>
          <a:prstGeom prst="ellipse">
            <a:avLst/>
          </a:prstGeom>
          <a:solidFill>
            <a:srgbClr val="FFFFFF"/>
          </a:solidFill>
          <a:ln w="6350">
            <a:solidFill>
              <a:srgbClr val="A9B0B5"/>
            </a:solidFill>
            <a:prstDash val="solid"/>
          </a:ln>
        </p:spPr>
      </p:sp>
      <p:sp>
        <p:nvSpPr>
          <p:cNvPr id="19" name="Shape 17"/>
          <p:cNvSpPr/>
          <p:nvPr/>
        </p:nvSpPr>
        <p:spPr>
          <a:xfrm>
            <a:off x="1188720" y="5257800"/>
            <a:ext cx="3474720" cy="777240"/>
          </a:xfrm>
          <a:prstGeom prst="rect">
            <a:avLst/>
          </a:prstGeom>
          <a:solidFill>
            <a:srgbClr val="F1F2F3"/>
          </a:solidFill>
          <a:ln w="6350">
            <a:solidFill>
              <a:srgbClr val="D6D8D6"/>
            </a:solidFill>
            <a:prstDash val="solid"/>
          </a:ln>
        </p:spPr>
      </p:sp>
      <p:sp>
        <p:nvSpPr>
          <p:cNvPr id="20" name="Text 18"/>
          <p:cNvSpPr txBox="1"/>
          <p:nvPr/>
        </p:nvSpPr>
        <p:spPr>
          <a:xfrm>
            <a:off x="1325880" y="5303520"/>
            <a:ext cx="3200400" cy="685800"/>
          </a:xfrm>
          <a:prstGeom prst="rect">
            <a:avLst/>
          </a:prstGeom>
          <a:noFill/>
          <a:ln/>
        </p:spPr>
        <p:txBody>
          <a:bodyPr wrap="square" lIns="0" tIns="0" rIns="0" bIns="0" rtlCol="0" anchor="ctr"/>
          <a:lstStyle/>
          <a:p>
            <a:pPr indent="0" marL="0">
              <a:buNone/>
            </a:pPr>
            <a:r>
              <a:rPr lang="en-US" sz="1400" b="1" dirty="0">
                <a:solidFill>
                  <a:srgbClr val="1A1D21"/>
                </a:solidFill>
                <a:latin typeface="Courier New" pitchFamily="34" charset="0"/>
                <a:ea typeface="Courier New" pitchFamily="34" charset="-122"/>
                <a:cs typeface="Courier New" pitchFamily="34" charset="-120"/>
              </a:rPr>
              <a:t>B.No. JHS-26433</a:t>
            </a:r>
            <a:endParaRPr lang="en-US" sz="1400" dirty="0"/>
          </a:p>
          <a:p>
            <a:pPr indent="0" marL="0">
              <a:buNone/>
            </a:pPr>
            <a:r>
              <a:rPr lang="en-US" sz="1400" b="1" dirty="0">
                <a:solidFill>
                  <a:srgbClr val="1A1D21"/>
                </a:solidFill>
                <a:latin typeface="Courier New" pitchFamily="34" charset="0"/>
                <a:ea typeface="Courier New" pitchFamily="34" charset="-122"/>
                <a:cs typeface="Courier New" pitchFamily="34" charset="-120"/>
              </a:rPr>
              <a:t>Mfd.  14/07/2026</a:t>
            </a:r>
            <a:endParaRPr lang="en-US" sz="1400" dirty="0"/>
          </a:p>
        </p:txBody>
      </p:sp>
      <p:sp>
        <p:nvSpPr>
          <p:cNvPr id="21" name="Text 19"/>
          <p:cNvSpPr txBox="1"/>
          <p:nvPr/>
        </p:nvSpPr>
        <p:spPr>
          <a:xfrm>
            <a:off x="1097280" y="2057400"/>
            <a:ext cx="1371600" cy="822960"/>
          </a:xfrm>
          <a:prstGeom prst="rect">
            <a:avLst/>
          </a:prstGeom>
          <a:noFill/>
          <a:ln/>
        </p:spPr>
        <p:txBody>
          <a:bodyPr wrap="square" lIns="0" tIns="0" rIns="0" bIns="0" rtlCol="0" anchor="ctr"/>
          <a:lstStyle/>
          <a:p>
            <a:pPr indent="0" marL="0">
              <a:buNone/>
            </a:pPr>
            <a:r>
              <a:rPr lang="en-US" sz="1100" b="1" dirty="0">
                <a:solidFill>
                  <a:srgbClr val="1F4C94"/>
                </a:solidFill>
                <a:latin typeface="Calibri" pitchFamily="34" charset="0"/>
                <a:ea typeface="Calibri" pitchFamily="34" charset="-122"/>
                <a:cs typeface="Calibri" pitchFamily="34" charset="-120"/>
              </a:rPr>
              <a:t>Dabur Red</a:t>
            </a:r>
            <a:endParaRPr lang="en-US" sz="1100" dirty="0"/>
          </a:p>
          <a:p>
            <a:pPr indent="0" marL="0">
              <a:buNone/>
            </a:pPr>
            <a:r>
              <a:rPr lang="en-US" sz="1100" b="1" dirty="0">
                <a:solidFill>
                  <a:srgbClr val="1F4C94"/>
                </a:solidFill>
                <a:latin typeface="Calibri" pitchFamily="34" charset="0"/>
                <a:ea typeface="Calibri" pitchFamily="34" charset="-122"/>
                <a:cs typeface="Calibri" pitchFamily="34" charset="-120"/>
              </a:rPr>
              <a:t>Toothbrush</a:t>
            </a:r>
            <a:endParaRPr lang="en-US" sz="1100" dirty="0"/>
          </a:p>
          <a:p>
            <a:pPr indent="0" marL="0">
              <a:buNone/>
            </a:pPr>
            <a:r>
              <a:rPr lang="en-US" sz="1100" b="1" dirty="0">
                <a:solidFill>
                  <a:srgbClr val="1F4C94"/>
                </a:solidFill>
                <a:latin typeface="Calibri" pitchFamily="34" charset="0"/>
                <a:ea typeface="Calibri" pitchFamily="34" charset="-122"/>
                <a:cs typeface="Calibri" pitchFamily="34" charset="-120"/>
              </a:rPr>
              <a:t>Medium</a:t>
            </a:r>
            <a:endParaRPr lang="en-US" sz="1100" dirty="0"/>
          </a:p>
        </p:txBody>
      </p:sp>
      <p:sp>
        <p:nvSpPr>
          <p:cNvPr id="22" name="Shape 20"/>
          <p:cNvSpPr/>
          <p:nvPr/>
        </p:nvSpPr>
        <p:spPr>
          <a:xfrm>
            <a:off x="4498848" y="5276088"/>
            <a:ext cx="329184" cy="329184"/>
          </a:xfrm>
          <a:prstGeom prst="ellipse">
            <a:avLst/>
          </a:prstGeom>
          <a:solidFill>
            <a:srgbClr val="E0561F"/>
          </a:solidFill>
          <a:ln w="19050">
            <a:solidFill>
              <a:srgbClr val="FFFFFF"/>
            </a:solidFill>
            <a:prstDash val="solid"/>
          </a:ln>
        </p:spPr>
      </p:sp>
      <p:sp>
        <p:nvSpPr>
          <p:cNvPr id="23" name="Text 21"/>
          <p:cNvSpPr txBox="1"/>
          <p:nvPr/>
        </p:nvSpPr>
        <p:spPr>
          <a:xfrm>
            <a:off x="4498848" y="52760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4" name="Shape 22"/>
          <p:cNvSpPr/>
          <p:nvPr/>
        </p:nvSpPr>
        <p:spPr>
          <a:xfrm>
            <a:off x="978408" y="1892808"/>
            <a:ext cx="329184" cy="329184"/>
          </a:xfrm>
          <a:prstGeom prst="ellipse">
            <a:avLst/>
          </a:prstGeom>
          <a:solidFill>
            <a:srgbClr val="E0561F"/>
          </a:solidFill>
          <a:ln w="19050">
            <a:solidFill>
              <a:srgbClr val="FFFFFF"/>
            </a:solidFill>
            <a:prstDash val="solid"/>
          </a:ln>
        </p:spPr>
      </p:sp>
      <p:sp>
        <p:nvSpPr>
          <p:cNvPr id="25" name="Text 23"/>
          <p:cNvSpPr txBox="1"/>
          <p:nvPr/>
        </p:nvSpPr>
        <p:spPr>
          <a:xfrm>
            <a:off x="978408" y="189280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Shape 24"/>
          <p:cNvSpPr/>
          <p:nvPr/>
        </p:nvSpPr>
        <p:spPr>
          <a:xfrm>
            <a:off x="3172968" y="3767328"/>
            <a:ext cx="329184" cy="329184"/>
          </a:xfrm>
          <a:prstGeom prst="ellipse">
            <a:avLst/>
          </a:prstGeom>
          <a:solidFill>
            <a:srgbClr val="E0561F"/>
          </a:solidFill>
          <a:ln w="19050">
            <a:solidFill>
              <a:srgbClr val="FFFFFF"/>
            </a:solidFill>
            <a:prstDash val="solid"/>
          </a:ln>
        </p:spPr>
      </p:sp>
      <p:sp>
        <p:nvSpPr>
          <p:cNvPr id="27" name="Text 25"/>
          <p:cNvSpPr txBox="1"/>
          <p:nvPr/>
        </p:nvSpPr>
        <p:spPr>
          <a:xfrm>
            <a:off x="3172968" y="37673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8" name="Shape 26"/>
          <p:cNvSpPr/>
          <p:nvPr/>
        </p:nvSpPr>
        <p:spPr>
          <a:xfrm>
            <a:off x="4498848" y="5687568"/>
            <a:ext cx="329184" cy="329184"/>
          </a:xfrm>
          <a:prstGeom prst="ellipse">
            <a:avLst/>
          </a:prstGeom>
          <a:solidFill>
            <a:srgbClr val="E0561F"/>
          </a:solidFill>
          <a:ln w="19050">
            <a:solidFill>
              <a:srgbClr val="FFFFFF"/>
            </a:solidFill>
            <a:prstDash val="solid"/>
          </a:ln>
        </p:spPr>
      </p:sp>
      <p:sp>
        <p:nvSpPr>
          <p:cNvPr id="29" name="Text 27"/>
          <p:cNvSpPr txBox="1"/>
          <p:nvPr/>
        </p:nvSpPr>
        <p:spPr>
          <a:xfrm>
            <a:off x="4498848" y="568756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0" name="Shape 28"/>
          <p:cNvSpPr/>
          <p:nvPr/>
        </p:nvSpPr>
        <p:spPr>
          <a:xfrm>
            <a:off x="5971032" y="1947672"/>
            <a:ext cx="402336" cy="402336"/>
          </a:xfrm>
          <a:prstGeom prst="ellipse">
            <a:avLst/>
          </a:prstGeom>
          <a:solidFill>
            <a:srgbClr val="E0561F"/>
          </a:solidFill>
          <a:ln w="19050">
            <a:solidFill>
              <a:srgbClr val="FFFFFF"/>
            </a:solidFill>
            <a:prstDash val="solid"/>
          </a:ln>
        </p:spPr>
      </p:sp>
      <p:sp>
        <p:nvSpPr>
          <p:cNvPr id="31" name="Text 29"/>
          <p:cNvSpPr txBox="1"/>
          <p:nvPr/>
        </p:nvSpPr>
        <p:spPr>
          <a:xfrm>
            <a:off x="5971032" y="1947672"/>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2" name="Text 30"/>
          <p:cNvSpPr txBox="1"/>
          <p:nvPr/>
        </p:nvSpPr>
        <p:spPr>
          <a:xfrm>
            <a:off x="6629400" y="1874520"/>
            <a:ext cx="4937760" cy="365760"/>
          </a:xfrm>
          <a:prstGeom prst="rect">
            <a:avLst/>
          </a:prstGeom>
          <a:noFill/>
          <a:ln/>
        </p:spPr>
        <p:txBody>
          <a:bodyPr wrap="square" lIns="0" tIns="0" rIns="0" bIns="0" rtlCol="0" anchor="ctr"/>
          <a:lstStyle/>
          <a:p>
            <a:pPr indent="0" marL="0">
              <a:buNone/>
            </a:pPr>
            <a:r>
              <a:rPr lang="en-US" sz="2200" dirty="0">
                <a:solidFill>
                  <a:srgbClr val="1A1D21"/>
                </a:solidFill>
                <a:latin typeface="Cambria" pitchFamily="34" charset="0"/>
                <a:ea typeface="Cambria" pitchFamily="34" charset="-122"/>
                <a:cs typeface="Cambria" pitchFamily="34" charset="-120"/>
              </a:rPr>
              <a:t>Batch Number</a:t>
            </a:r>
            <a:endParaRPr lang="en-US" sz="2200" dirty="0"/>
          </a:p>
        </p:txBody>
      </p:sp>
      <p:sp>
        <p:nvSpPr>
          <p:cNvPr id="33" name="Text 31"/>
          <p:cNvSpPr txBox="1"/>
          <p:nvPr/>
        </p:nvSpPr>
        <p:spPr>
          <a:xfrm>
            <a:off x="6629400" y="2286000"/>
            <a:ext cx="4937760" cy="320040"/>
          </a:xfrm>
          <a:prstGeom prst="rect">
            <a:avLst/>
          </a:prstGeom>
          <a:noFill/>
          <a:ln/>
        </p:spPr>
        <p:txBody>
          <a:bodyPr wrap="square" lIns="0" tIns="0" rIns="0" bIns="0" rtlCol="0" anchor="ctr"/>
          <a:lstStyle/>
          <a:p>
            <a:pPr indent="0" marL="0">
              <a:buNone/>
            </a:pPr>
            <a:r>
              <a:rPr lang="en-US" sz="1300" b="1" dirty="0">
                <a:solidFill>
                  <a:srgbClr val="1A1D21"/>
                </a:solidFill>
                <a:latin typeface="Calibri" pitchFamily="34" charset="0"/>
                <a:ea typeface="Calibri" pitchFamily="34" charset="-122"/>
                <a:cs typeface="Calibri" pitchFamily="34" charset="-120"/>
              </a:rPr>
              <a:t>JHS-26433</a:t>
            </a:r>
            <a:pPr indent="0" marL="0">
              <a:buNone/>
            </a:pPr>
            <a:r>
              <a:rPr lang="en-US" sz="1300" dirty="0">
                <a:solidFill>
                  <a:srgbClr val="6B7278"/>
                </a:solidFill>
                <a:latin typeface="Calibri" pitchFamily="34" charset="0"/>
                <a:ea typeface="Calibri" pitchFamily="34" charset="-122"/>
                <a:cs typeface="Calibri" pitchFamily="34" charset="-120"/>
              </a:rPr>
              <a:t>   Printed on the pack</a:t>
            </a:r>
            <a:endParaRPr lang="en-US" sz="1300" dirty="0"/>
          </a:p>
        </p:txBody>
      </p:sp>
      <p:sp>
        <p:nvSpPr>
          <p:cNvPr id="34" name="Shape 32"/>
          <p:cNvSpPr/>
          <p:nvPr/>
        </p:nvSpPr>
        <p:spPr>
          <a:xfrm>
            <a:off x="5971032" y="3026664"/>
            <a:ext cx="402336" cy="402336"/>
          </a:xfrm>
          <a:prstGeom prst="ellipse">
            <a:avLst/>
          </a:prstGeom>
          <a:solidFill>
            <a:srgbClr val="E0561F"/>
          </a:solidFill>
          <a:ln w="19050">
            <a:solidFill>
              <a:srgbClr val="FFFFFF"/>
            </a:solidFill>
            <a:prstDash val="solid"/>
          </a:ln>
        </p:spPr>
      </p:sp>
      <p:sp>
        <p:nvSpPr>
          <p:cNvPr id="35" name="Text 33"/>
          <p:cNvSpPr txBox="1"/>
          <p:nvPr/>
        </p:nvSpPr>
        <p:spPr>
          <a:xfrm>
            <a:off x="5971032" y="3026664"/>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6" name="Text 34"/>
          <p:cNvSpPr txBox="1"/>
          <p:nvPr/>
        </p:nvSpPr>
        <p:spPr>
          <a:xfrm>
            <a:off x="6629400" y="2953512"/>
            <a:ext cx="4937760" cy="365760"/>
          </a:xfrm>
          <a:prstGeom prst="rect">
            <a:avLst/>
          </a:prstGeom>
          <a:noFill/>
          <a:ln/>
        </p:spPr>
        <p:txBody>
          <a:bodyPr wrap="square" lIns="0" tIns="0" rIns="0" bIns="0" rtlCol="0" anchor="ctr"/>
          <a:lstStyle/>
          <a:p>
            <a:pPr indent="0" marL="0">
              <a:buNone/>
            </a:pPr>
            <a:r>
              <a:rPr lang="en-US" sz="2200" dirty="0">
                <a:solidFill>
                  <a:srgbClr val="1A1D21"/>
                </a:solidFill>
                <a:latin typeface="Cambria" pitchFamily="34" charset="0"/>
                <a:ea typeface="Cambria" pitchFamily="34" charset="-122"/>
                <a:cs typeface="Cambria" pitchFamily="34" charset="-120"/>
              </a:rPr>
              <a:t>Product</a:t>
            </a:r>
            <a:endParaRPr lang="en-US" sz="2200" dirty="0"/>
          </a:p>
        </p:txBody>
      </p:sp>
      <p:sp>
        <p:nvSpPr>
          <p:cNvPr id="37" name="Text 35"/>
          <p:cNvSpPr txBox="1"/>
          <p:nvPr/>
        </p:nvSpPr>
        <p:spPr>
          <a:xfrm>
            <a:off x="6629400" y="3364992"/>
            <a:ext cx="4937760" cy="320040"/>
          </a:xfrm>
          <a:prstGeom prst="rect">
            <a:avLst/>
          </a:prstGeom>
          <a:noFill/>
          <a:ln/>
        </p:spPr>
        <p:txBody>
          <a:bodyPr wrap="square" lIns="0" tIns="0" rIns="0" bIns="0" rtlCol="0" anchor="ctr"/>
          <a:lstStyle/>
          <a:p>
            <a:pPr indent="0" marL="0">
              <a:buNone/>
            </a:pPr>
            <a:r>
              <a:rPr lang="en-US" sz="1300" b="1" dirty="0">
                <a:solidFill>
                  <a:srgbClr val="1A1D21"/>
                </a:solidFill>
                <a:latin typeface="Calibri" pitchFamily="34" charset="0"/>
                <a:ea typeface="Calibri" pitchFamily="34" charset="-122"/>
                <a:cs typeface="Calibri" pitchFamily="34" charset="-120"/>
              </a:rPr>
              <a:t>Dabur Red Toothbrush — Medium</a:t>
            </a:r>
            <a:pPr indent="0" marL="0">
              <a:buNone/>
            </a:pPr>
            <a:r>
              <a:rPr lang="en-US" sz="1300" dirty="0">
                <a:solidFill>
                  <a:srgbClr val="6B7278"/>
                </a:solidFill>
                <a:latin typeface="Calibri" pitchFamily="34" charset="0"/>
                <a:ea typeface="Calibri" pitchFamily="34" charset="-122"/>
                <a:cs typeface="Calibri" pitchFamily="34" charset="-120"/>
              </a:rPr>
              <a:t>   Pack front / SKU</a:t>
            </a:r>
            <a:endParaRPr lang="en-US" sz="1300" dirty="0"/>
          </a:p>
        </p:txBody>
      </p:sp>
      <p:sp>
        <p:nvSpPr>
          <p:cNvPr id="38" name="Shape 36"/>
          <p:cNvSpPr/>
          <p:nvPr/>
        </p:nvSpPr>
        <p:spPr>
          <a:xfrm>
            <a:off x="5971032" y="4105656"/>
            <a:ext cx="402336" cy="402336"/>
          </a:xfrm>
          <a:prstGeom prst="ellipse">
            <a:avLst/>
          </a:prstGeom>
          <a:solidFill>
            <a:srgbClr val="E0561F"/>
          </a:solidFill>
          <a:ln w="19050">
            <a:solidFill>
              <a:srgbClr val="FFFFFF"/>
            </a:solidFill>
            <a:prstDash val="solid"/>
          </a:ln>
        </p:spPr>
      </p:sp>
      <p:sp>
        <p:nvSpPr>
          <p:cNvPr id="39" name="Text 37"/>
          <p:cNvSpPr txBox="1"/>
          <p:nvPr/>
        </p:nvSpPr>
        <p:spPr>
          <a:xfrm>
            <a:off x="5971032" y="4105656"/>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0" name="Text 38"/>
          <p:cNvSpPr txBox="1"/>
          <p:nvPr/>
        </p:nvSpPr>
        <p:spPr>
          <a:xfrm>
            <a:off x="6629400" y="4032504"/>
            <a:ext cx="4937760" cy="365760"/>
          </a:xfrm>
          <a:prstGeom prst="rect">
            <a:avLst/>
          </a:prstGeom>
          <a:noFill/>
          <a:ln/>
        </p:spPr>
        <p:txBody>
          <a:bodyPr wrap="square" lIns="0" tIns="0" rIns="0" bIns="0" rtlCol="0" anchor="ctr"/>
          <a:lstStyle/>
          <a:p>
            <a:pPr indent="0" marL="0">
              <a:buNone/>
            </a:pPr>
            <a:r>
              <a:rPr lang="en-US" sz="2200" dirty="0">
                <a:solidFill>
                  <a:srgbClr val="1A1D21"/>
                </a:solidFill>
                <a:latin typeface="Cambria" pitchFamily="34" charset="0"/>
                <a:ea typeface="Cambria" pitchFamily="34" charset="-122"/>
                <a:cs typeface="Cambria" pitchFamily="34" charset="-120"/>
              </a:rPr>
              <a:t>Colour</a:t>
            </a:r>
            <a:endParaRPr lang="en-US" sz="2200" dirty="0"/>
          </a:p>
        </p:txBody>
      </p:sp>
      <p:sp>
        <p:nvSpPr>
          <p:cNvPr id="41" name="Text 39"/>
          <p:cNvSpPr txBox="1"/>
          <p:nvPr/>
        </p:nvSpPr>
        <p:spPr>
          <a:xfrm>
            <a:off x="6629400" y="4443984"/>
            <a:ext cx="4937760" cy="320040"/>
          </a:xfrm>
          <a:prstGeom prst="rect">
            <a:avLst/>
          </a:prstGeom>
          <a:noFill/>
          <a:ln/>
        </p:spPr>
        <p:txBody>
          <a:bodyPr wrap="square" lIns="0" tIns="0" rIns="0" bIns="0" rtlCol="0" anchor="ctr"/>
          <a:lstStyle/>
          <a:p>
            <a:pPr indent="0" marL="0">
              <a:buNone/>
            </a:pPr>
            <a:r>
              <a:rPr lang="en-US" sz="1300" b="1" dirty="0">
                <a:solidFill>
                  <a:srgbClr val="1A1D21"/>
                </a:solidFill>
                <a:latin typeface="Calibri" pitchFamily="34" charset="0"/>
                <a:ea typeface="Calibri" pitchFamily="34" charset="-122"/>
                <a:cs typeface="Calibri" pitchFamily="34" charset="-120"/>
              </a:rPr>
              <a:t>Red</a:t>
            </a:r>
            <a:pPr indent="0" marL="0">
              <a:buNone/>
            </a:pPr>
            <a:r>
              <a:rPr lang="en-US" sz="1300" dirty="0">
                <a:solidFill>
                  <a:srgbClr val="6B7278"/>
                </a:solidFill>
                <a:latin typeface="Calibri" pitchFamily="34" charset="0"/>
                <a:ea typeface="Calibri" pitchFamily="34" charset="-122"/>
                <a:cs typeface="Calibri" pitchFamily="34" charset="-120"/>
              </a:rPr>
              <a:t>   The brush itself</a:t>
            </a:r>
            <a:endParaRPr lang="en-US" sz="1300" dirty="0"/>
          </a:p>
        </p:txBody>
      </p:sp>
      <p:sp>
        <p:nvSpPr>
          <p:cNvPr id="42" name="Shape 40"/>
          <p:cNvSpPr/>
          <p:nvPr/>
        </p:nvSpPr>
        <p:spPr>
          <a:xfrm>
            <a:off x="5971032" y="5184648"/>
            <a:ext cx="402336" cy="402336"/>
          </a:xfrm>
          <a:prstGeom prst="ellipse">
            <a:avLst/>
          </a:prstGeom>
          <a:solidFill>
            <a:srgbClr val="E0561F"/>
          </a:solidFill>
          <a:ln w="19050">
            <a:solidFill>
              <a:srgbClr val="FFFFFF"/>
            </a:solidFill>
            <a:prstDash val="solid"/>
          </a:ln>
        </p:spPr>
      </p:sp>
      <p:sp>
        <p:nvSpPr>
          <p:cNvPr id="43" name="Text 41"/>
          <p:cNvSpPr txBox="1"/>
          <p:nvPr/>
        </p:nvSpPr>
        <p:spPr>
          <a:xfrm>
            <a:off x="5971032" y="5184648"/>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4" name="Text 42"/>
          <p:cNvSpPr txBox="1"/>
          <p:nvPr/>
        </p:nvSpPr>
        <p:spPr>
          <a:xfrm>
            <a:off x="6629400" y="5111496"/>
            <a:ext cx="4937760" cy="365760"/>
          </a:xfrm>
          <a:prstGeom prst="rect">
            <a:avLst/>
          </a:prstGeom>
          <a:noFill/>
          <a:ln/>
        </p:spPr>
        <p:txBody>
          <a:bodyPr wrap="square" lIns="0" tIns="0" rIns="0" bIns="0" rtlCol="0" anchor="ctr"/>
          <a:lstStyle/>
          <a:p>
            <a:pPr indent="0" marL="0">
              <a:buNone/>
            </a:pPr>
            <a:r>
              <a:rPr lang="en-US" sz="2200" dirty="0">
                <a:solidFill>
                  <a:srgbClr val="1A1D21"/>
                </a:solidFill>
                <a:latin typeface="Cambria" pitchFamily="34" charset="0"/>
                <a:ea typeface="Cambria" pitchFamily="34" charset="-122"/>
                <a:cs typeface="Cambria" pitchFamily="34" charset="-120"/>
              </a:rPr>
              <a:t>Manufacturing Date</a:t>
            </a:r>
            <a:endParaRPr lang="en-US" sz="2200" dirty="0"/>
          </a:p>
        </p:txBody>
      </p:sp>
      <p:sp>
        <p:nvSpPr>
          <p:cNvPr id="45" name="Text 43"/>
          <p:cNvSpPr txBox="1"/>
          <p:nvPr/>
        </p:nvSpPr>
        <p:spPr>
          <a:xfrm>
            <a:off x="6629400" y="5522976"/>
            <a:ext cx="4937760" cy="320040"/>
          </a:xfrm>
          <a:prstGeom prst="rect">
            <a:avLst/>
          </a:prstGeom>
          <a:noFill/>
          <a:ln/>
        </p:spPr>
        <p:txBody>
          <a:bodyPr wrap="square" lIns="0" tIns="0" rIns="0" bIns="0" rtlCol="0" anchor="ctr"/>
          <a:lstStyle/>
          <a:p>
            <a:pPr indent="0" marL="0">
              <a:buNone/>
            </a:pPr>
            <a:r>
              <a:rPr lang="en-US" sz="1300" b="1" dirty="0">
                <a:solidFill>
                  <a:srgbClr val="1A1D21"/>
                </a:solidFill>
                <a:latin typeface="Calibri" pitchFamily="34" charset="0"/>
                <a:ea typeface="Calibri" pitchFamily="34" charset="-122"/>
                <a:cs typeface="Calibri" pitchFamily="34" charset="-120"/>
              </a:rPr>
              <a:t>14-Jul-26</a:t>
            </a:r>
            <a:pPr indent="0" marL="0">
              <a:buNone/>
            </a:pPr>
            <a:r>
              <a:rPr lang="en-US" sz="1300" dirty="0">
                <a:solidFill>
                  <a:srgbClr val="6B7278"/>
                </a:solidFill>
                <a:latin typeface="Calibri" pitchFamily="34" charset="0"/>
                <a:ea typeface="Calibri" pitchFamily="34" charset="-122"/>
                <a:cs typeface="Calibri" pitchFamily="34" charset="-120"/>
              </a:rPr>
              <a:t>   Printed on the pack</a:t>
            </a:r>
            <a:endParaRPr lang="en-US" sz="1300" dirty="0"/>
          </a:p>
        </p:txBody>
      </p:sp>
      <p:sp>
        <p:nvSpPr>
          <p:cNvPr id="46" name="Text 44"/>
          <p:cNvSpPr txBox="1"/>
          <p:nvPr/>
        </p:nvSpPr>
        <p:spPr>
          <a:xfrm>
            <a:off x="822960" y="6355080"/>
            <a:ext cx="4206240" cy="228600"/>
          </a:xfrm>
          <a:prstGeom prst="rect">
            <a:avLst/>
          </a:prstGeom>
          <a:noFill/>
          <a:ln/>
        </p:spPr>
        <p:txBody>
          <a:bodyPr wrap="square" lIns="0" tIns="0" rIns="0" bIns="0" rtlCol="0" anchor="ctr"/>
          <a:lstStyle/>
          <a:p>
            <a:pPr indent="0" marL="0">
              <a:buNone/>
            </a:pPr>
            <a:r>
              <a:rPr lang="en-US" sz="900" i="1" dirty="0">
                <a:solidFill>
                  <a:srgbClr val="6B7278"/>
                </a:solidFill>
                <a:latin typeface="Calibri" pitchFamily="34" charset="0"/>
                <a:ea typeface="Calibri" pitchFamily="34" charset="-122"/>
                <a:cs typeface="Calibri" pitchFamily="34" charset="-120"/>
              </a:rPr>
              <a:t>Values from the demonstration dataset</a:t>
            </a:r>
            <a:endParaRPr lang="en-US" sz="900" dirty="0"/>
          </a:p>
        </p:txBody>
      </p:sp>
      <p:sp>
        <p:nvSpPr>
          <p:cNvPr id="48" name="Text 45"/>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02</a:t>
            </a:r>
            <a:pPr indent="0" marL="0">
              <a:buNone/>
            </a:pPr>
            <a:r>
              <a:rPr lang="en-US" sz="1050" spc="300" kern="0" dirty="0">
                <a:solidFill>
                  <a:srgbClr val="6B7278"/>
                </a:solidFill>
                <a:latin typeface="Calibri" pitchFamily="34" charset="0"/>
                <a:ea typeface="Calibri" pitchFamily="34" charset="-122"/>
                <a:cs typeface="Calibri" pitchFamily="34" charset="-120"/>
              </a:rPr>
              <a:t>   THE INVESTIGATION</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indent="0" marL="0">
              <a:buNone/>
            </a:pPr>
            <a:r>
              <a:rPr lang="en-US" sz="3200" dirty="0">
                <a:solidFill>
                  <a:srgbClr val="1A1D21"/>
                </a:solidFill>
                <a:latin typeface="Cambria" pitchFamily="34" charset="0"/>
                <a:ea typeface="Cambria" pitchFamily="34" charset="-122"/>
                <a:cs typeface="Cambria" pitchFamily="34" charset="-120"/>
              </a:rPr>
              <a:t>Why isn't the Batch Number enough?</a:t>
            </a:r>
            <a:endParaRPr lang="en-US" sz="3200" dirty="0"/>
          </a:p>
        </p:txBody>
      </p:sp>
      <p:sp>
        <p:nvSpPr>
          <p:cNvPr id="4" name="Text 2"/>
          <p:cNvSpPr txBox="1"/>
          <p:nvPr/>
        </p:nvSpPr>
        <p:spPr>
          <a:xfrm>
            <a:off x="548640" y="1828800"/>
            <a:ext cx="4754880" cy="2926080"/>
          </a:xfrm>
          <a:prstGeom prst="rect">
            <a:avLst/>
          </a:prstGeom>
          <a:noFill/>
          <a:ln/>
        </p:spPr>
        <p:txBody>
          <a:bodyPr wrap="square" lIns="0" tIns="0" rIns="0" bIns="0" rtlCol="0" anchor="t"/>
          <a:lstStyle/>
          <a:p>
            <a:pPr indent="0" marL="0">
              <a:buNone/>
            </a:pPr>
            <a:r>
              <a:rPr lang="en-US" sz="4800" dirty="0">
                <a:solidFill>
                  <a:srgbClr val="E0561F"/>
                </a:solidFill>
                <a:latin typeface="Cambria" pitchFamily="34" charset="0"/>
                <a:ea typeface="Cambria" pitchFamily="34" charset="-122"/>
                <a:cs typeface="Cambria" pitchFamily="34" charset="-120"/>
              </a:rPr>
              <a:t>Batch Number</a:t>
            </a:r>
            <a:endParaRPr lang="en-US" sz="4800" dirty="0"/>
          </a:p>
          <a:p>
            <a:pPr indent="0" marL="0">
              <a:buNone/>
            </a:pPr>
            <a:r>
              <a:rPr lang="en-US" sz="4800" dirty="0">
                <a:solidFill>
                  <a:srgbClr val="E0561F"/>
                </a:solidFill>
                <a:latin typeface="Cambria" pitchFamily="34" charset="0"/>
                <a:ea typeface="Cambria" pitchFamily="34" charset="-122"/>
                <a:cs typeface="Cambria" pitchFamily="34" charset="-120"/>
              </a:rPr>
              <a:t>alone is</a:t>
            </a:r>
            <a:endParaRPr lang="en-US" sz="4800" dirty="0"/>
          </a:p>
          <a:p>
            <a:pPr indent="0" marL="0">
              <a:buNone/>
            </a:pPr>
            <a:r>
              <a:rPr lang="en-US" sz="4800" dirty="0">
                <a:solidFill>
                  <a:srgbClr val="E0561F"/>
                </a:solidFill>
                <a:latin typeface="Cambria" pitchFamily="34" charset="0"/>
                <a:ea typeface="Cambria" pitchFamily="34" charset="-122"/>
                <a:cs typeface="Cambria" pitchFamily="34" charset="-120"/>
              </a:rPr>
              <a:t>not enough.</a:t>
            </a:r>
            <a:endParaRPr lang="en-US" sz="4800" dirty="0"/>
          </a:p>
        </p:txBody>
      </p:sp>
      <p:sp>
        <p:nvSpPr>
          <p:cNvPr id="5" name="Text 3"/>
          <p:cNvSpPr txBox="1"/>
          <p:nvPr/>
        </p:nvSpPr>
        <p:spPr>
          <a:xfrm>
            <a:off x="548640" y="4892040"/>
            <a:ext cx="4572000" cy="1280160"/>
          </a:xfrm>
          <a:prstGeom prst="rect">
            <a:avLst/>
          </a:prstGeom>
          <a:noFill/>
          <a:ln/>
        </p:spPr>
        <p:txBody>
          <a:bodyPr wrap="square" lIns="0" tIns="0" rIns="0" bIns="0" rtlCol="0" anchor="t"/>
          <a:lstStyle/>
          <a:p>
            <a:pPr indent="0" marL="0">
              <a:buNone/>
            </a:pPr>
            <a:r>
              <a:rPr lang="en-US" sz="1400" dirty="0">
                <a:solidFill>
                  <a:srgbClr val="3E4750"/>
                </a:solidFill>
                <a:latin typeface="Calibri" pitchFamily="34" charset="0"/>
                <a:ea typeface="Calibri" pitchFamily="34" charset="-122"/>
                <a:cs typeface="Calibri" pitchFamily="34" charset="-120"/>
              </a:rPr>
              <a:t>Batch numbers are printed codes drawn from a finite annual series. The same number comes round again later in the year, often on a different product and colour.</a:t>
            </a:r>
            <a:endParaRPr lang="en-US" sz="1400" dirty="0"/>
          </a:p>
        </p:txBody>
      </p:sp>
      <p:sp>
        <p:nvSpPr>
          <p:cNvPr id="6" name="Text 4"/>
          <p:cNvSpPr txBox="1"/>
          <p:nvPr/>
        </p:nvSpPr>
        <p:spPr>
          <a:xfrm>
            <a:off x="6035040" y="1783080"/>
            <a:ext cx="5486400" cy="274320"/>
          </a:xfrm>
          <a:prstGeom prst="rect">
            <a:avLst/>
          </a:prstGeom>
          <a:noFill/>
          <a:ln/>
        </p:spPr>
        <p:txBody>
          <a:bodyPr wrap="square" lIns="0" tIns="0" rIns="0" bIns="0" rtlCol="0" anchor="ctr"/>
          <a:lstStyle/>
          <a:p>
            <a:pPr indent="0" marL="0">
              <a:buNone/>
            </a:pPr>
            <a:r>
              <a:rPr lang="en-US" sz="1200" b="1" dirty="0">
                <a:solidFill>
                  <a:srgbClr val="6B7278"/>
                </a:solidFill>
                <a:latin typeface="Calibri" pitchFamily="34" charset="0"/>
                <a:ea typeface="Calibri" pitchFamily="34" charset="-122"/>
                <a:cs typeface="Calibri" pitchFamily="34" charset="-120"/>
              </a:rPr>
              <a:t>Search result for one batch number</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035040" y="2148840"/>
          <a:ext cx="5577840" cy="914400"/>
        </p:xfrm>
        <a:graphic>
          <a:graphicData uri="http://schemas.openxmlformats.org/drawingml/2006/table">
            <a:tbl>
              <a:tblPr/>
              <a:tblGrid>
                <a:gridCol w="1051560"/>
                <a:gridCol w="2514600"/>
                <a:gridCol w="822960"/>
                <a:gridCol w="118872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Batch No.</a:t>
                      </a:r>
                      <a:endParaRPr lang="en-US" sz="12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3E475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Product</a:t>
                      </a:r>
                      <a:endParaRPr lang="en-US" sz="12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3E475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Colour</a:t>
                      </a:r>
                      <a:endParaRPr lang="en-US" sz="12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3E4750"/>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Mfg. Date</a:t>
                      </a:r>
                      <a:endParaRPr lang="en-US" sz="12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3E4750"/>
                    </a:solidFill>
                  </a:tcPr>
                </a:tc>
              </a:tr>
              <a:tr h="402336">
                <a:tc>
                  <a:txBody>
                    <a:bodyPr/>
                    <a:lstStyle/>
                    <a:p>
                      <a:pPr indent="0" marL="0">
                        <a:buNone/>
                      </a:pPr>
                      <a:r>
                        <a:rPr lang="en-US" sz="1100" b="1" dirty="0">
                          <a:solidFill>
                            <a:srgbClr val="E0561F"/>
                          </a:solidFill>
                          <a:latin typeface="Calibri" pitchFamily="34" charset="0"/>
                          <a:ea typeface="Calibri" pitchFamily="34" charset="-122"/>
                          <a:cs typeface="Calibri" pitchFamily="34" charset="-120"/>
                        </a:rPr>
                        <a:t>JHS-26433</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FBE3D8"/>
                    </a:solidFill>
                  </a:tcPr>
                </a:tc>
                <a:tc>
                  <a:txBody>
                    <a:bodyPr/>
                    <a:lstStyle/>
                    <a:p>
                      <a:pPr indent="0" marL="0">
                        <a:buNone/>
                      </a:pPr>
                      <a:r>
                        <a:rPr lang="en-US" sz="1100" dirty="0">
                          <a:solidFill>
                            <a:srgbClr val="1A1D21"/>
                          </a:solidFill>
                          <a:latin typeface="Calibri" pitchFamily="34" charset="0"/>
                          <a:ea typeface="Calibri" pitchFamily="34" charset="-122"/>
                          <a:cs typeface="Calibri" pitchFamily="34" charset="-120"/>
                        </a:rPr>
                        <a:t>Dabur Red Toothbrush — Soft</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indent="0" marL="0">
                        <a:buNone/>
                      </a:pPr>
                      <a:r>
                        <a:rPr lang="en-US" sz="1100" dirty="0">
                          <a:solidFill>
                            <a:srgbClr val="1A1D21"/>
                          </a:solidFill>
                          <a:latin typeface="Calibri" pitchFamily="34" charset="0"/>
                          <a:ea typeface="Calibri" pitchFamily="34" charset="-122"/>
                          <a:cs typeface="Calibri" pitchFamily="34" charset="-120"/>
                        </a:rPr>
                        <a:t>White</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indent="0" marL="0">
                        <a:buNone/>
                      </a:pPr>
                      <a:r>
                        <a:rPr lang="en-US" sz="1100" dirty="0">
                          <a:solidFill>
                            <a:srgbClr val="1A1D21"/>
                          </a:solidFill>
                          <a:latin typeface="Calibri" pitchFamily="34" charset="0"/>
                          <a:ea typeface="Calibri" pitchFamily="34" charset="-122"/>
                          <a:cs typeface="Calibri" pitchFamily="34" charset="-120"/>
                        </a:rPr>
                        <a:t>12-Jun-26</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r>
              <a:tr h="402336">
                <a:tc>
                  <a:txBody>
                    <a:bodyPr/>
                    <a:lstStyle/>
                    <a:p>
                      <a:pPr indent="0" marL="0">
                        <a:buNone/>
                      </a:pPr>
                      <a:r>
                        <a:rPr lang="en-US" sz="1100" b="1" dirty="0">
                          <a:solidFill>
                            <a:srgbClr val="E0561F"/>
                          </a:solidFill>
                          <a:latin typeface="Calibri" pitchFamily="34" charset="0"/>
                          <a:ea typeface="Calibri" pitchFamily="34" charset="-122"/>
                          <a:cs typeface="Calibri" pitchFamily="34" charset="-120"/>
                        </a:rPr>
                        <a:t>JHS-26433</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FBE3D8"/>
                    </a:solidFill>
                  </a:tcPr>
                </a:tc>
                <a:tc>
                  <a:txBody>
                    <a:bodyPr/>
                    <a:lstStyle/>
                    <a:p>
                      <a:pPr indent="0" marL="0">
                        <a:buNone/>
                      </a:pPr>
                      <a:r>
                        <a:rPr lang="en-US" sz="1100" dirty="0">
                          <a:solidFill>
                            <a:srgbClr val="1A1D21"/>
                          </a:solidFill>
                          <a:latin typeface="Calibri" pitchFamily="34" charset="0"/>
                          <a:ea typeface="Calibri" pitchFamily="34" charset="-122"/>
                          <a:cs typeface="Calibri" pitchFamily="34" charset="-120"/>
                        </a:rPr>
                        <a:t>Dabur Red Toothbrush — Medium</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indent="0" marL="0">
                        <a:buNone/>
                      </a:pPr>
                      <a:r>
                        <a:rPr lang="en-US" sz="1100" dirty="0">
                          <a:solidFill>
                            <a:srgbClr val="1A1D21"/>
                          </a:solidFill>
                          <a:latin typeface="Calibri" pitchFamily="34" charset="0"/>
                          <a:ea typeface="Calibri" pitchFamily="34" charset="-122"/>
                          <a:cs typeface="Calibri" pitchFamily="34" charset="-120"/>
                        </a:rPr>
                        <a:t>Black</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indent="0" marL="0">
                        <a:buNone/>
                      </a:pPr>
                      <a:r>
                        <a:rPr lang="en-US" sz="1100" dirty="0">
                          <a:solidFill>
                            <a:srgbClr val="1A1D21"/>
                          </a:solidFill>
                          <a:latin typeface="Calibri" pitchFamily="34" charset="0"/>
                          <a:ea typeface="Calibri" pitchFamily="34" charset="-122"/>
                          <a:cs typeface="Calibri" pitchFamily="34" charset="-120"/>
                        </a:rPr>
                        <a:t>27-Jun-26</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r>
              <a:tr h="402336">
                <a:tc>
                  <a:txBody>
                    <a:bodyPr/>
                    <a:lstStyle/>
                    <a:p>
                      <a:pPr indent="0" marL="0">
                        <a:buNone/>
                      </a:pPr>
                      <a:r>
                        <a:rPr lang="en-US" sz="1100" b="1" dirty="0">
                          <a:solidFill>
                            <a:srgbClr val="E0561F"/>
                          </a:solidFill>
                          <a:latin typeface="Calibri" pitchFamily="34" charset="0"/>
                          <a:ea typeface="Calibri" pitchFamily="34" charset="-122"/>
                          <a:cs typeface="Calibri" pitchFamily="34" charset="-120"/>
                        </a:rPr>
                        <a:t>JHS-26433</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FBE3D8"/>
                    </a:solidFill>
                  </a:tcPr>
                </a:tc>
                <a:tc>
                  <a:txBody>
                    <a:bodyPr/>
                    <a:lstStyle/>
                    <a:p>
                      <a:pPr indent="0" marL="0">
                        <a:buNone/>
                      </a:pPr>
                      <a:r>
                        <a:rPr lang="en-US" sz="1100" dirty="0">
                          <a:solidFill>
                            <a:srgbClr val="1A1D21"/>
                          </a:solidFill>
                          <a:latin typeface="Calibri" pitchFamily="34" charset="0"/>
                          <a:ea typeface="Calibri" pitchFamily="34" charset="-122"/>
                          <a:cs typeface="Calibri" pitchFamily="34" charset="-120"/>
                        </a:rPr>
                        <a:t>Dabur Red Toothbrush — Medium</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indent="0" marL="0">
                        <a:buNone/>
                      </a:pPr>
                      <a:r>
                        <a:rPr lang="en-US" sz="1100" dirty="0">
                          <a:solidFill>
                            <a:srgbClr val="1A1D21"/>
                          </a:solidFill>
                          <a:latin typeface="Calibri" pitchFamily="34" charset="0"/>
                          <a:ea typeface="Calibri" pitchFamily="34" charset="-122"/>
                          <a:cs typeface="Calibri" pitchFamily="34" charset="-120"/>
                        </a:rPr>
                        <a:t>Red</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indent="0" marL="0">
                        <a:buNone/>
                      </a:pPr>
                      <a:r>
                        <a:rPr lang="en-US" sz="1100" dirty="0">
                          <a:solidFill>
                            <a:srgbClr val="1A1D21"/>
                          </a:solidFill>
                          <a:latin typeface="Calibri" pitchFamily="34" charset="0"/>
                          <a:ea typeface="Calibri" pitchFamily="34" charset="-122"/>
                          <a:cs typeface="Calibri" pitchFamily="34" charset="-120"/>
                        </a:rPr>
                        <a:t>14-Jul-26</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r>
              <a:tr h="402336">
                <a:tc>
                  <a:txBody>
                    <a:bodyPr/>
                    <a:lstStyle/>
                    <a:p>
                      <a:pPr indent="0" marL="0">
                        <a:buNone/>
                      </a:pPr>
                      <a:r>
                        <a:rPr lang="en-US" sz="1100" b="1" dirty="0">
                          <a:solidFill>
                            <a:srgbClr val="E0561F"/>
                          </a:solidFill>
                          <a:latin typeface="Calibri" pitchFamily="34" charset="0"/>
                          <a:ea typeface="Calibri" pitchFamily="34" charset="-122"/>
                          <a:cs typeface="Calibri" pitchFamily="34" charset="-120"/>
                        </a:rPr>
                        <a:t>JHS-26433</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FBE3D8"/>
                    </a:solidFill>
                  </a:tcPr>
                </a:tc>
                <a:tc>
                  <a:txBody>
                    <a:bodyPr/>
                    <a:lstStyle/>
                    <a:p>
                      <a:pPr indent="0" marL="0">
                        <a:buNone/>
                      </a:pPr>
                      <a:r>
                        <a:rPr lang="en-US" sz="1100" dirty="0">
                          <a:solidFill>
                            <a:srgbClr val="1A1D21"/>
                          </a:solidFill>
                          <a:latin typeface="Calibri" pitchFamily="34" charset="0"/>
                          <a:ea typeface="Calibri" pitchFamily="34" charset="-122"/>
                          <a:cs typeface="Calibri" pitchFamily="34" charset="-120"/>
                        </a:rPr>
                        <a:t>Babool Family Pack Toothbrush</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indent="0" marL="0">
                        <a:buNone/>
                      </a:pPr>
                      <a:r>
                        <a:rPr lang="en-US" sz="1100" dirty="0">
                          <a:solidFill>
                            <a:srgbClr val="1A1D21"/>
                          </a:solidFill>
                          <a:latin typeface="Calibri" pitchFamily="34" charset="0"/>
                          <a:ea typeface="Calibri" pitchFamily="34" charset="-122"/>
                          <a:cs typeface="Calibri" pitchFamily="34" charset="-120"/>
                        </a:rPr>
                        <a:t>Violet</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indent="0" marL="0">
                        <a:buNone/>
                      </a:pPr>
                      <a:r>
                        <a:rPr lang="en-US" sz="1100" dirty="0">
                          <a:solidFill>
                            <a:srgbClr val="1A1D21"/>
                          </a:solidFill>
                          <a:latin typeface="Calibri" pitchFamily="34" charset="0"/>
                          <a:ea typeface="Calibri" pitchFamily="34" charset="-122"/>
                          <a:cs typeface="Calibri" pitchFamily="34" charset="-120"/>
                        </a:rPr>
                        <a:t>31-Jul-26</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r>
              <a:tr h="402336">
                <a:tc>
                  <a:txBody>
                    <a:bodyPr/>
                    <a:lstStyle/>
                    <a:p>
                      <a:pPr indent="0" marL="0">
                        <a:buNone/>
                      </a:pPr>
                      <a:r>
                        <a:rPr lang="en-US" sz="1100" b="1" dirty="0">
                          <a:solidFill>
                            <a:srgbClr val="E0561F"/>
                          </a:solidFill>
                          <a:latin typeface="Calibri" pitchFamily="34" charset="0"/>
                          <a:ea typeface="Calibri" pitchFamily="34" charset="-122"/>
                          <a:cs typeface="Calibri" pitchFamily="34" charset="-120"/>
                        </a:rPr>
                        <a:t>JHS-26433</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FBE3D8"/>
                    </a:solidFill>
                  </a:tcPr>
                </a:tc>
                <a:tc>
                  <a:txBody>
                    <a:bodyPr/>
                    <a:lstStyle/>
                    <a:p>
                      <a:pPr indent="0" marL="0">
                        <a:buNone/>
                      </a:pPr>
                      <a:r>
                        <a:rPr lang="en-US" sz="1100" dirty="0">
                          <a:solidFill>
                            <a:srgbClr val="1A1D21"/>
                          </a:solidFill>
                          <a:latin typeface="Calibri" pitchFamily="34" charset="0"/>
                          <a:ea typeface="Calibri" pitchFamily="34" charset="-122"/>
                          <a:cs typeface="Calibri" pitchFamily="34" charset="-120"/>
                        </a:rPr>
                        <a:t>Babool Family Pack Toothbrush</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indent="0" marL="0">
                        <a:buNone/>
                      </a:pPr>
                      <a:r>
                        <a:rPr lang="en-US" sz="1100" dirty="0">
                          <a:solidFill>
                            <a:srgbClr val="1A1D21"/>
                          </a:solidFill>
                          <a:latin typeface="Calibri" pitchFamily="34" charset="0"/>
                          <a:ea typeface="Calibri" pitchFamily="34" charset="-122"/>
                          <a:cs typeface="Calibri" pitchFamily="34" charset="-120"/>
                        </a:rPr>
                        <a:t>Violet</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indent="0" marL="0">
                        <a:buNone/>
                      </a:pPr>
                      <a:r>
                        <a:rPr lang="en-US" sz="1100" dirty="0">
                          <a:solidFill>
                            <a:srgbClr val="1A1D21"/>
                          </a:solidFill>
                          <a:latin typeface="Calibri" pitchFamily="34" charset="0"/>
                          <a:ea typeface="Calibri" pitchFamily="34" charset="-122"/>
                          <a:cs typeface="Calibri" pitchFamily="34" charset="-120"/>
                        </a:rPr>
                        <a:t>18-Aug-26</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r>
              <a:tr h="402336">
                <a:tc>
                  <a:txBody>
                    <a:bodyPr/>
                    <a:lstStyle/>
                    <a:p>
                      <a:pPr indent="0" marL="0">
                        <a:buNone/>
                      </a:pPr>
                      <a:r>
                        <a:rPr lang="en-US" sz="1100" b="1" dirty="0">
                          <a:solidFill>
                            <a:srgbClr val="E0561F"/>
                          </a:solidFill>
                          <a:latin typeface="Calibri" pitchFamily="34" charset="0"/>
                          <a:ea typeface="Calibri" pitchFamily="34" charset="-122"/>
                          <a:cs typeface="Calibri" pitchFamily="34" charset="-120"/>
                        </a:rPr>
                        <a:t>JHS-26433</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solidFill>
                      <a:srgbClr val="FBE3D8"/>
                    </a:solidFill>
                  </a:tcPr>
                </a:tc>
                <a:tc>
                  <a:txBody>
                    <a:bodyPr/>
                    <a:lstStyle/>
                    <a:p>
                      <a:pPr indent="0" marL="0">
                        <a:buNone/>
                      </a:pPr>
                      <a:r>
                        <a:rPr lang="en-US" sz="1100" dirty="0">
                          <a:solidFill>
                            <a:srgbClr val="1A1D21"/>
                          </a:solidFill>
                          <a:latin typeface="Calibri" pitchFamily="34" charset="0"/>
                          <a:ea typeface="Calibri" pitchFamily="34" charset="-122"/>
                          <a:cs typeface="Calibri" pitchFamily="34" charset="-120"/>
                        </a:rPr>
                        <a:t>Dabur Red Toothbrush — Soft</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indent="0" marL="0">
                        <a:buNone/>
                      </a:pPr>
                      <a:r>
                        <a:rPr lang="en-US" sz="1100" dirty="0">
                          <a:solidFill>
                            <a:srgbClr val="1A1D21"/>
                          </a:solidFill>
                          <a:latin typeface="Calibri" pitchFamily="34" charset="0"/>
                          <a:ea typeface="Calibri" pitchFamily="34" charset="-122"/>
                          <a:cs typeface="Calibri" pitchFamily="34" charset="-120"/>
                        </a:rPr>
                        <a:t>White</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c>
                  <a:txBody>
                    <a:bodyPr/>
                    <a:lstStyle/>
                    <a:p>
                      <a:pPr indent="0" marL="0">
                        <a:buNone/>
                      </a:pPr>
                      <a:r>
                        <a:rPr lang="en-US" sz="1100" dirty="0">
                          <a:solidFill>
                            <a:srgbClr val="1A1D21"/>
                          </a:solidFill>
                          <a:latin typeface="Calibri" pitchFamily="34" charset="0"/>
                          <a:ea typeface="Calibri" pitchFamily="34" charset="-122"/>
                          <a:cs typeface="Calibri" pitchFamily="34" charset="-120"/>
                        </a:rPr>
                        <a:t>04-Sep-26</a:t>
                      </a:r>
                      <a:endParaRPr lang="en-US" sz="1100" dirty="0">
                        <a:latin typeface="Calibri" charset="0"/>
                        <a:ea typeface="Calibri" charset="0"/>
                        <a:cs typeface="Calibri" charset="0"/>
                      </a:endParaRPr>
                    </a:p>
                  </a:txBody>
                  <a:tcPr marL="73152" marR="73152" marT="73152" marB="73152" anchor="ctr">
                    <a:lnL w="9525" cap="flat" cmpd="sng" algn="ctr">
                      <a:solidFill>
                        <a:srgbClr val="D6D8D6"/>
                      </a:solidFill>
                      <a:prstDash val="solid"/>
                      <a:round/>
                      <a:headEnd type="none" w="med" len="med"/>
                      <a:tailEnd type="none" w="med" len="med"/>
                    </a:lnL>
                    <a:lnR w="9525" cap="flat" cmpd="sng" algn="ctr">
                      <a:solidFill>
                        <a:srgbClr val="D6D8D6"/>
                      </a:solidFill>
                      <a:prstDash val="solid"/>
                      <a:round/>
                      <a:headEnd type="none" w="med" len="med"/>
                      <a:tailEnd type="none" w="med" len="med"/>
                    </a:lnR>
                    <a:lnT w="9525" cap="flat" cmpd="sng" algn="ctr">
                      <a:solidFill>
                        <a:srgbClr val="D6D8D6"/>
                      </a:solidFill>
                      <a:prstDash val="solid"/>
                      <a:round/>
                      <a:headEnd type="none" w="med" len="med"/>
                      <a:tailEnd type="none" w="med" len="med"/>
                    </a:lnT>
                    <a:lnB w="9525" cap="flat" cmpd="sng" algn="ctr">
                      <a:solidFill>
                        <a:srgbClr val="D6D8D6"/>
                      </a:solidFill>
                      <a:prstDash val="solid"/>
                      <a:round/>
                      <a:headEnd type="none" w="med" len="med"/>
                      <a:tailEnd type="none" w="med" len="med"/>
                    </a:lnB>
                  </a:tcPr>
                </a:tc>
              </a:tr>
            </a:tbl>
          </a:graphicData>
        </a:graphic>
      </p:graphicFrame>
      <p:sp>
        <p:nvSpPr>
          <p:cNvPr id="8" name="Text 5"/>
          <p:cNvSpPr txBox="1"/>
          <p:nvPr/>
        </p:nvSpPr>
        <p:spPr>
          <a:xfrm>
            <a:off x="6035040" y="5102352"/>
            <a:ext cx="5577840" cy="457200"/>
          </a:xfrm>
          <a:prstGeom prst="rect">
            <a:avLst/>
          </a:prstGeom>
          <a:noFill/>
          <a:ln/>
        </p:spPr>
        <p:txBody>
          <a:bodyPr wrap="square" lIns="0" tIns="0" rIns="0" bIns="0" rtlCol="0" anchor="ctr"/>
          <a:lstStyle/>
          <a:p>
            <a:pPr indent="0" marL="0">
              <a:buNone/>
            </a:pPr>
            <a:r>
              <a:rPr lang="en-US" sz="1600" i="1" dirty="0">
                <a:solidFill>
                  <a:srgbClr val="1A1D21"/>
                </a:solidFill>
                <a:latin typeface="Cambria" pitchFamily="34" charset="0"/>
                <a:ea typeface="Cambria" pitchFamily="34" charset="-122"/>
                <a:cs typeface="Cambria" pitchFamily="34" charset="-120"/>
              </a:rPr>
              <a:t>6 records. Same printed number. Which one is the customer holding?</a:t>
            </a:r>
            <a:endParaRPr lang="en-US" sz="1600" dirty="0"/>
          </a:p>
        </p:txBody>
      </p:sp>
      <p:sp>
        <p:nvSpPr>
          <p:cNvPr id="9" name="Text 6"/>
          <p:cNvSpPr txBox="1"/>
          <p:nvPr/>
        </p:nvSpPr>
        <p:spPr>
          <a:xfrm>
            <a:off x="6035040" y="6355080"/>
            <a:ext cx="2743200" cy="228600"/>
          </a:xfrm>
          <a:prstGeom prst="rect">
            <a:avLst/>
          </a:prstGeom>
          <a:noFill/>
          <a:ln/>
        </p:spPr>
        <p:txBody>
          <a:bodyPr wrap="square" lIns="0" tIns="0" rIns="0" bIns="0" rtlCol="0" anchor="ctr"/>
          <a:lstStyle/>
          <a:p>
            <a:pPr indent="0" marL="0">
              <a:buNone/>
            </a:pPr>
            <a:r>
              <a:rPr lang="en-US" sz="900" i="1" dirty="0">
                <a:solidFill>
                  <a:srgbClr val="6B7278"/>
                </a:solidFill>
                <a:latin typeface="Calibri" pitchFamily="34" charset="0"/>
                <a:ea typeface="Calibri" pitchFamily="34" charset="-122"/>
                <a:cs typeface="Calibri" pitchFamily="34" charset="-120"/>
              </a:rPr>
              <a:t>Demonstration dataset</a:t>
            </a:r>
            <a:endParaRPr lang="en-US" sz="900" dirty="0"/>
          </a:p>
        </p:txBody>
      </p:sp>
      <p:sp>
        <p:nvSpPr>
          <p:cNvPr id="11" name="Text 7"/>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1"/>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02</a:t>
            </a:r>
            <a:pPr indent="0" marL="0">
              <a:buNone/>
            </a:pPr>
            <a:r>
              <a:rPr lang="en-US" sz="1050" spc="300" kern="0" dirty="0">
                <a:solidFill>
                  <a:srgbClr val="6B7278"/>
                </a:solidFill>
                <a:latin typeface="Calibri" pitchFamily="34" charset="0"/>
                <a:ea typeface="Calibri" pitchFamily="34" charset="-122"/>
                <a:cs typeface="Calibri" pitchFamily="34" charset="-120"/>
              </a:rPr>
              <a:t>   THE INVESTIGATION</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indent="0" marL="0">
              <a:buNone/>
            </a:pPr>
            <a:r>
              <a:rPr lang="en-US" sz="3200" dirty="0">
                <a:solidFill>
                  <a:srgbClr val="1A1D21"/>
                </a:solidFill>
                <a:latin typeface="Cambria" pitchFamily="34" charset="0"/>
                <a:ea typeface="Cambria" pitchFamily="34" charset="-122"/>
                <a:cs typeface="Cambria" pitchFamily="34" charset="-120"/>
              </a:rPr>
              <a:t>What identifies one manufacturing occurrence?</a:t>
            </a:r>
            <a:endParaRPr lang="en-US" sz="3200" dirty="0"/>
          </a:p>
        </p:txBody>
      </p:sp>
      <p:sp>
        <p:nvSpPr>
          <p:cNvPr id="4" name="Shape 2"/>
          <p:cNvSpPr/>
          <p:nvPr/>
        </p:nvSpPr>
        <p:spPr>
          <a:xfrm>
            <a:off x="548640" y="2103120"/>
            <a:ext cx="1874520" cy="1371600"/>
          </a:xfrm>
          <a:prstGeom prst="rect">
            <a:avLst/>
          </a:prstGeom>
          <a:solidFill>
            <a:srgbClr val="FFFFFF"/>
          </a:solidFill>
          <a:ln w="12700">
            <a:solidFill>
              <a:srgbClr val="B9BEC2"/>
            </a:solidFill>
            <a:prstDash val="solid"/>
          </a:ln>
        </p:spPr>
      </p:sp>
      <p:sp>
        <p:nvSpPr>
          <p:cNvPr id="5" name="Text 3"/>
          <p:cNvSpPr txBox="1"/>
          <p:nvPr/>
        </p:nvSpPr>
        <p:spPr>
          <a:xfrm>
            <a:off x="548640" y="2103120"/>
            <a:ext cx="1874520" cy="1371600"/>
          </a:xfrm>
          <a:prstGeom prst="rect">
            <a:avLst/>
          </a:prstGeom>
          <a:noFill/>
          <a:ln/>
        </p:spPr>
        <p:txBody>
          <a:bodyPr wrap="square" lIns="0" tIns="0" rIns="0" bIns="0" rtlCol="0" anchor="ctr"/>
          <a:lstStyle/>
          <a:p>
            <a:pPr algn="ctr" indent="0" marL="0">
              <a:buNone/>
            </a:pPr>
            <a:r>
              <a:rPr lang="en-US" sz="1900" dirty="0">
                <a:solidFill>
                  <a:srgbClr val="1A1D21"/>
                </a:solidFill>
                <a:latin typeface="Cambria" pitchFamily="34" charset="0"/>
                <a:ea typeface="Cambria" pitchFamily="34" charset="-122"/>
                <a:cs typeface="Cambria" pitchFamily="34" charset="-120"/>
              </a:rPr>
              <a:t>Batch</a:t>
            </a:r>
            <a:endParaRPr lang="en-US" sz="1900" dirty="0"/>
          </a:p>
          <a:p>
            <a:pPr algn="ctr" indent="0" marL="0">
              <a:buNone/>
            </a:pPr>
            <a:r>
              <a:rPr lang="en-US" sz="1900" dirty="0">
                <a:solidFill>
                  <a:srgbClr val="1A1D21"/>
                </a:solidFill>
                <a:latin typeface="Cambria" pitchFamily="34" charset="0"/>
                <a:ea typeface="Cambria" pitchFamily="34" charset="-122"/>
                <a:cs typeface="Cambria" pitchFamily="34" charset="-120"/>
              </a:rPr>
              <a:t>Number</a:t>
            </a:r>
            <a:endParaRPr lang="en-US" sz="1900" dirty="0"/>
          </a:p>
        </p:txBody>
      </p:sp>
      <p:sp>
        <p:nvSpPr>
          <p:cNvPr id="6" name="Text 4"/>
          <p:cNvSpPr txBox="1"/>
          <p:nvPr/>
        </p:nvSpPr>
        <p:spPr>
          <a:xfrm>
            <a:off x="2423160" y="2103120"/>
            <a:ext cx="502920" cy="1371600"/>
          </a:xfrm>
          <a:prstGeom prst="rect">
            <a:avLst/>
          </a:prstGeom>
          <a:noFill/>
          <a:ln/>
        </p:spPr>
        <p:txBody>
          <a:bodyPr wrap="square" lIns="0" tIns="0" rIns="0" bIns="0" rtlCol="0" anchor="ctr"/>
          <a:lstStyle/>
          <a:p>
            <a:pPr algn="ctr" indent="0" marL="0">
              <a:buNone/>
            </a:pPr>
            <a:r>
              <a:rPr lang="en-US" sz="2800" dirty="0">
                <a:solidFill>
                  <a:srgbClr val="6B7278"/>
                </a:solidFill>
                <a:latin typeface="Cambria" pitchFamily="34" charset="0"/>
                <a:ea typeface="Cambria" pitchFamily="34" charset="-122"/>
                <a:cs typeface="Cambria" pitchFamily="34" charset="-120"/>
              </a:rPr>
              <a:t>+</a:t>
            </a:r>
            <a:endParaRPr lang="en-US" sz="2800" dirty="0"/>
          </a:p>
        </p:txBody>
      </p:sp>
      <p:sp>
        <p:nvSpPr>
          <p:cNvPr id="7" name="Shape 5"/>
          <p:cNvSpPr/>
          <p:nvPr/>
        </p:nvSpPr>
        <p:spPr>
          <a:xfrm>
            <a:off x="2926080" y="2103120"/>
            <a:ext cx="1874520" cy="1371600"/>
          </a:xfrm>
          <a:prstGeom prst="rect">
            <a:avLst/>
          </a:prstGeom>
          <a:solidFill>
            <a:srgbClr val="FFFFFF"/>
          </a:solidFill>
          <a:ln w="12700">
            <a:solidFill>
              <a:srgbClr val="B9BEC2"/>
            </a:solidFill>
            <a:prstDash val="solid"/>
          </a:ln>
        </p:spPr>
      </p:sp>
      <p:sp>
        <p:nvSpPr>
          <p:cNvPr id="8" name="Text 6"/>
          <p:cNvSpPr txBox="1"/>
          <p:nvPr/>
        </p:nvSpPr>
        <p:spPr>
          <a:xfrm>
            <a:off x="2926080" y="2103120"/>
            <a:ext cx="1874520" cy="1371600"/>
          </a:xfrm>
          <a:prstGeom prst="rect">
            <a:avLst/>
          </a:prstGeom>
          <a:noFill/>
          <a:ln/>
        </p:spPr>
        <p:txBody>
          <a:bodyPr wrap="square" lIns="0" tIns="0" rIns="0" bIns="0" rtlCol="0" anchor="ctr"/>
          <a:lstStyle/>
          <a:p>
            <a:pPr algn="ctr" indent="0" marL="0">
              <a:buNone/>
            </a:pPr>
            <a:r>
              <a:rPr lang="en-US" sz="1900" dirty="0">
                <a:solidFill>
                  <a:srgbClr val="1A1D21"/>
                </a:solidFill>
                <a:latin typeface="Cambria" pitchFamily="34" charset="0"/>
                <a:ea typeface="Cambria" pitchFamily="34" charset="-122"/>
                <a:cs typeface="Cambria" pitchFamily="34" charset="-120"/>
              </a:rPr>
              <a:t>Product</a:t>
            </a:r>
            <a:endParaRPr lang="en-US" sz="1900" dirty="0"/>
          </a:p>
        </p:txBody>
      </p:sp>
      <p:sp>
        <p:nvSpPr>
          <p:cNvPr id="9" name="Text 7"/>
          <p:cNvSpPr txBox="1"/>
          <p:nvPr/>
        </p:nvSpPr>
        <p:spPr>
          <a:xfrm>
            <a:off x="4800600" y="2103120"/>
            <a:ext cx="502920" cy="1371600"/>
          </a:xfrm>
          <a:prstGeom prst="rect">
            <a:avLst/>
          </a:prstGeom>
          <a:noFill/>
          <a:ln/>
        </p:spPr>
        <p:txBody>
          <a:bodyPr wrap="square" lIns="0" tIns="0" rIns="0" bIns="0" rtlCol="0" anchor="ctr"/>
          <a:lstStyle/>
          <a:p>
            <a:pPr algn="ctr" indent="0" marL="0">
              <a:buNone/>
            </a:pPr>
            <a:r>
              <a:rPr lang="en-US" sz="2800" dirty="0">
                <a:solidFill>
                  <a:srgbClr val="6B7278"/>
                </a:solidFill>
                <a:latin typeface="Cambria" pitchFamily="34" charset="0"/>
                <a:ea typeface="Cambria" pitchFamily="34" charset="-122"/>
                <a:cs typeface="Cambria" pitchFamily="34" charset="-120"/>
              </a:rPr>
              <a:t>+</a:t>
            </a:r>
            <a:endParaRPr lang="en-US" sz="2800" dirty="0"/>
          </a:p>
        </p:txBody>
      </p:sp>
      <p:sp>
        <p:nvSpPr>
          <p:cNvPr id="10" name="Shape 8"/>
          <p:cNvSpPr/>
          <p:nvPr/>
        </p:nvSpPr>
        <p:spPr>
          <a:xfrm>
            <a:off x="5303520" y="2103120"/>
            <a:ext cx="1874520" cy="1371600"/>
          </a:xfrm>
          <a:prstGeom prst="rect">
            <a:avLst/>
          </a:prstGeom>
          <a:solidFill>
            <a:srgbClr val="FFFFFF"/>
          </a:solidFill>
          <a:ln w="12700">
            <a:solidFill>
              <a:srgbClr val="B9BEC2"/>
            </a:solidFill>
            <a:prstDash val="solid"/>
          </a:ln>
        </p:spPr>
      </p:sp>
      <p:sp>
        <p:nvSpPr>
          <p:cNvPr id="11" name="Text 9"/>
          <p:cNvSpPr txBox="1"/>
          <p:nvPr/>
        </p:nvSpPr>
        <p:spPr>
          <a:xfrm>
            <a:off x="5303520" y="2103120"/>
            <a:ext cx="1874520" cy="1371600"/>
          </a:xfrm>
          <a:prstGeom prst="rect">
            <a:avLst/>
          </a:prstGeom>
          <a:noFill/>
          <a:ln/>
        </p:spPr>
        <p:txBody>
          <a:bodyPr wrap="square" lIns="0" tIns="0" rIns="0" bIns="0" rtlCol="0" anchor="ctr"/>
          <a:lstStyle/>
          <a:p>
            <a:pPr algn="ctr" indent="0" marL="0">
              <a:buNone/>
            </a:pPr>
            <a:r>
              <a:rPr lang="en-US" sz="1900" dirty="0">
                <a:solidFill>
                  <a:srgbClr val="1A1D21"/>
                </a:solidFill>
                <a:latin typeface="Cambria" pitchFamily="34" charset="0"/>
                <a:ea typeface="Cambria" pitchFamily="34" charset="-122"/>
                <a:cs typeface="Cambria" pitchFamily="34" charset="-120"/>
              </a:rPr>
              <a:t>Colour</a:t>
            </a:r>
            <a:endParaRPr lang="en-US" sz="1900" dirty="0"/>
          </a:p>
        </p:txBody>
      </p:sp>
      <p:sp>
        <p:nvSpPr>
          <p:cNvPr id="12" name="Text 10"/>
          <p:cNvSpPr txBox="1"/>
          <p:nvPr/>
        </p:nvSpPr>
        <p:spPr>
          <a:xfrm>
            <a:off x="7178040" y="2103120"/>
            <a:ext cx="502920" cy="1371600"/>
          </a:xfrm>
          <a:prstGeom prst="rect">
            <a:avLst/>
          </a:prstGeom>
          <a:noFill/>
          <a:ln/>
        </p:spPr>
        <p:txBody>
          <a:bodyPr wrap="square" lIns="0" tIns="0" rIns="0" bIns="0" rtlCol="0" anchor="ctr"/>
          <a:lstStyle/>
          <a:p>
            <a:pPr algn="ctr" indent="0" marL="0">
              <a:buNone/>
            </a:pPr>
            <a:r>
              <a:rPr lang="en-US" sz="2800" dirty="0">
                <a:solidFill>
                  <a:srgbClr val="6B7278"/>
                </a:solidFill>
                <a:latin typeface="Cambria" pitchFamily="34" charset="0"/>
                <a:ea typeface="Cambria" pitchFamily="34" charset="-122"/>
                <a:cs typeface="Cambria" pitchFamily="34" charset="-120"/>
              </a:rPr>
              <a:t>+</a:t>
            </a:r>
            <a:endParaRPr lang="en-US" sz="2800" dirty="0"/>
          </a:p>
        </p:txBody>
      </p:sp>
      <p:sp>
        <p:nvSpPr>
          <p:cNvPr id="13" name="Shape 11"/>
          <p:cNvSpPr/>
          <p:nvPr/>
        </p:nvSpPr>
        <p:spPr>
          <a:xfrm>
            <a:off x="7680960" y="2103120"/>
            <a:ext cx="1874520" cy="1371600"/>
          </a:xfrm>
          <a:prstGeom prst="rect">
            <a:avLst/>
          </a:prstGeom>
          <a:solidFill>
            <a:srgbClr val="FFFFFF"/>
          </a:solidFill>
          <a:ln w="12700">
            <a:solidFill>
              <a:srgbClr val="B9BEC2"/>
            </a:solidFill>
            <a:prstDash val="solid"/>
          </a:ln>
        </p:spPr>
      </p:sp>
      <p:sp>
        <p:nvSpPr>
          <p:cNvPr id="14" name="Text 12"/>
          <p:cNvSpPr txBox="1"/>
          <p:nvPr/>
        </p:nvSpPr>
        <p:spPr>
          <a:xfrm>
            <a:off x="7680960" y="2103120"/>
            <a:ext cx="1874520" cy="1371600"/>
          </a:xfrm>
          <a:prstGeom prst="rect">
            <a:avLst/>
          </a:prstGeom>
          <a:noFill/>
          <a:ln/>
        </p:spPr>
        <p:txBody>
          <a:bodyPr wrap="square" lIns="0" tIns="0" rIns="0" bIns="0" rtlCol="0" anchor="ctr"/>
          <a:lstStyle/>
          <a:p>
            <a:pPr algn="ctr" indent="0" marL="0">
              <a:buNone/>
            </a:pPr>
            <a:r>
              <a:rPr lang="en-US" sz="1900" dirty="0">
                <a:solidFill>
                  <a:srgbClr val="1A1D21"/>
                </a:solidFill>
                <a:latin typeface="Cambria" pitchFamily="34" charset="0"/>
                <a:ea typeface="Cambria" pitchFamily="34" charset="-122"/>
                <a:cs typeface="Cambria" pitchFamily="34" charset="-120"/>
              </a:rPr>
              <a:t>Manufacturing</a:t>
            </a:r>
            <a:endParaRPr lang="en-US" sz="1900" dirty="0"/>
          </a:p>
          <a:p>
            <a:pPr algn="ctr" indent="0" marL="0">
              <a:buNone/>
            </a:pPr>
            <a:r>
              <a:rPr lang="en-US" sz="1900" dirty="0">
                <a:solidFill>
                  <a:srgbClr val="1A1D21"/>
                </a:solidFill>
                <a:latin typeface="Cambria" pitchFamily="34" charset="0"/>
                <a:ea typeface="Cambria" pitchFamily="34" charset="-122"/>
                <a:cs typeface="Cambria" pitchFamily="34" charset="-120"/>
              </a:rPr>
              <a:t>Date</a:t>
            </a:r>
            <a:endParaRPr lang="en-US" sz="1900" dirty="0"/>
          </a:p>
        </p:txBody>
      </p:sp>
      <p:sp>
        <p:nvSpPr>
          <p:cNvPr id="15" name="Text 13"/>
          <p:cNvSpPr txBox="1"/>
          <p:nvPr/>
        </p:nvSpPr>
        <p:spPr>
          <a:xfrm>
            <a:off x="9555480" y="2103120"/>
            <a:ext cx="502920" cy="1371600"/>
          </a:xfrm>
          <a:prstGeom prst="rect">
            <a:avLst/>
          </a:prstGeom>
          <a:noFill/>
          <a:ln/>
        </p:spPr>
        <p:txBody>
          <a:bodyPr wrap="square" lIns="0" tIns="0" rIns="0" bIns="0" rtlCol="0" anchor="ctr"/>
          <a:lstStyle/>
          <a:p>
            <a:pPr algn="ctr" indent="0" marL="0">
              <a:buNone/>
            </a:pPr>
            <a:r>
              <a:rPr lang="en-US" sz="3000" dirty="0">
                <a:solidFill>
                  <a:srgbClr val="E0561F"/>
                </a:solidFill>
                <a:latin typeface="Cambria" pitchFamily="34" charset="0"/>
                <a:ea typeface="Cambria" pitchFamily="34" charset="-122"/>
                <a:cs typeface="Cambria" pitchFamily="34" charset="-120"/>
              </a:rPr>
              <a:t>=</a:t>
            </a:r>
            <a:endParaRPr lang="en-US" sz="3000" dirty="0"/>
          </a:p>
        </p:txBody>
      </p:sp>
      <p:sp>
        <p:nvSpPr>
          <p:cNvPr id="16" name="Shape 14"/>
          <p:cNvSpPr/>
          <p:nvPr/>
        </p:nvSpPr>
        <p:spPr>
          <a:xfrm>
            <a:off x="10104120" y="2103120"/>
            <a:ext cx="2011680" cy="1371600"/>
          </a:xfrm>
          <a:prstGeom prst="rect">
            <a:avLst/>
          </a:prstGeom>
          <a:solidFill>
            <a:srgbClr val="121518"/>
          </a:solidFill>
          <a:ln/>
        </p:spPr>
      </p:sp>
      <p:sp>
        <p:nvSpPr>
          <p:cNvPr id="17" name="Text 15"/>
          <p:cNvSpPr txBox="1"/>
          <p:nvPr/>
        </p:nvSpPr>
        <p:spPr>
          <a:xfrm>
            <a:off x="10104120" y="2103120"/>
            <a:ext cx="2011680" cy="1371600"/>
          </a:xfrm>
          <a:prstGeom prst="rect">
            <a:avLst/>
          </a:prstGeom>
          <a:noFill/>
          <a:ln/>
        </p:spPr>
        <p:txBody>
          <a:bodyPr wrap="square" lIns="0" tIns="0" rIns="0" bIns="0" rtlCol="0" anchor="ctr"/>
          <a:lstStyle/>
          <a:p>
            <a:pPr algn="ctr" indent="0" marL="0">
              <a:buNone/>
            </a:pPr>
            <a:r>
              <a:rPr lang="en-US" sz="2000" dirty="0">
                <a:solidFill>
                  <a:srgbClr val="FFFFFF"/>
                </a:solidFill>
                <a:latin typeface="Cambria" pitchFamily="34" charset="0"/>
                <a:ea typeface="Cambria" pitchFamily="34" charset="-122"/>
                <a:cs typeface="Cambria" pitchFamily="34" charset="-120"/>
              </a:rPr>
              <a:t>One</a:t>
            </a:r>
            <a:endParaRPr lang="en-US" sz="2000" dirty="0"/>
          </a:p>
          <a:p>
            <a:pPr algn="ctr" indent="0" marL="0">
              <a:buNone/>
            </a:pPr>
            <a:r>
              <a:rPr lang="en-US" sz="2000" dirty="0">
                <a:solidFill>
                  <a:srgbClr val="FFFFFF"/>
                </a:solidFill>
                <a:latin typeface="Cambria" pitchFamily="34" charset="0"/>
                <a:ea typeface="Cambria" pitchFamily="34" charset="-122"/>
                <a:cs typeface="Cambria" pitchFamily="34" charset="-120"/>
              </a:rPr>
              <a:t>production run</a:t>
            </a:r>
            <a:endParaRPr lang="en-US" sz="2000" dirty="0"/>
          </a:p>
        </p:txBody>
      </p:sp>
      <p:sp>
        <p:nvSpPr>
          <p:cNvPr id="18" name="Text 16"/>
          <p:cNvSpPr txBox="1"/>
          <p:nvPr/>
        </p:nvSpPr>
        <p:spPr>
          <a:xfrm>
            <a:off x="548640" y="3931920"/>
            <a:ext cx="7498080" cy="914400"/>
          </a:xfrm>
          <a:prstGeom prst="rect">
            <a:avLst/>
          </a:prstGeom>
          <a:noFill/>
          <a:ln/>
        </p:spPr>
        <p:txBody>
          <a:bodyPr wrap="square" lIns="0" tIns="0" rIns="0" bIns="0" rtlCol="0" anchor="t"/>
          <a:lstStyle/>
          <a:p>
            <a:pPr indent="0" marL="0">
              <a:buNone/>
            </a:pPr>
            <a:r>
              <a:rPr lang="en-US" sz="1500" b="1" dirty="0">
                <a:solidFill>
                  <a:srgbClr val="1A1D21"/>
                </a:solidFill>
                <a:latin typeface="Calibri" pitchFamily="34" charset="0"/>
                <a:ea typeface="Calibri" pitchFamily="34" charset="-122"/>
                <a:cs typeface="Calibri" pitchFamily="34" charset="-120"/>
              </a:rPr>
              <a:t>The Trace Report concept.  </a:t>
            </a:r>
            <a:pPr indent="0" marL="0">
              <a:buNone/>
            </a:pPr>
            <a:r>
              <a:rPr lang="en-US" sz="1500" dirty="0">
                <a:solidFill>
                  <a:srgbClr val="3E4750"/>
                </a:solidFill>
                <a:latin typeface="Calibri" pitchFamily="34" charset="0"/>
                <a:ea typeface="Calibri" pitchFamily="34" charset="-122"/>
                <a:cs typeface="Calibri" pitchFamily="34" charset="-120"/>
              </a:rPr>
              <a:t>Enter the four fields from the pack, and the system returns only the production records that match all four. The investigation starts from the right record instead of a list of possibilities.</a:t>
            </a:r>
            <a:endParaRPr lang="en-US" sz="1500" dirty="0"/>
          </a:p>
        </p:txBody>
      </p:sp>
      <p:sp>
        <p:nvSpPr>
          <p:cNvPr id="19" name="Text 17"/>
          <p:cNvSpPr txBox="1"/>
          <p:nvPr/>
        </p:nvSpPr>
        <p:spPr>
          <a:xfrm>
            <a:off x="548640" y="5303520"/>
            <a:ext cx="10515600" cy="548640"/>
          </a:xfrm>
          <a:prstGeom prst="rect">
            <a:avLst/>
          </a:prstGeom>
          <a:noFill/>
          <a:ln/>
        </p:spPr>
        <p:txBody>
          <a:bodyPr wrap="square" lIns="0" tIns="0" rIns="0" bIns="0" rtlCol="0" anchor="ctr"/>
          <a:lstStyle/>
          <a:p>
            <a:pPr indent="0" marL="0">
              <a:buNone/>
            </a:pPr>
            <a:r>
              <a:rPr lang="en-US" sz="2200" i="1" dirty="0">
                <a:solidFill>
                  <a:srgbClr val="E0561F"/>
                </a:solidFill>
                <a:latin typeface="Cambria" pitchFamily="34" charset="0"/>
                <a:ea typeface="Cambria" pitchFamily="34" charset="-122"/>
                <a:cs typeface="Cambria" pitchFamily="34" charset="-120"/>
              </a:rPr>
              <a:t>To solve this, I first had to understand where the information was being created.</a:t>
            </a:r>
            <a:endParaRPr lang="en-US" sz="2200" dirty="0"/>
          </a:p>
        </p:txBody>
      </p:sp>
      <p:sp>
        <p:nvSpPr>
          <p:cNvPr id="21" name="Text 18"/>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4F1"/>
        </a:solidFill>
      </p:bgPr>
    </p:bg>
    <p:spTree>
      <p:nvGrpSpPr>
        <p:cNvPr id="1" name=""/>
        <p:cNvGrpSpPr/>
        <p:nvPr/>
      </p:nvGrpSpPr>
      <p:grpSpPr>
        <a:xfrm>
          <a:off x="0" y="0"/>
          <a:ext cx="0" cy="0"/>
          <a:chOff x="0" y="0"/>
          <a:chExt cx="0" cy="0"/>
        </a:xfrm>
      </p:grpSpPr>
      <p:pic>
        <p:nvPicPr>
          <p:cNvPr id="2" name="Image 0" descr="/home/user/master-executive-system/sip-presentation/source/photos/1.jpg">    </p:cNvPr>
          <p:cNvPicPr>
            <a:picLocks noChangeAspect="1"/>
          </p:cNvPicPr>
          <p:nvPr/>
        </p:nvPicPr>
        <p:blipFill>
          <a:blip r:embed="rId1"/>
          <a:srcRect l="0" r="0" t="0" b="0"/>
          <a:stretch/>
        </p:blipFill>
        <p:spPr>
          <a:xfrm>
            <a:off x="0" y="0"/>
            <a:ext cx="6949440" cy="6858000"/>
          </a:xfrm>
          <a:prstGeom prst="rect">
            <a:avLst/>
          </a:prstGeom>
        </p:spPr>
      </p:pic>
      <p:sp>
        <p:nvSpPr>
          <p:cNvPr id="3" name="Text 0"/>
          <p:cNvSpPr txBox="1"/>
          <p:nvPr/>
        </p:nvSpPr>
        <p:spPr>
          <a:xfrm>
            <a:off x="749808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03</a:t>
            </a:r>
            <a:pPr indent="0" marL="0">
              <a:buNone/>
            </a:pPr>
            <a:r>
              <a:rPr lang="en-US" sz="1050" spc="300" kern="0" dirty="0">
                <a:solidFill>
                  <a:srgbClr val="6B7278"/>
                </a:solidFill>
                <a:latin typeface="Calibri" pitchFamily="34" charset="0"/>
                <a:ea typeface="Calibri" pitchFamily="34" charset="-122"/>
                <a:cs typeface="Calibri" pitchFamily="34" charset="-120"/>
              </a:rPr>
              <a:t>   ENTER THE PLANT</a:t>
            </a:r>
            <a:endParaRPr lang="en-US" sz="1050" dirty="0"/>
          </a:p>
        </p:txBody>
      </p:sp>
      <p:sp>
        <p:nvSpPr>
          <p:cNvPr id="4" name="Text 1"/>
          <p:cNvSpPr txBox="1"/>
          <p:nvPr/>
        </p:nvSpPr>
        <p:spPr>
          <a:xfrm>
            <a:off x="7498080" y="713232"/>
            <a:ext cx="4206240" cy="548640"/>
          </a:xfrm>
          <a:prstGeom prst="rect">
            <a:avLst/>
          </a:prstGeom>
          <a:noFill/>
          <a:ln/>
        </p:spPr>
        <p:txBody>
          <a:bodyPr wrap="square" lIns="0" tIns="0" rIns="0" bIns="0" rtlCol="0" anchor="ctr"/>
          <a:lstStyle/>
          <a:p>
            <a:pPr indent="0" marL="0">
              <a:buNone/>
            </a:pPr>
            <a:r>
              <a:rPr lang="en-US" sz="3000" dirty="0">
                <a:solidFill>
                  <a:srgbClr val="1A1D21"/>
                </a:solidFill>
                <a:latin typeface="Cambria" pitchFamily="34" charset="0"/>
                <a:ea typeface="Cambria" pitchFamily="34" charset="-122"/>
                <a:cs typeface="Cambria" pitchFamily="34" charset="-120"/>
              </a:rPr>
              <a:t>Where was I?</a:t>
            </a:r>
            <a:endParaRPr lang="en-US" sz="3000" dirty="0"/>
          </a:p>
        </p:txBody>
      </p:sp>
      <p:sp>
        <p:nvSpPr>
          <p:cNvPr id="5" name="Text 2"/>
          <p:cNvSpPr txBox="1"/>
          <p:nvPr/>
        </p:nvSpPr>
        <p:spPr>
          <a:xfrm>
            <a:off x="7498080" y="1737360"/>
            <a:ext cx="4389120" cy="1097280"/>
          </a:xfrm>
          <a:prstGeom prst="rect">
            <a:avLst/>
          </a:prstGeom>
          <a:noFill/>
          <a:ln/>
        </p:spPr>
        <p:txBody>
          <a:bodyPr wrap="square" lIns="0" tIns="0" rIns="0" bIns="0" rtlCol="0" anchor="t"/>
          <a:lstStyle/>
          <a:p>
            <a:pPr indent="0" marL="0">
              <a:buNone/>
            </a:pPr>
            <a:r>
              <a:rPr lang="en-US" sz="2800" b="1" dirty="0">
                <a:solidFill>
                  <a:srgbClr val="1F4C94"/>
                </a:solidFill>
                <a:latin typeface="Cambria" pitchFamily="34" charset="0"/>
                <a:ea typeface="Cambria" pitchFamily="34" charset="-122"/>
                <a:cs typeface="Cambria" pitchFamily="34" charset="-120"/>
              </a:rPr>
              <a:t>JHS Svendgaard</a:t>
            </a:r>
            <a:endParaRPr lang="en-US" sz="2800" dirty="0"/>
          </a:p>
          <a:p>
            <a:pPr indent="0" marL="0">
              <a:buNone/>
            </a:pPr>
            <a:r>
              <a:rPr lang="en-US" sz="2800" b="1" dirty="0">
                <a:solidFill>
                  <a:srgbClr val="1F4C94"/>
                </a:solidFill>
                <a:latin typeface="Cambria" pitchFamily="34" charset="0"/>
                <a:ea typeface="Cambria" pitchFamily="34" charset="-122"/>
                <a:cs typeface="Cambria" pitchFamily="34" charset="-120"/>
              </a:rPr>
              <a:t>Laboratories Ltd.</a:t>
            </a:r>
            <a:endParaRPr lang="en-US" sz="2800" dirty="0"/>
          </a:p>
        </p:txBody>
      </p:sp>
      <p:sp>
        <p:nvSpPr>
          <p:cNvPr id="6" name="Text 3"/>
          <p:cNvSpPr txBox="1"/>
          <p:nvPr/>
        </p:nvSpPr>
        <p:spPr>
          <a:xfrm>
            <a:off x="7498080" y="3154680"/>
            <a:ext cx="4206240" cy="228600"/>
          </a:xfrm>
          <a:prstGeom prst="rect">
            <a:avLst/>
          </a:prstGeom>
          <a:noFill/>
          <a:ln/>
        </p:spPr>
        <p:txBody>
          <a:bodyPr wrap="square" lIns="0" tIns="0" rIns="0" bIns="0" rtlCol="0" anchor="ctr"/>
          <a:lstStyle/>
          <a:p>
            <a:pPr indent="0" marL="0">
              <a:buNone/>
            </a:pPr>
            <a:r>
              <a:rPr lang="en-US" sz="950" b="1" spc="200" kern="0" dirty="0">
                <a:solidFill>
                  <a:srgbClr val="6B7278"/>
                </a:solidFill>
                <a:latin typeface="Calibri" pitchFamily="34" charset="0"/>
                <a:ea typeface="Calibri" pitchFamily="34" charset="-122"/>
                <a:cs typeface="Calibri" pitchFamily="34" charset="-120"/>
              </a:rPr>
              <a:t>DEPARTMENT</a:t>
            </a:r>
            <a:endParaRPr lang="en-US" sz="950" dirty="0"/>
          </a:p>
        </p:txBody>
      </p:sp>
      <p:sp>
        <p:nvSpPr>
          <p:cNvPr id="7" name="Text 4"/>
          <p:cNvSpPr txBox="1"/>
          <p:nvPr/>
        </p:nvSpPr>
        <p:spPr>
          <a:xfrm>
            <a:off x="7498080" y="3383280"/>
            <a:ext cx="4206240" cy="320040"/>
          </a:xfrm>
          <a:prstGeom prst="rect">
            <a:avLst/>
          </a:prstGeom>
          <a:noFill/>
          <a:ln/>
        </p:spPr>
        <p:txBody>
          <a:bodyPr wrap="square" lIns="0" tIns="0" rIns="0" bIns="0" rtlCol="0" anchor="ctr"/>
          <a:lstStyle/>
          <a:p>
            <a:pPr indent="0" marL="0">
              <a:buNone/>
            </a:pPr>
            <a:r>
              <a:rPr lang="en-US" sz="1500" dirty="0">
                <a:solidFill>
                  <a:srgbClr val="1A1D21"/>
                </a:solidFill>
                <a:latin typeface="Calibri" pitchFamily="34" charset="0"/>
                <a:ea typeface="Calibri" pitchFamily="34" charset="-122"/>
                <a:cs typeface="Calibri" pitchFamily="34" charset="-120"/>
              </a:rPr>
              <a:t>Operations</a:t>
            </a:r>
            <a:endParaRPr lang="en-US" sz="1500" dirty="0"/>
          </a:p>
        </p:txBody>
      </p:sp>
      <p:sp>
        <p:nvSpPr>
          <p:cNvPr id="8" name="Text 5"/>
          <p:cNvSpPr txBox="1"/>
          <p:nvPr/>
        </p:nvSpPr>
        <p:spPr>
          <a:xfrm>
            <a:off x="7498080" y="3867912"/>
            <a:ext cx="4206240" cy="228600"/>
          </a:xfrm>
          <a:prstGeom prst="rect">
            <a:avLst/>
          </a:prstGeom>
          <a:noFill/>
          <a:ln/>
        </p:spPr>
        <p:txBody>
          <a:bodyPr wrap="square" lIns="0" tIns="0" rIns="0" bIns="0" rtlCol="0" anchor="ctr"/>
          <a:lstStyle/>
          <a:p>
            <a:pPr indent="0" marL="0">
              <a:buNone/>
            </a:pPr>
            <a:r>
              <a:rPr lang="en-US" sz="950" b="1" spc="200" kern="0" dirty="0">
                <a:solidFill>
                  <a:srgbClr val="6B7278"/>
                </a:solidFill>
                <a:latin typeface="Calibri" pitchFamily="34" charset="0"/>
                <a:ea typeface="Calibri" pitchFamily="34" charset="-122"/>
                <a:cs typeface="Calibri" pitchFamily="34" charset="-120"/>
              </a:rPr>
              <a:t>LOCATION</a:t>
            </a:r>
            <a:endParaRPr lang="en-US" sz="950" dirty="0"/>
          </a:p>
        </p:txBody>
      </p:sp>
      <p:sp>
        <p:nvSpPr>
          <p:cNvPr id="9" name="Text 6"/>
          <p:cNvSpPr txBox="1"/>
          <p:nvPr/>
        </p:nvSpPr>
        <p:spPr>
          <a:xfrm>
            <a:off x="7498080" y="4096512"/>
            <a:ext cx="4206240" cy="320040"/>
          </a:xfrm>
          <a:prstGeom prst="rect">
            <a:avLst/>
          </a:prstGeom>
          <a:noFill/>
          <a:ln/>
        </p:spPr>
        <p:txBody>
          <a:bodyPr wrap="square" lIns="0" tIns="0" rIns="0" bIns="0" rtlCol="0" anchor="ctr"/>
          <a:lstStyle/>
          <a:p>
            <a:pPr indent="0" marL="0">
              <a:buNone/>
            </a:pPr>
            <a:r>
              <a:rPr lang="en-US" sz="1500" dirty="0">
                <a:solidFill>
                  <a:srgbClr val="1A1D21"/>
                </a:solidFill>
                <a:latin typeface="Calibri" pitchFamily="34" charset="0"/>
                <a:ea typeface="Calibri" pitchFamily="34" charset="-122"/>
                <a:cs typeface="Calibri" pitchFamily="34" charset="-120"/>
              </a:rPr>
              <a:t>Kala-Amb, Himachal Pradesh</a:t>
            </a:r>
            <a:endParaRPr lang="en-US" sz="1500" dirty="0"/>
          </a:p>
        </p:txBody>
      </p:sp>
      <p:sp>
        <p:nvSpPr>
          <p:cNvPr id="10" name="Text 7"/>
          <p:cNvSpPr txBox="1"/>
          <p:nvPr/>
        </p:nvSpPr>
        <p:spPr>
          <a:xfrm>
            <a:off x="7498080" y="4581144"/>
            <a:ext cx="4206240" cy="228600"/>
          </a:xfrm>
          <a:prstGeom prst="rect">
            <a:avLst/>
          </a:prstGeom>
          <a:noFill/>
          <a:ln/>
        </p:spPr>
        <p:txBody>
          <a:bodyPr wrap="square" lIns="0" tIns="0" rIns="0" bIns="0" rtlCol="0" anchor="ctr"/>
          <a:lstStyle/>
          <a:p>
            <a:pPr indent="0" marL="0">
              <a:buNone/>
            </a:pPr>
            <a:r>
              <a:rPr lang="en-US" sz="950" b="1" spc="200" kern="0" dirty="0">
                <a:solidFill>
                  <a:srgbClr val="6B7278"/>
                </a:solidFill>
                <a:latin typeface="Calibri" pitchFamily="34" charset="0"/>
                <a:ea typeface="Calibri" pitchFamily="34" charset="-122"/>
                <a:cs typeface="Calibri" pitchFamily="34" charset="-120"/>
              </a:rPr>
              <a:t>PLANT</a:t>
            </a:r>
            <a:endParaRPr lang="en-US" sz="950" dirty="0"/>
          </a:p>
        </p:txBody>
      </p:sp>
      <p:sp>
        <p:nvSpPr>
          <p:cNvPr id="11" name="Text 8"/>
          <p:cNvSpPr txBox="1"/>
          <p:nvPr/>
        </p:nvSpPr>
        <p:spPr>
          <a:xfrm>
            <a:off x="7498080" y="4809744"/>
            <a:ext cx="4206240" cy="320040"/>
          </a:xfrm>
          <a:prstGeom prst="rect">
            <a:avLst/>
          </a:prstGeom>
          <a:noFill/>
          <a:ln/>
        </p:spPr>
        <p:txBody>
          <a:bodyPr wrap="square" lIns="0" tIns="0" rIns="0" bIns="0" rtlCol="0" anchor="ctr"/>
          <a:lstStyle/>
          <a:p>
            <a:pPr indent="0" marL="0">
              <a:buNone/>
            </a:pPr>
            <a:r>
              <a:rPr lang="en-US" sz="1500" dirty="0">
                <a:solidFill>
                  <a:srgbClr val="1A1D21"/>
                </a:solidFill>
                <a:latin typeface="Calibri" pitchFamily="34" charset="0"/>
                <a:ea typeface="Calibri" pitchFamily="34" charset="-122"/>
                <a:cs typeface="Calibri" pitchFamily="34" charset="-120"/>
              </a:rPr>
              <a:t>Oral care: toothpaste, toothbrushes, mouthwash</a:t>
            </a:r>
            <a:endParaRPr lang="en-US" sz="1500" dirty="0"/>
          </a:p>
        </p:txBody>
      </p:sp>
      <p:sp>
        <p:nvSpPr>
          <p:cNvPr id="12" name="Text 9"/>
          <p:cNvSpPr txBox="1"/>
          <p:nvPr/>
        </p:nvSpPr>
        <p:spPr>
          <a:xfrm>
            <a:off x="7498080" y="5294376"/>
            <a:ext cx="4206240" cy="228600"/>
          </a:xfrm>
          <a:prstGeom prst="rect">
            <a:avLst/>
          </a:prstGeom>
          <a:noFill/>
          <a:ln/>
        </p:spPr>
        <p:txBody>
          <a:bodyPr wrap="square" lIns="0" tIns="0" rIns="0" bIns="0" rtlCol="0" anchor="ctr"/>
          <a:lstStyle/>
          <a:p>
            <a:pPr indent="0" marL="0">
              <a:buNone/>
            </a:pPr>
            <a:r>
              <a:rPr lang="en-US" sz="950" b="1" spc="200" kern="0" dirty="0">
                <a:solidFill>
                  <a:srgbClr val="6B7278"/>
                </a:solidFill>
                <a:latin typeface="Calibri" pitchFamily="34" charset="0"/>
                <a:ea typeface="Calibri" pitchFamily="34" charset="-122"/>
                <a:cs typeface="Calibri" pitchFamily="34" charset="-120"/>
              </a:rPr>
              <a:t>DURATION</a:t>
            </a:r>
            <a:endParaRPr lang="en-US" sz="950" dirty="0"/>
          </a:p>
        </p:txBody>
      </p:sp>
      <p:sp>
        <p:nvSpPr>
          <p:cNvPr id="13" name="Text 10"/>
          <p:cNvSpPr txBox="1"/>
          <p:nvPr/>
        </p:nvSpPr>
        <p:spPr>
          <a:xfrm>
            <a:off x="7498080" y="5522976"/>
            <a:ext cx="4206240" cy="320040"/>
          </a:xfrm>
          <a:prstGeom prst="rect">
            <a:avLst/>
          </a:prstGeom>
          <a:noFill/>
          <a:ln/>
        </p:spPr>
        <p:txBody>
          <a:bodyPr wrap="square" lIns="0" tIns="0" rIns="0" bIns="0" rtlCol="0" anchor="ctr"/>
          <a:lstStyle/>
          <a:p>
            <a:pPr indent="0" marL="0">
              <a:buNone/>
            </a:pPr>
            <a:r>
              <a:rPr lang="en-US" sz="1500" dirty="0">
                <a:solidFill>
                  <a:srgbClr val="1A1D21"/>
                </a:solidFill>
                <a:latin typeface="Calibri" pitchFamily="34" charset="0"/>
                <a:ea typeface="Calibri" pitchFamily="34" charset="-122"/>
                <a:cs typeface="Calibri" pitchFamily="34" charset="-120"/>
              </a:rPr>
              <a:t>Seven weeks, 1 June – 17 July 2026</a:t>
            </a:r>
            <a:endParaRPr lang="en-US" sz="1500" dirty="0"/>
          </a:p>
        </p:txBody>
      </p:sp>
      <p:sp>
        <p:nvSpPr>
          <p:cNvPr id="14" name="Text 11"/>
          <p:cNvSpPr txBox="1"/>
          <p:nvPr/>
        </p:nvSpPr>
        <p:spPr>
          <a:xfrm>
            <a:off x="274320" y="6446520"/>
            <a:ext cx="3657600" cy="228600"/>
          </a:xfrm>
          <a:prstGeom prst="rect">
            <a:avLst/>
          </a:prstGeom>
          <a:noFill/>
          <a:ln/>
        </p:spPr>
        <p:txBody>
          <a:bodyPr wrap="square" lIns="0" tIns="0" rIns="0" bIns="0" rtlCol="0" anchor="ctr"/>
          <a:lstStyle/>
          <a:p>
            <a:pPr indent="0" marL="0">
              <a:buNone/>
            </a:pPr>
            <a:r>
              <a:rPr lang="en-US" sz="900" dirty="0">
                <a:solidFill>
                  <a:srgbClr val="FFFFFF"/>
                </a:solidFill>
                <a:latin typeface="Calibri" pitchFamily="34" charset="0"/>
                <a:ea typeface="Calibri" pitchFamily="34" charset="-122"/>
                <a:cs typeface="Calibri" pitchFamily="34" charset="-120"/>
              </a:rPr>
              <a:t>JHS Kala-Amb facility</a:t>
            </a:r>
            <a:endParaRPr lang="en-US" sz="900" dirty="0"/>
          </a:p>
        </p:txBody>
      </p:sp>
      <p:sp>
        <p:nvSpPr>
          <p:cNvPr id="16" name="Text 12"/>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03</a:t>
            </a:r>
            <a:pPr indent="0" marL="0">
              <a:buNone/>
            </a:pPr>
            <a:r>
              <a:rPr lang="en-US" sz="1050" spc="300" kern="0" dirty="0">
                <a:solidFill>
                  <a:srgbClr val="6B7278"/>
                </a:solidFill>
                <a:latin typeface="Calibri" pitchFamily="34" charset="0"/>
                <a:ea typeface="Calibri" pitchFamily="34" charset="-122"/>
                <a:cs typeface="Calibri" pitchFamily="34" charset="-120"/>
              </a:rPr>
              <a:t>   ENTER THE PLANT</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indent="0" marL="0">
              <a:buNone/>
            </a:pPr>
            <a:r>
              <a:rPr lang="en-US" sz="3200" dirty="0">
                <a:solidFill>
                  <a:srgbClr val="1A1D21"/>
                </a:solidFill>
                <a:latin typeface="Cambria" pitchFamily="34" charset="0"/>
                <a:ea typeface="Cambria" pitchFamily="34" charset="-122"/>
                <a:cs typeface="Cambria" pitchFamily="34" charset="-120"/>
              </a:rPr>
              <a:t>How does material move through the plant?</a:t>
            </a:r>
            <a:endParaRPr lang="en-US" sz="3200" dirty="0"/>
          </a:p>
        </p:txBody>
      </p:sp>
      <p:sp>
        <p:nvSpPr>
          <p:cNvPr id="4" name="Text 2"/>
          <p:cNvSpPr txBox="1"/>
          <p:nvPr/>
        </p:nvSpPr>
        <p:spPr>
          <a:xfrm>
            <a:off x="548640" y="1417320"/>
            <a:ext cx="10972800" cy="411480"/>
          </a:xfrm>
          <a:prstGeom prst="rect">
            <a:avLst/>
          </a:prstGeom>
          <a:noFill/>
          <a:ln/>
        </p:spPr>
        <p:txBody>
          <a:bodyPr wrap="square" lIns="0" tIns="0" rIns="0" bIns="0" rtlCol="0" anchor="ctr"/>
          <a:lstStyle/>
          <a:p>
            <a:pPr indent="0" marL="0">
              <a:buNone/>
            </a:pPr>
            <a:r>
              <a:rPr lang="en-US" sz="1700" dirty="0">
                <a:solidFill>
                  <a:srgbClr val="3E4750"/>
                </a:solidFill>
                <a:latin typeface="Calibri" pitchFamily="34" charset="0"/>
                <a:ea typeface="Calibri" pitchFamily="34" charset="-122"/>
                <a:cs typeface="Calibri" pitchFamily="34" charset="-120"/>
              </a:rPr>
              <a:t>Every physical movement of material created a record.</a:t>
            </a:r>
            <a:endParaRPr lang="en-US" sz="1700" dirty="0"/>
          </a:p>
        </p:txBody>
      </p:sp>
      <p:sp>
        <p:nvSpPr>
          <p:cNvPr id="5" name="Shape 3"/>
          <p:cNvSpPr/>
          <p:nvPr/>
        </p:nvSpPr>
        <p:spPr>
          <a:xfrm>
            <a:off x="914400" y="2788920"/>
            <a:ext cx="9464040" cy="0"/>
          </a:xfrm>
          <a:prstGeom prst="line">
            <a:avLst/>
          </a:prstGeom>
          <a:noFill/>
          <a:ln w="25400">
            <a:solidFill>
              <a:srgbClr val="B9BEC2"/>
            </a:solidFill>
            <a:prstDash val="solid"/>
          </a:ln>
        </p:spPr>
      </p:sp>
      <p:sp>
        <p:nvSpPr>
          <p:cNvPr id="6" name="Shape 4"/>
          <p:cNvSpPr/>
          <p:nvPr/>
        </p:nvSpPr>
        <p:spPr>
          <a:xfrm>
            <a:off x="685800" y="2560320"/>
            <a:ext cx="457200" cy="457200"/>
          </a:xfrm>
          <a:prstGeom prst="ellipse">
            <a:avLst/>
          </a:prstGeom>
          <a:solidFill>
            <a:srgbClr val="121518"/>
          </a:solidFill>
          <a:ln w="25400">
            <a:solidFill>
              <a:srgbClr val="FFFFFF"/>
            </a:solidFill>
            <a:prstDash val="solid"/>
          </a:ln>
        </p:spPr>
      </p:sp>
      <p:sp>
        <p:nvSpPr>
          <p:cNvPr id="7" name="Text 5"/>
          <p:cNvSpPr txBox="1"/>
          <p:nvPr/>
        </p:nvSpPr>
        <p:spPr>
          <a:xfrm>
            <a:off x="685800" y="25603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594360" y="2057400"/>
            <a:ext cx="1783080" cy="365760"/>
          </a:xfrm>
          <a:prstGeom prst="rect">
            <a:avLst/>
          </a:prstGeom>
          <a:noFill/>
          <a:ln/>
        </p:spPr>
        <p:txBody>
          <a:bodyPr wrap="square" lIns="0" tIns="0" rIns="0" bIns="0" rtlCol="0" anchor="ctr"/>
          <a:lstStyle/>
          <a:p>
            <a:pPr indent="0" marL="0">
              <a:buNone/>
            </a:pPr>
            <a:r>
              <a:rPr lang="en-US" sz="1800" dirty="0">
                <a:solidFill>
                  <a:srgbClr val="1A1D21"/>
                </a:solidFill>
                <a:latin typeface="Cambria" pitchFamily="34" charset="0"/>
                <a:ea typeface="Cambria" pitchFamily="34" charset="-122"/>
                <a:cs typeface="Cambria" pitchFamily="34" charset="-120"/>
              </a:rPr>
              <a:t>Planning</a:t>
            </a:r>
            <a:endParaRPr lang="en-US" sz="1800" dirty="0"/>
          </a:p>
        </p:txBody>
      </p:sp>
      <p:sp>
        <p:nvSpPr>
          <p:cNvPr id="9" name="Shape 7"/>
          <p:cNvSpPr/>
          <p:nvPr/>
        </p:nvSpPr>
        <p:spPr>
          <a:xfrm>
            <a:off x="594360" y="3337560"/>
            <a:ext cx="1691640" cy="1417320"/>
          </a:xfrm>
          <a:prstGeom prst="rect">
            <a:avLst/>
          </a:prstGeom>
          <a:solidFill>
            <a:srgbClr val="F4F4F1"/>
          </a:solidFill>
          <a:ln/>
        </p:spPr>
      </p:sp>
      <p:sp>
        <p:nvSpPr>
          <p:cNvPr id="10" name="Text 8"/>
          <p:cNvSpPr txBox="1"/>
          <p:nvPr/>
        </p:nvSpPr>
        <p:spPr>
          <a:xfrm>
            <a:off x="704088" y="3429000"/>
            <a:ext cx="1463040" cy="201168"/>
          </a:xfrm>
          <a:prstGeom prst="rect">
            <a:avLst/>
          </a:prstGeom>
          <a:noFill/>
          <a:ln/>
        </p:spPr>
        <p:txBody>
          <a:bodyPr wrap="square" lIns="0" tIns="0" rIns="0" bIns="0" rtlCol="0" anchor="ctr"/>
          <a:lstStyle/>
          <a:p>
            <a:pPr indent="0" marL="0">
              <a:buNone/>
            </a:pPr>
            <a:r>
              <a:rPr lang="en-US" sz="850" b="1" spc="200" kern="0" dirty="0">
                <a:solidFill>
                  <a:srgbClr val="E0561F"/>
                </a:solidFill>
                <a:latin typeface="Calibri" pitchFamily="34" charset="0"/>
                <a:ea typeface="Calibri" pitchFamily="34" charset="-122"/>
                <a:cs typeface="Calibri" pitchFamily="34" charset="-120"/>
              </a:rPr>
              <a:t>RECORD</a:t>
            </a:r>
            <a:endParaRPr lang="en-US" sz="850" dirty="0"/>
          </a:p>
        </p:txBody>
      </p:sp>
      <p:sp>
        <p:nvSpPr>
          <p:cNvPr id="11" name="Text 9"/>
          <p:cNvSpPr txBox="1"/>
          <p:nvPr/>
        </p:nvSpPr>
        <p:spPr>
          <a:xfrm>
            <a:off x="704088" y="3657600"/>
            <a:ext cx="1481328" cy="1005840"/>
          </a:xfrm>
          <a:prstGeom prst="rect">
            <a:avLst/>
          </a:prstGeom>
          <a:noFill/>
          <a:ln/>
        </p:spPr>
        <p:txBody>
          <a:bodyPr wrap="square" lIns="0" tIns="0" rIns="0" bIns="0" rtlCol="0" anchor="t"/>
          <a:lstStyle/>
          <a:p>
            <a:pPr indent="0" marL="0">
              <a:buNone/>
            </a:pPr>
            <a:r>
              <a:rPr lang="en-US" sz="1250" b="1" dirty="0">
                <a:solidFill>
                  <a:srgbClr val="1A1D21"/>
                </a:solidFill>
                <a:latin typeface="Calibri" pitchFamily="34" charset="0"/>
                <a:ea typeface="Calibri" pitchFamily="34" charset="-122"/>
                <a:cs typeface="Calibri" pitchFamily="34" charset="-120"/>
              </a:rPr>
              <a:t>Production plan</a:t>
            </a:r>
            <a:endParaRPr lang="en-US" sz="1250" dirty="0"/>
          </a:p>
          <a:p>
            <a:pPr indent="0" marL="0">
              <a:buNone/>
            </a:pPr>
            <a:r>
              <a:rPr lang="en-US" sz="1100" dirty="0">
                <a:solidFill>
                  <a:srgbClr val="6B7278"/>
                </a:solidFill>
                <a:latin typeface="Calibri" pitchFamily="34" charset="0"/>
                <a:ea typeface="Calibri" pitchFamily="34" charset="-122"/>
                <a:cs typeface="Calibri" pitchFamily="34" charset="-120"/>
              </a:rPr>
              <a:t>What to make, how much, on which line</a:t>
            </a:r>
            <a:endParaRPr lang="en-US" sz="1250" dirty="0"/>
          </a:p>
        </p:txBody>
      </p:sp>
      <p:sp>
        <p:nvSpPr>
          <p:cNvPr id="12" name="Shape 10"/>
          <p:cNvSpPr/>
          <p:nvPr/>
        </p:nvSpPr>
        <p:spPr>
          <a:xfrm>
            <a:off x="2578608" y="2560320"/>
            <a:ext cx="457200" cy="457200"/>
          </a:xfrm>
          <a:prstGeom prst="ellipse">
            <a:avLst/>
          </a:prstGeom>
          <a:solidFill>
            <a:srgbClr val="121518"/>
          </a:solidFill>
          <a:ln w="25400">
            <a:solidFill>
              <a:srgbClr val="FFFFFF"/>
            </a:solidFill>
            <a:prstDash val="solid"/>
          </a:ln>
        </p:spPr>
      </p:sp>
      <p:sp>
        <p:nvSpPr>
          <p:cNvPr id="13" name="Text 11"/>
          <p:cNvSpPr txBox="1"/>
          <p:nvPr/>
        </p:nvSpPr>
        <p:spPr>
          <a:xfrm>
            <a:off x="2578608" y="25603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2487168" y="2057400"/>
            <a:ext cx="1783080" cy="365760"/>
          </a:xfrm>
          <a:prstGeom prst="rect">
            <a:avLst/>
          </a:prstGeom>
          <a:noFill/>
          <a:ln/>
        </p:spPr>
        <p:txBody>
          <a:bodyPr wrap="square" lIns="0" tIns="0" rIns="0" bIns="0" rtlCol="0" anchor="ctr"/>
          <a:lstStyle/>
          <a:p>
            <a:pPr indent="0" marL="0">
              <a:buNone/>
            </a:pPr>
            <a:r>
              <a:rPr lang="en-US" sz="1800" dirty="0">
                <a:solidFill>
                  <a:srgbClr val="1A1D21"/>
                </a:solidFill>
                <a:latin typeface="Cambria" pitchFamily="34" charset="0"/>
                <a:ea typeface="Cambria" pitchFamily="34" charset="-122"/>
                <a:cs typeface="Cambria" pitchFamily="34" charset="-120"/>
              </a:rPr>
              <a:t>Warehouse</a:t>
            </a:r>
            <a:endParaRPr lang="en-US" sz="1800" dirty="0"/>
          </a:p>
        </p:txBody>
      </p:sp>
      <p:sp>
        <p:nvSpPr>
          <p:cNvPr id="15" name="Shape 13"/>
          <p:cNvSpPr/>
          <p:nvPr/>
        </p:nvSpPr>
        <p:spPr>
          <a:xfrm>
            <a:off x="2487168" y="3337560"/>
            <a:ext cx="1691640" cy="1417320"/>
          </a:xfrm>
          <a:prstGeom prst="rect">
            <a:avLst/>
          </a:prstGeom>
          <a:solidFill>
            <a:srgbClr val="F4F4F1"/>
          </a:solidFill>
          <a:ln/>
        </p:spPr>
      </p:sp>
      <p:sp>
        <p:nvSpPr>
          <p:cNvPr id="16" name="Text 14"/>
          <p:cNvSpPr txBox="1"/>
          <p:nvPr/>
        </p:nvSpPr>
        <p:spPr>
          <a:xfrm>
            <a:off x="2596896" y="3429000"/>
            <a:ext cx="1463040" cy="201168"/>
          </a:xfrm>
          <a:prstGeom prst="rect">
            <a:avLst/>
          </a:prstGeom>
          <a:noFill/>
          <a:ln/>
        </p:spPr>
        <p:txBody>
          <a:bodyPr wrap="square" lIns="0" tIns="0" rIns="0" bIns="0" rtlCol="0" anchor="ctr"/>
          <a:lstStyle/>
          <a:p>
            <a:pPr indent="0" marL="0">
              <a:buNone/>
            </a:pPr>
            <a:r>
              <a:rPr lang="en-US" sz="850" b="1" spc="200" kern="0" dirty="0">
                <a:solidFill>
                  <a:srgbClr val="E0561F"/>
                </a:solidFill>
                <a:latin typeface="Calibri" pitchFamily="34" charset="0"/>
                <a:ea typeface="Calibri" pitchFamily="34" charset="-122"/>
                <a:cs typeface="Calibri" pitchFamily="34" charset="-120"/>
              </a:rPr>
              <a:t>RECORD</a:t>
            </a:r>
            <a:endParaRPr lang="en-US" sz="850" dirty="0"/>
          </a:p>
        </p:txBody>
      </p:sp>
      <p:sp>
        <p:nvSpPr>
          <p:cNvPr id="17" name="Text 15"/>
          <p:cNvSpPr txBox="1"/>
          <p:nvPr/>
        </p:nvSpPr>
        <p:spPr>
          <a:xfrm>
            <a:off x="2596896" y="3657600"/>
            <a:ext cx="1481328" cy="1005840"/>
          </a:xfrm>
          <a:prstGeom prst="rect">
            <a:avLst/>
          </a:prstGeom>
          <a:noFill/>
          <a:ln/>
        </p:spPr>
        <p:txBody>
          <a:bodyPr wrap="square" lIns="0" tIns="0" rIns="0" bIns="0" rtlCol="0" anchor="t"/>
          <a:lstStyle/>
          <a:p>
            <a:pPr indent="0" marL="0">
              <a:buNone/>
            </a:pPr>
            <a:r>
              <a:rPr lang="en-US" sz="1250" b="1" dirty="0">
                <a:solidFill>
                  <a:srgbClr val="1A1D21"/>
                </a:solidFill>
                <a:latin typeface="Calibri" pitchFamily="34" charset="0"/>
                <a:ea typeface="Calibri" pitchFamily="34" charset="-122"/>
                <a:cs typeface="Calibri" pitchFamily="34" charset="-120"/>
              </a:rPr>
              <a:t>Material receipt &amp; issue</a:t>
            </a:r>
            <a:endParaRPr lang="en-US" sz="1250" dirty="0"/>
          </a:p>
          <a:p>
            <a:pPr indent="0" marL="0">
              <a:buNone/>
            </a:pPr>
            <a:r>
              <a:rPr lang="en-US" sz="1100" dirty="0">
                <a:solidFill>
                  <a:srgbClr val="6B7278"/>
                </a:solidFill>
                <a:latin typeface="Calibri" pitchFamily="34" charset="0"/>
                <a:ea typeface="Calibri" pitchFamily="34" charset="-122"/>
                <a:cs typeface="Calibri" pitchFamily="34" charset="-120"/>
              </a:rPr>
              <a:t>Which lots went to the floor</a:t>
            </a:r>
            <a:endParaRPr lang="en-US" sz="1250" dirty="0"/>
          </a:p>
        </p:txBody>
      </p:sp>
      <p:sp>
        <p:nvSpPr>
          <p:cNvPr id="18" name="Shape 16"/>
          <p:cNvSpPr/>
          <p:nvPr/>
        </p:nvSpPr>
        <p:spPr>
          <a:xfrm>
            <a:off x="4471416" y="2560320"/>
            <a:ext cx="457200" cy="457200"/>
          </a:xfrm>
          <a:prstGeom prst="ellipse">
            <a:avLst/>
          </a:prstGeom>
          <a:solidFill>
            <a:srgbClr val="E0561F"/>
          </a:solidFill>
          <a:ln w="25400">
            <a:solidFill>
              <a:srgbClr val="FFFFFF"/>
            </a:solidFill>
            <a:prstDash val="solid"/>
          </a:ln>
        </p:spPr>
      </p:sp>
      <p:sp>
        <p:nvSpPr>
          <p:cNvPr id="19" name="Text 17"/>
          <p:cNvSpPr txBox="1"/>
          <p:nvPr/>
        </p:nvSpPr>
        <p:spPr>
          <a:xfrm>
            <a:off x="4471416" y="25603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4379976" y="2057400"/>
            <a:ext cx="1783080" cy="365760"/>
          </a:xfrm>
          <a:prstGeom prst="rect">
            <a:avLst/>
          </a:prstGeom>
          <a:noFill/>
          <a:ln/>
        </p:spPr>
        <p:txBody>
          <a:bodyPr wrap="square" lIns="0" tIns="0" rIns="0" bIns="0" rtlCol="0" anchor="ctr"/>
          <a:lstStyle/>
          <a:p>
            <a:pPr indent="0" marL="0">
              <a:buNone/>
            </a:pPr>
            <a:r>
              <a:rPr lang="en-US" sz="1800" dirty="0">
                <a:solidFill>
                  <a:srgbClr val="1A1D21"/>
                </a:solidFill>
                <a:latin typeface="Cambria" pitchFamily="34" charset="0"/>
                <a:ea typeface="Cambria" pitchFamily="34" charset="-122"/>
                <a:cs typeface="Cambria" pitchFamily="34" charset="-120"/>
              </a:rPr>
              <a:t>Production</a:t>
            </a:r>
            <a:endParaRPr lang="en-US" sz="1800" dirty="0"/>
          </a:p>
        </p:txBody>
      </p:sp>
      <p:sp>
        <p:nvSpPr>
          <p:cNvPr id="21" name="Shape 19"/>
          <p:cNvSpPr/>
          <p:nvPr/>
        </p:nvSpPr>
        <p:spPr>
          <a:xfrm>
            <a:off x="4379976" y="3337560"/>
            <a:ext cx="1691640" cy="1417320"/>
          </a:xfrm>
          <a:prstGeom prst="rect">
            <a:avLst/>
          </a:prstGeom>
          <a:solidFill>
            <a:srgbClr val="F4F4F1"/>
          </a:solidFill>
          <a:ln/>
        </p:spPr>
      </p:sp>
      <p:sp>
        <p:nvSpPr>
          <p:cNvPr id="22" name="Text 20"/>
          <p:cNvSpPr txBox="1"/>
          <p:nvPr/>
        </p:nvSpPr>
        <p:spPr>
          <a:xfrm>
            <a:off x="4489704" y="3429000"/>
            <a:ext cx="1463040" cy="201168"/>
          </a:xfrm>
          <a:prstGeom prst="rect">
            <a:avLst/>
          </a:prstGeom>
          <a:noFill/>
          <a:ln/>
        </p:spPr>
        <p:txBody>
          <a:bodyPr wrap="square" lIns="0" tIns="0" rIns="0" bIns="0" rtlCol="0" anchor="ctr"/>
          <a:lstStyle/>
          <a:p>
            <a:pPr indent="0" marL="0">
              <a:buNone/>
            </a:pPr>
            <a:r>
              <a:rPr lang="en-US" sz="850" b="1" spc="200" kern="0" dirty="0">
                <a:solidFill>
                  <a:srgbClr val="E0561F"/>
                </a:solidFill>
                <a:latin typeface="Calibri" pitchFamily="34" charset="0"/>
                <a:ea typeface="Calibri" pitchFamily="34" charset="-122"/>
                <a:cs typeface="Calibri" pitchFamily="34" charset="-120"/>
              </a:rPr>
              <a:t>RECORD</a:t>
            </a:r>
            <a:endParaRPr lang="en-US" sz="850" dirty="0"/>
          </a:p>
        </p:txBody>
      </p:sp>
      <p:sp>
        <p:nvSpPr>
          <p:cNvPr id="23" name="Text 21"/>
          <p:cNvSpPr txBox="1"/>
          <p:nvPr/>
        </p:nvSpPr>
        <p:spPr>
          <a:xfrm>
            <a:off x="4489704" y="3657600"/>
            <a:ext cx="1481328" cy="1005840"/>
          </a:xfrm>
          <a:prstGeom prst="rect">
            <a:avLst/>
          </a:prstGeom>
          <a:noFill/>
          <a:ln/>
        </p:spPr>
        <p:txBody>
          <a:bodyPr wrap="square" lIns="0" tIns="0" rIns="0" bIns="0" rtlCol="0" anchor="t"/>
          <a:lstStyle/>
          <a:p>
            <a:pPr indent="0" marL="0">
              <a:buNone/>
            </a:pPr>
            <a:r>
              <a:rPr lang="en-US" sz="1250" b="1" dirty="0">
                <a:solidFill>
                  <a:srgbClr val="1A1D21"/>
                </a:solidFill>
                <a:latin typeface="Calibri" pitchFamily="34" charset="0"/>
                <a:ea typeface="Calibri" pitchFamily="34" charset="-122"/>
                <a:cs typeface="Calibri" pitchFamily="34" charset="-120"/>
              </a:rPr>
              <a:t>Production log</a:t>
            </a:r>
            <a:endParaRPr lang="en-US" sz="1250" dirty="0"/>
          </a:p>
          <a:p>
            <a:pPr indent="0" marL="0">
              <a:buNone/>
            </a:pPr>
            <a:r>
              <a:rPr lang="en-US" sz="1100" dirty="0">
                <a:solidFill>
                  <a:srgbClr val="6B7278"/>
                </a:solidFill>
                <a:latin typeface="Calibri" pitchFamily="34" charset="0"/>
                <a:ea typeface="Calibri" pitchFamily="34" charset="-122"/>
                <a:cs typeface="Calibri" pitchFamily="34" charset="-120"/>
              </a:rPr>
              <a:t>Output, shift, machine, run time</a:t>
            </a:r>
            <a:endParaRPr lang="en-US" sz="1250" dirty="0"/>
          </a:p>
        </p:txBody>
      </p:sp>
      <p:sp>
        <p:nvSpPr>
          <p:cNvPr id="24" name="Shape 22"/>
          <p:cNvSpPr/>
          <p:nvPr/>
        </p:nvSpPr>
        <p:spPr>
          <a:xfrm>
            <a:off x="6364224" y="2560320"/>
            <a:ext cx="457200" cy="457200"/>
          </a:xfrm>
          <a:prstGeom prst="ellipse">
            <a:avLst/>
          </a:prstGeom>
          <a:solidFill>
            <a:srgbClr val="121518"/>
          </a:solidFill>
          <a:ln w="25400">
            <a:solidFill>
              <a:srgbClr val="FFFFFF"/>
            </a:solidFill>
            <a:prstDash val="solid"/>
          </a:ln>
        </p:spPr>
      </p:sp>
      <p:sp>
        <p:nvSpPr>
          <p:cNvPr id="25" name="Text 23"/>
          <p:cNvSpPr txBox="1"/>
          <p:nvPr/>
        </p:nvSpPr>
        <p:spPr>
          <a:xfrm>
            <a:off x="6364224" y="25603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6272784" y="2057400"/>
            <a:ext cx="1783080" cy="365760"/>
          </a:xfrm>
          <a:prstGeom prst="rect">
            <a:avLst/>
          </a:prstGeom>
          <a:noFill/>
          <a:ln/>
        </p:spPr>
        <p:txBody>
          <a:bodyPr wrap="square" lIns="0" tIns="0" rIns="0" bIns="0" rtlCol="0" anchor="ctr"/>
          <a:lstStyle/>
          <a:p>
            <a:pPr indent="0" marL="0">
              <a:buNone/>
            </a:pPr>
            <a:r>
              <a:rPr lang="en-US" sz="1800" dirty="0">
                <a:solidFill>
                  <a:srgbClr val="1A1D21"/>
                </a:solidFill>
                <a:latin typeface="Cambria" pitchFamily="34" charset="0"/>
                <a:ea typeface="Cambria" pitchFamily="34" charset="-122"/>
                <a:cs typeface="Cambria" pitchFamily="34" charset="-120"/>
              </a:rPr>
              <a:t>QC / QA</a:t>
            </a:r>
            <a:endParaRPr lang="en-US" sz="1800" dirty="0"/>
          </a:p>
        </p:txBody>
      </p:sp>
      <p:sp>
        <p:nvSpPr>
          <p:cNvPr id="27" name="Shape 25"/>
          <p:cNvSpPr/>
          <p:nvPr/>
        </p:nvSpPr>
        <p:spPr>
          <a:xfrm>
            <a:off x="6272784" y="3337560"/>
            <a:ext cx="1691640" cy="1417320"/>
          </a:xfrm>
          <a:prstGeom prst="rect">
            <a:avLst/>
          </a:prstGeom>
          <a:solidFill>
            <a:srgbClr val="F4F4F1"/>
          </a:solidFill>
          <a:ln/>
        </p:spPr>
      </p:sp>
      <p:sp>
        <p:nvSpPr>
          <p:cNvPr id="28" name="Text 26"/>
          <p:cNvSpPr txBox="1"/>
          <p:nvPr/>
        </p:nvSpPr>
        <p:spPr>
          <a:xfrm>
            <a:off x="6382512" y="3429000"/>
            <a:ext cx="1463040" cy="201168"/>
          </a:xfrm>
          <a:prstGeom prst="rect">
            <a:avLst/>
          </a:prstGeom>
          <a:noFill/>
          <a:ln/>
        </p:spPr>
        <p:txBody>
          <a:bodyPr wrap="square" lIns="0" tIns="0" rIns="0" bIns="0" rtlCol="0" anchor="ctr"/>
          <a:lstStyle/>
          <a:p>
            <a:pPr indent="0" marL="0">
              <a:buNone/>
            </a:pPr>
            <a:r>
              <a:rPr lang="en-US" sz="850" b="1" spc="200" kern="0" dirty="0">
                <a:solidFill>
                  <a:srgbClr val="E0561F"/>
                </a:solidFill>
                <a:latin typeface="Calibri" pitchFamily="34" charset="0"/>
                <a:ea typeface="Calibri" pitchFamily="34" charset="-122"/>
                <a:cs typeface="Calibri" pitchFamily="34" charset="-120"/>
              </a:rPr>
              <a:t>RECORD</a:t>
            </a:r>
            <a:endParaRPr lang="en-US" sz="850" dirty="0"/>
          </a:p>
        </p:txBody>
      </p:sp>
      <p:sp>
        <p:nvSpPr>
          <p:cNvPr id="29" name="Text 27"/>
          <p:cNvSpPr txBox="1"/>
          <p:nvPr/>
        </p:nvSpPr>
        <p:spPr>
          <a:xfrm>
            <a:off x="6382512" y="3657600"/>
            <a:ext cx="1481328" cy="1005840"/>
          </a:xfrm>
          <a:prstGeom prst="rect">
            <a:avLst/>
          </a:prstGeom>
          <a:noFill/>
          <a:ln/>
        </p:spPr>
        <p:txBody>
          <a:bodyPr wrap="square" lIns="0" tIns="0" rIns="0" bIns="0" rtlCol="0" anchor="t"/>
          <a:lstStyle/>
          <a:p>
            <a:pPr indent="0" marL="0">
              <a:buNone/>
            </a:pPr>
            <a:r>
              <a:rPr lang="en-US" sz="1250" b="1" dirty="0">
                <a:solidFill>
                  <a:srgbClr val="1A1D21"/>
                </a:solidFill>
                <a:latin typeface="Calibri" pitchFamily="34" charset="0"/>
                <a:ea typeface="Calibri" pitchFamily="34" charset="-122"/>
                <a:cs typeface="Calibri" pitchFamily="34" charset="-120"/>
              </a:rPr>
              <a:t>Inspection record</a:t>
            </a:r>
            <a:endParaRPr lang="en-US" sz="1250" dirty="0"/>
          </a:p>
          <a:p>
            <a:pPr indent="0" marL="0">
              <a:buNone/>
            </a:pPr>
            <a:r>
              <a:rPr lang="en-US" sz="1100" dirty="0">
                <a:solidFill>
                  <a:srgbClr val="6B7278"/>
                </a:solidFill>
                <a:latin typeface="Calibri" pitchFamily="34" charset="0"/>
                <a:ea typeface="Calibri" pitchFamily="34" charset="-122"/>
                <a:cs typeface="Calibri" pitchFamily="34" charset="-120"/>
              </a:rPr>
              <a:t>Checks, rejections, release</a:t>
            </a:r>
            <a:endParaRPr lang="en-US" sz="1250" dirty="0"/>
          </a:p>
        </p:txBody>
      </p:sp>
      <p:sp>
        <p:nvSpPr>
          <p:cNvPr id="30" name="Shape 28"/>
          <p:cNvSpPr/>
          <p:nvPr/>
        </p:nvSpPr>
        <p:spPr>
          <a:xfrm>
            <a:off x="8257032" y="2560320"/>
            <a:ext cx="457200" cy="457200"/>
          </a:xfrm>
          <a:prstGeom prst="ellipse">
            <a:avLst/>
          </a:prstGeom>
          <a:solidFill>
            <a:srgbClr val="121518"/>
          </a:solidFill>
          <a:ln w="25400">
            <a:solidFill>
              <a:srgbClr val="FFFFFF"/>
            </a:solidFill>
            <a:prstDash val="solid"/>
          </a:ln>
        </p:spPr>
      </p:sp>
      <p:sp>
        <p:nvSpPr>
          <p:cNvPr id="31" name="Text 29"/>
          <p:cNvSpPr txBox="1"/>
          <p:nvPr/>
        </p:nvSpPr>
        <p:spPr>
          <a:xfrm>
            <a:off x="8257032" y="25603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8165592" y="2057400"/>
            <a:ext cx="1783080" cy="365760"/>
          </a:xfrm>
          <a:prstGeom prst="rect">
            <a:avLst/>
          </a:prstGeom>
          <a:noFill/>
          <a:ln/>
        </p:spPr>
        <p:txBody>
          <a:bodyPr wrap="square" lIns="0" tIns="0" rIns="0" bIns="0" rtlCol="0" anchor="ctr"/>
          <a:lstStyle/>
          <a:p>
            <a:pPr indent="0" marL="0">
              <a:buNone/>
            </a:pPr>
            <a:r>
              <a:rPr lang="en-US" sz="1800" dirty="0">
                <a:solidFill>
                  <a:srgbClr val="1A1D21"/>
                </a:solidFill>
                <a:latin typeface="Cambria" pitchFamily="34" charset="0"/>
                <a:ea typeface="Cambria" pitchFamily="34" charset="-122"/>
                <a:cs typeface="Cambria" pitchFamily="34" charset="-120"/>
              </a:rPr>
              <a:t>Packing</a:t>
            </a:r>
            <a:endParaRPr lang="en-US" sz="1800" dirty="0"/>
          </a:p>
        </p:txBody>
      </p:sp>
      <p:sp>
        <p:nvSpPr>
          <p:cNvPr id="33" name="Shape 31"/>
          <p:cNvSpPr/>
          <p:nvPr/>
        </p:nvSpPr>
        <p:spPr>
          <a:xfrm>
            <a:off x="8165592" y="3337560"/>
            <a:ext cx="1691640" cy="1417320"/>
          </a:xfrm>
          <a:prstGeom prst="rect">
            <a:avLst/>
          </a:prstGeom>
          <a:solidFill>
            <a:srgbClr val="F4F4F1"/>
          </a:solidFill>
          <a:ln/>
        </p:spPr>
      </p:sp>
      <p:sp>
        <p:nvSpPr>
          <p:cNvPr id="34" name="Text 32"/>
          <p:cNvSpPr txBox="1"/>
          <p:nvPr/>
        </p:nvSpPr>
        <p:spPr>
          <a:xfrm>
            <a:off x="8275320" y="3429000"/>
            <a:ext cx="1463040" cy="201168"/>
          </a:xfrm>
          <a:prstGeom prst="rect">
            <a:avLst/>
          </a:prstGeom>
          <a:noFill/>
          <a:ln/>
        </p:spPr>
        <p:txBody>
          <a:bodyPr wrap="square" lIns="0" tIns="0" rIns="0" bIns="0" rtlCol="0" anchor="ctr"/>
          <a:lstStyle/>
          <a:p>
            <a:pPr indent="0" marL="0">
              <a:buNone/>
            </a:pPr>
            <a:r>
              <a:rPr lang="en-US" sz="850" b="1" spc="200" kern="0" dirty="0">
                <a:solidFill>
                  <a:srgbClr val="E0561F"/>
                </a:solidFill>
                <a:latin typeface="Calibri" pitchFamily="34" charset="0"/>
                <a:ea typeface="Calibri" pitchFamily="34" charset="-122"/>
                <a:cs typeface="Calibri" pitchFamily="34" charset="-120"/>
              </a:rPr>
              <a:t>RECORD</a:t>
            </a:r>
            <a:endParaRPr lang="en-US" sz="850" dirty="0"/>
          </a:p>
        </p:txBody>
      </p:sp>
      <p:sp>
        <p:nvSpPr>
          <p:cNvPr id="35" name="Text 33"/>
          <p:cNvSpPr txBox="1"/>
          <p:nvPr/>
        </p:nvSpPr>
        <p:spPr>
          <a:xfrm>
            <a:off x="8275320" y="3657600"/>
            <a:ext cx="1481328" cy="1005840"/>
          </a:xfrm>
          <a:prstGeom prst="rect">
            <a:avLst/>
          </a:prstGeom>
          <a:noFill/>
          <a:ln/>
        </p:spPr>
        <p:txBody>
          <a:bodyPr wrap="square" lIns="0" tIns="0" rIns="0" bIns="0" rtlCol="0" anchor="t"/>
          <a:lstStyle/>
          <a:p>
            <a:pPr indent="0" marL="0">
              <a:buNone/>
            </a:pPr>
            <a:r>
              <a:rPr lang="en-US" sz="1250" b="1" dirty="0">
                <a:solidFill>
                  <a:srgbClr val="1A1D21"/>
                </a:solidFill>
                <a:latin typeface="Calibri" pitchFamily="34" charset="0"/>
                <a:ea typeface="Calibri" pitchFamily="34" charset="-122"/>
                <a:cs typeface="Calibri" pitchFamily="34" charset="-120"/>
              </a:rPr>
              <a:t>Packing record</a:t>
            </a:r>
            <a:endParaRPr lang="en-US" sz="1250" dirty="0"/>
          </a:p>
          <a:p>
            <a:pPr indent="0" marL="0">
              <a:buNone/>
            </a:pPr>
            <a:r>
              <a:rPr lang="en-US" sz="1100" dirty="0">
                <a:solidFill>
                  <a:srgbClr val="6B7278"/>
                </a:solidFill>
                <a:latin typeface="Calibri" pitchFamily="34" charset="0"/>
                <a:ea typeface="Calibri" pitchFamily="34" charset="-122"/>
                <a:cs typeface="Calibri" pitchFamily="34" charset="-120"/>
              </a:rPr>
              <a:t>Packed quantity, pack coding</a:t>
            </a:r>
            <a:endParaRPr lang="en-US" sz="1250" dirty="0"/>
          </a:p>
        </p:txBody>
      </p:sp>
      <p:sp>
        <p:nvSpPr>
          <p:cNvPr id="36" name="Shape 34"/>
          <p:cNvSpPr/>
          <p:nvPr/>
        </p:nvSpPr>
        <p:spPr>
          <a:xfrm>
            <a:off x="10149840" y="2560320"/>
            <a:ext cx="457200" cy="457200"/>
          </a:xfrm>
          <a:prstGeom prst="ellipse">
            <a:avLst/>
          </a:prstGeom>
          <a:solidFill>
            <a:srgbClr val="121518"/>
          </a:solidFill>
          <a:ln w="25400">
            <a:solidFill>
              <a:srgbClr val="FFFFFF"/>
            </a:solidFill>
            <a:prstDash val="solid"/>
          </a:ln>
        </p:spPr>
      </p:sp>
      <p:sp>
        <p:nvSpPr>
          <p:cNvPr id="37" name="Text 35"/>
          <p:cNvSpPr txBox="1"/>
          <p:nvPr/>
        </p:nvSpPr>
        <p:spPr>
          <a:xfrm>
            <a:off x="10149840" y="25603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8" name="Text 36"/>
          <p:cNvSpPr txBox="1"/>
          <p:nvPr/>
        </p:nvSpPr>
        <p:spPr>
          <a:xfrm>
            <a:off x="10058400" y="2057400"/>
            <a:ext cx="1783080" cy="365760"/>
          </a:xfrm>
          <a:prstGeom prst="rect">
            <a:avLst/>
          </a:prstGeom>
          <a:noFill/>
          <a:ln/>
        </p:spPr>
        <p:txBody>
          <a:bodyPr wrap="square" lIns="0" tIns="0" rIns="0" bIns="0" rtlCol="0" anchor="ctr"/>
          <a:lstStyle/>
          <a:p>
            <a:pPr indent="0" marL="0">
              <a:buNone/>
            </a:pPr>
            <a:r>
              <a:rPr lang="en-US" sz="1800" dirty="0">
                <a:solidFill>
                  <a:srgbClr val="1A1D21"/>
                </a:solidFill>
                <a:latin typeface="Cambria" pitchFamily="34" charset="0"/>
                <a:ea typeface="Cambria" pitchFamily="34" charset="-122"/>
                <a:cs typeface="Cambria" pitchFamily="34" charset="-120"/>
              </a:rPr>
              <a:t>Dispatch</a:t>
            </a:r>
            <a:endParaRPr lang="en-US" sz="1800" dirty="0"/>
          </a:p>
        </p:txBody>
      </p:sp>
      <p:sp>
        <p:nvSpPr>
          <p:cNvPr id="39" name="Shape 37"/>
          <p:cNvSpPr/>
          <p:nvPr/>
        </p:nvSpPr>
        <p:spPr>
          <a:xfrm>
            <a:off x="10058400" y="3337560"/>
            <a:ext cx="1691640" cy="1417320"/>
          </a:xfrm>
          <a:prstGeom prst="rect">
            <a:avLst/>
          </a:prstGeom>
          <a:solidFill>
            <a:srgbClr val="F4F4F1"/>
          </a:solidFill>
          <a:ln/>
        </p:spPr>
      </p:sp>
      <p:sp>
        <p:nvSpPr>
          <p:cNvPr id="40" name="Text 38"/>
          <p:cNvSpPr txBox="1"/>
          <p:nvPr/>
        </p:nvSpPr>
        <p:spPr>
          <a:xfrm>
            <a:off x="10168128" y="3429000"/>
            <a:ext cx="1463040" cy="201168"/>
          </a:xfrm>
          <a:prstGeom prst="rect">
            <a:avLst/>
          </a:prstGeom>
          <a:noFill/>
          <a:ln/>
        </p:spPr>
        <p:txBody>
          <a:bodyPr wrap="square" lIns="0" tIns="0" rIns="0" bIns="0" rtlCol="0" anchor="ctr"/>
          <a:lstStyle/>
          <a:p>
            <a:pPr indent="0" marL="0">
              <a:buNone/>
            </a:pPr>
            <a:r>
              <a:rPr lang="en-US" sz="850" b="1" spc="200" kern="0" dirty="0">
                <a:solidFill>
                  <a:srgbClr val="E0561F"/>
                </a:solidFill>
                <a:latin typeface="Calibri" pitchFamily="34" charset="0"/>
                <a:ea typeface="Calibri" pitchFamily="34" charset="-122"/>
                <a:cs typeface="Calibri" pitchFamily="34" charset="-120"/>
              </a:rPr>
              <a:t>RECORD</a:t>
            </a:r>
            <a:endParaRPr lang="en-US" sz="850" dirty="0"/>
          </a:p>
        </p:txBody>
      </p:sp>
      <p:sp>
        <p:nvSpPr>
          <p:cNvPr id="41" name="Text 39"/>
          <p:cNvSpPr txBox="1"/>
          <p:nvPr/>
        </p:nvSpPr>
        <p:spPr>
          <a:xfrm>
            <a:off x="10168128" y="3657600"/>
            <a:ext cx="1481328" cy="1005840"/>
          </a:xfrm>
          <a:prstGeom prst="rect">
            <a:avLst/>
          </a:prstGeom>
          <a:noFill/>
          <a:ln/>
        </p:spPr>
        <p:txBody>
          <a:bodyPr wrap="square" lIns="0" tIns="0" rIns="0" bIns="0" rtlCol="0" anchor="t"/>
          <a:lstStyle/>
          <a:p>
            <a:pPr indent="0" marL="0">
              <a:buNone/>
            </a:pPr>
            <a:r>
              <a:rPr lang="en-US" sz="1250" b="1" dirty="0">
                <a:solidFill>
                  <a:srgbClr val="1A1D21"/>
                </a:solidFill>
                <a:latin typeface="Calibri" pitchFamily="34" charset="0"/>
                <a:ea typeface="Calibri" pitchFamily="34" charset="-122"/>
                <a:cs typeface="Calibri" pitchFamily="34" charset="-120"/>
              </a:rPr>
              <a:t>Dispatch record</a:t>
            </a:r>
            <a:endParaRPr lang="en-US" sz="1250" dirty="0"/>
          </a:p>
          <a:p>
            <a:pPr indent="0" marL="0">
              <a:buNone/>
            </a:pPr>
            <a:r>
              <a:rPr lang="en-US" sz="1100" dirty="0">
                <a:solidFill>
                  <a:srgbClr val="6B7278"/>
                </a:solidFill>
                <a:latin typeface="Calibri" pitchFamily="34" charset="0"/>
                <a:ea typeface="Calibri" pitchFamily="34" charset="-122"/>
                <a:cs typeface="Calibri" pitchFamily="34" charset="-120"/>
              </a:rPr>
              <a:t>Where each batch went</a:t>
            </a:r>
            <a:endParaRPr lang="en-US" sz="1250" dirty="0"/>
          </a:p>
        </p:txBody>
      </p:sp>
      <p:sp>
        <p:nvSpPr>
          <p:cNvPr id="42" name="Text 40"/>
          <p:cNvSpPr txBox="1"/>
          <p:nvPr/>
        </p:nvSpPr>
        <p:spPr>
          <a:xfrm>
            <a:off x="548640" y="5349240"/>
            <a:ext cx="10972800" cy="502920"/>
          </a:xfrm>
          <a:prstGeom prst="rect">
            <a:avLst/>
          </a:prstGeom>
          <a:noFill/>
          <a:ln/>
        </p:spPr>
        <p:txBody>
          <a:bodyPr wrap="square" lIns="0" tIns="0" rIns="0" bIns="0" rtlCol="0" anchor="ctr"/>
          <a:lstStyle/>
          <a:p>
            <a:pPr indent="0" marL="0">
              <a:buNone/>
            </a:pPr>
            <a:r>
              <a:rPr lang="en-US" sz="2200" i="1" dirty="0">
                <a:solidFill>
                  <a:srgbClr val="E0561F"/>
                </a:solidFill>
                <a:latin typeface="Cambria" pitchFamily="34" charset="0"/>
                <a:ea typeface="Cambria" pitchFamily="34" charset="-122"/>
                <a:cs typeface="Cambria" pitchFamily="34" charset="-120"/>
              </a:rPr>
              <a:t>But those records did not automatically become one connected story.</a:t>
            </a:r>
            <a:endParaRPr lang="en-US" sz="2200" dirty="0"/>
          </a:p>
        </p:txBody>
      </p:sp>
      <p:sp>
        <p:nvSpPr>
          <p:cNvPr id="44" name="Text 41"/>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1"/>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03</a:t>
            </a:r>
            <a:pPr indent="0" marL="0">
              <a:buNone/>
            </a:pPr>
            <a:r>
              <a:rPr lang="en-US" sz="1050" spc="300" kern="0" dirty="0">
                <a:solidFill>
                  <a:srgbClr val="6B7278"/>
                </a:solidFill>
                <a:latin typeface="Calibri" pitchFamily="34" charset="0"/>
                <a:ea typeface="Calibri" pitchFamily="34" charset="-122"/>
                <a:cs typeface="Calibri" pitchFamily="34" charset="-120"/>
              </a:rPr>
              <a:t>   ENTER THE PLANT</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indent="0" marL="0">
              <a:buNone/>
            </a:pPr>
            <a:r>
              <a:rPr lang="en-US" sz="3200" dirty="0">
                <a:solidFill>
                  <a:srgbClr val="1A1D21"/>
                </a:solidFill>
                <a:latin typeface="Cambria" pitchFamily="34" charset="0"/>
                <a:ea typeface="Cambria" pitchFamily="34" charset="-122"/>
                <a:cs typeface="Cambria" pitchFamily="34" charset="-120"/>
              </a:rPr>
              <a:t>What did the plant teach me about the system?</a:t>
            </a:r>
            <a:endParaRPr lang="en-US" sz="3200" dirty="0"/>
          </a:p>
        </p:txBody>
      </p:sp>
      <p:sp>
        <p:nvSpPr>
          <p:cNvPr id="4" name="Text 2"/>
          <p:cNvSpPr txBox="1"/>
          <p:nvPr/>
        </p:nvSpPr>
        <p:spPr>
          <a:xfrm>
            <a:off x="2697480" y="1463040"/>
            <a:ext cx="4206240" cy="256032"/>
          </a:xfrm>
          <a:prstGeom prst="rect">
            <a:avLst/>
          </a:prstGeom>
          <a:noFill/>
          <a:ln/>
        </p:spPr>
        <p:txBody>
          <a:bodyPr wrap="square" lIns="0" tIns="0" rIns="0" bIns="0" rtlCol="0" anchor="ctr"/>
          <a:lstStyle/>
          <a:p>
            <a:pPr indent="0" marL="0">
              <a:buNone/>
            </a:pPr>
            <a:r>
              <a:rPr lang="en-US" sz="1000" b="1" spc="300" kern="0" dirty="0">
                <a:solidFill>
                  <a:srgbClr val="6B7278"/>
                </a:solidFill>
                <a:latin typeface="Calibri" pitchFamily="34" charset="0"/>
                <a:ea typeface="Calibri" pitchFamily="34" charset="-122"/>
                <a:cs typeface="Calibri" pitchFamily="34" charset="-120"/>
              </a:rPr>
              <a:t>WHAT I OBSERVED</a:t>
            </a:r>
            <a:endParaRPr lang="en-US" sz="1000" dirty="0"/>
          </a:p>
        </p:txBody>
      </p:sp>
      <p:sp>
        <p:nvSpPr>
          <p:cNvPr id="5" name="Text 3"/>
          <p:cNvSpPr txBox="1"/>
          <p:nvPr/>
        </p:nvSpPr>
        <p:spPr>
          <a:xfrm>
            <a:off x="7406640" y="1463040"/>
            <a:ext cx="4206240" cy="256032"/>
          </a:xfrm>
          <a:prstGeom prst="rect">
            <a:avLst/>
          </a:prstGeom>
          <a:noFill/>
          <a:ln/>
        </p:spPr>
        <p:txBody>
          <a:bodyPr wrap="square" lIns="0" tIns="0" rIns="0" bIns="0" rtlCol="0" anchor="ctr"/>
          <a:lstStyle/>
          <a:p>
            <a:pPr indent="0" marL="0">
              <a:buNone/>
            </a:pPr>
            <a:r>
              <a:rPr lang="en-US" sz="1000" b="1" spc="300" kern="0" dirty="0">
                <a:solidFill>
                  <a:srgbClr val="E0561F"/>
                </a:solidFill>
                <a:latin typeface="Calibri" pitchFamily="34" charset="0"/>
                <a:ea typeface="Calibri" pitchFamily="34" charset="-122"/>
                <a:cs typeface="Calibri" pitchFamily="34" charset="-120"/>
              </a:rPr>
              <a:t>WHAT THE MES HAD TO DO</a:t>
            </a:r>
            <a:endParaRPr lang="en-US" sz="1000" dirty="0"/>
          </a:p>
        </p:txBody>
      </p:sp>
      <p:sp>
        <p:nvSpPr>
          <p:cNvPr id="6" name="Text 4"/>
          <p:cNvSpPr txBox="1"/>
          <p:nvPr/>
        </p:nvSpPr>
        <p:spPr>
          <a:xfrm>
            <a:off x="548640" y="1874520"/>
            <a:ext cx="731520" cy="548640"/>
          </a:xfrm>
          <a:prstGeom prst="rect">
            <a:avLst/>
          </a:prstGeom>
          <a:noFill/>
          <a:ln/>
        </p:spPr>
        <p:txBody>
          <a:bodyPr wrap="square" lIns="0" tIns="0" rIns="0" bIns="0" rtlCol="0" anchor="t"/>
          <a:lstStyle/>
          <a:p>
            <a:pPr indent="0" marL="0">
              <a:buNone/>
            </a:pPr>
            <a:r>
              <a:rPr lang="en-US" sz="2800" dirty="0">
                <a:solidFill>
                  <a:srgbClr val="B9BEC2"/>
                </a:solidFill>
                <a:latin typeface="Cambria" pitchFamily="34" charset="0"/>
                <a:ea typeface="Cambria" pitchFamily="34" charset="-122"/>
                <a:cs typeface="Cambria" pitchFamily="34" charset="-120"/>
              </a:rPr>
              <a:t>01</a:t>
            </a:r>
            <a:endParaRPr lang="en-US" sz="2800" dirty="0"/>
          </a:p>
        </p:txBody>
      </p:sp>
      <p:sp>
        <p:nvSpPr>
          <p:cNvPr id="7" name="Text 5"/>
          <p:cNvSpPr txBox="1"/>
          <p:nvPr/>
        </p:nvSpPr>
        <p:spPr>
          <a:xfrm>
            <a:off x="1280160" y="1920240"/>
            <a:ext cx="1371600" cy="457200"/>
          </a:xfrm>
          <a:prstGeom prst="rect">
            <a:avLst/>
          </a:prstGeom>
          <a:noFill/>
          <a:ln/>
        </p:spPr>
        <p:txBody>
          <a:bodyPr wrap="square" lIns="0" tIns="0" rIns="0" bIns="0" rtlCol="0" anchor="t"/>
          <a:lstStyle/>
          <a:p>
            <a:pPr indent="0" marL="0">
              <a:buNone/>
            </a:pPr>
            <a:r>
              <a:rPr lang="en-US" sz="1800" dirty="0">
                <a:solidFill>
                  <a:srgbClr val="1A1D21"/>
                </a:solidFill>
                <a:latin typeface="Cambria" pitchFamily="34" charset="0"/>
                <a:ea typeface="Cambria" pitchFamily="34" charset="-122"/>
                <a:cs typeface="Cambria" pitchFamily="34" charset="-120"/>
              </a:rPr>
              <a:t>Paste plant</a:t>
            </a:r>
            <a:endParaRPr lang="en-US" sz="1800" dirty="0"/>
          </a:p>
        </p:txBody>
      </p:sp>
      <p:sp>
        <p:nvSpPr>
          <p:cNvPr id="8" name="Text 6"/>
          <p:cNvSpPr txBox="1"/>
          <p:nvPr/>
        </p:nvSpPr>
        <p:spPr>
          <a:xfrm>
            <a:off x="2697480" y="1874520"/>
            <a:ext cx="4297680" cy="1097280"/>
          </a:xfrm>
          <a:prstGeom prst="rect">
            <a:avLst/>
          </a:prstGeom>
          <a:noFill/>
          <a:ln/>
        </p:spPr>
        <p:txBody>
          <a:bodyPr wrap="square" lIns="0" tIns="0" rIns="0" bIns="0" rtlCol="0" anchor="t"/>
          <a:lstStyle/>
          <a:p>
            <a:pPr indent="0" marL="0">
              <a:buNone/>
            </a:pPr>
            <a:r>
              <a:rPr lang="en-US" sz="1300" dirty="0">
                <a:solidFill>
                  <a:srgbClr val="3E4750"/>
                </a:solidFill>
                <a:latin typeface="Calibri" pitchFamily="34" charset="0"/>
                <a:ea typeface="Calibri" pitchFamily="34" charset="-122"/>
                <a:cs typeface="Calibri" pitchFamily="34" charset="-120"/>
              </a:rPr>
              <a:t>Material gets a traceable identity at the weighbridge and keeps it through quarantine, sampling and release. QC testing and QA release are separate decisions.</a:t>
            </a:r>
            <a:endParaRPr lang="en-US" sz="1300" dirty="0"/>
          </a:p>
        </p:txBody>
      </p:sp>
      <p:sp>
        <p:nvSpPr>
          <p:cNvPr id="9" name="Text 7"/>
          <p:cNvSpPr txBox="1"/>
          <p:nvPr/>
        </p:nvSpPr>
        <p:spPr>
          <a:xfrm>
            <a:off x="6949440" y="1874520"/>
            <a:ext cx="411480" cy="411480"/>
          </a:xfrm>
          <a:prstGeom prst="rect">
            <a:avLst/>
          </a:prstGeom>
          <a:noFill/>
          <a:ln/>
        </p:spPr>
        <p:txBody>
          <a:bodyPr wrap="square" lIns="0" tIns="0" rIns="0" bIns="0" rtlCol="0" anchor="ctr"/>
          <a:lstStyle/>
          <a:p>
            <a:pPr algn="ctr" indent="0" marL="0">
              <a:buNone/>
            </a:pPr>
            <a:r>
              <a:rPr lang="en-US" sz="1800" dirty="0">
                <a:solidFill>
                  <a:srgbClr val="E0561F"/>
                </a:solidFill>
                <a:latin typeface="Calibri" pitchFamily="34" charset="0"/>
                <a:ea typeface="Calibri" pitchFamily="34" charset="-122"/>
                <a:cs typeface="Calibri" pitchFamily="34" charset="-120"/>
              </a:rPr>
              <a:t>→</a:t>
            </a:r>
            <a:endParaRPr lang="en-US" sz="1800" dirty="0"/>
          </a:p>
        </p:txBody>
      </p:sp>
      <p:sp>
        <p:nvSpPr>
          <p:cNvPr id="10" name="Text 8"/>
          <p:cNvSpPr txBox="1"/>
          <p:nvPr/>
        </p:nvSpPr>
        <p:spPr>
          <a:xfrm>
            <a:off x="7406640" y="1874520"/>
            <a:ext cx="4206240" cy="1097280"/>
          </a:xfrm>
          <a:prstGeom prst="rect">
            <a:avLst/>
          </a:prstGeom>
          <a:noFill/>
          <a:ln/>
        </p:spPr>
        <p:txBody>
          <a:bodyPr wrap="square" lIns="0" tIns="0" rIns="0" bIns="0" rtlCol="0" anchor="t"/>
          <a:lstStyle/>
          <a:p>
            <a:pPr indent="0" marL="0">
              <a:buNone/>
            </a:pPr>
            <a:r>
              <a:rPr lang="en-US" sz="1300" b="1" dirty="0">
                <a:solidFill>
                  <a:srgbClr val="1A1D21"/>
                </a:solidFill>
                <a:latin typeface="Calibri" pitchFamily="34" charset="0"/>
                <a:ea typeface="Calibri" pitchFamily="34" charset="-122"/>
                <a:cs typeface="Calibri" pitchFamily="34" charset="-120"/>
              </a:rPr>
              <a:t>Key every register. Link each material issue to the run that used it. Record QC result and release separately.</a:t>
            </a:r>
            <a:endParaRPr lang="en-US" sz="1300" dirty="0"/>
          </a:p>
        </p:txBody>
      </p:sp>
      <p:sp>
        <p:nvSpPr>
          <p:cNvPr id="11" name="Shape 9"/>
          <p:cNvSpPr/>
          <p:nvPr/>
        </p:nvSpPr>
        <p:spPr>
          <a:xfrm>
            <a:off x="548640" y="3108960"/>
            <a:ext cx="11091672" cy="0"/>
          </a:xfrm>
          <a:prstGeom prst="line">
            <a:avLst/>
          </a:prstGeom>
          <a:noFill/>
          <a:ln w="9525">
            <a:solidFill>
              <a:srgbClr val="D6D8D6"/>
            </a:solidFill>
            <a:prstDash val="solid"/>
          </a:ln>
        </p:spPr>
      </p:sp>
      <p:sp>
        <p:nvSpPr>
          <p:cNvPr id="12" name="Text 10"/>
          <p:cNvSpPr txBox="1"/>
          <p:nvPr/>
        </p:nvSpPr>
        <p:spPr>
          <a:xfrm>
            <a:off x="548640" y="3291840"/>
            <a:ext cx="731520" cy="548640"/>
          </a:xfrm>
          <a:prstGeom prst="rect">
            <a:avLst/>
          </a:prstGeom>
          <a:noFill/>
          <a:ln/>
        </p:spPr>
        <p:txBody>
          <a:bodyPr wrap="square" lIns="0" tIns="0" rIns="0" bIns="0" rtlCol="0" anchor="t"/>
          <a:lstStyle/>
          <a:p>
            <a:pPr indent="0" marL="0">
              <a:buNone/>
            </a:pPr>
            <a:r>
              <a:rPr lang="en-US" sz="2800" dirty="0">
                <a:solidFill>
                  <a:srgbClr val="B9BEC2"/>
                </a:solidFill>
                <a:latin typeface="Cambria" pitchFamily="34" charset="0"/>
                <a:ea typeface="Cambria" pitchFamily="34" charset="-122"/>
                <a:cs typeface="Cambria" pitchFamily="34" charset="-120"/>
              </a:rPr>
              <a:t>02</a:t>
            </a:r>
            <a:endParaRPr lang="en-US" sz="2800" dirty="0"/>
          </a:p>
        </p:txBody>
      </p:sp>
      <p:sp>
        <p:nvSpPr>
          <p:cNvPr id="13" name="Text 11"/>
          <p:cNvSpPr txBox="1"/>
          <p:nvPr/>
        </p:nvSpPr>
        <p:spPr>
          <a:xfrm>
            <a:off x="1280160" y="3337560"/>
            <a:ext cx="1371600" cy="457200"/>
          </a:xfrm>
          <a:prstGeom prst="rect">
            <a:avLst/>
          </a:prstGeom>
          <a:noFill/>
          <a:ln/>
        </p:spPr>
        <p:txBody>
          <a:bodyPr wrap="square" lIns="0" tIns="0" rIns="0" bIns="0" rtlCol="0" anchor="t"/>
          <a:lstStyle/>
          <a:p>
            <a:pPr indent="0" marL="0">
              <a:buNone/>
            </a:pPr>
            <a:r>
              <a:rPr lang="en-US" sz="1800" dirty="0">
                <a:solidFill>
                  <a:srgbClr val="1A1D21"/>
                </a:solidFill>
                <a:latin typeface="Cambria" pitchFamily="34" charset="0"/>
                <a:ea typeface="Cambria" pitchFamily="34" charset="-122"/>
                <a:cs typeface="Cambria" pitchFamily="34" charset="-120"/>
              </a:rPr>
              <a:t>Moulding</a:t>
            </a:r>
            <a:endParaRPr lang="en-US" sz="1800" dirty="0"/>
          </a:p>
        </p:txBody>
      </p:sp>
      <p:sp>
        <p:nvSpPr>
          <p:cNvPr id="14" name="Text 12"/>
          <p:cNvSpPr txBox="1"/>
          <p:nvPr/>
        </p:nvSpPr>
        <p:spPr>
          <a:xfrm>
            <a:off x="2697480" y="3291840"/>
            <a:ext cx="4297680" cy="1097280"/>
          </a:xfrm>
          <a:prstGeom prst="rect">
            <a:avLst/>
          </a:prstGeom>
          <a:noFill/>
          <a:ln/>
        </p:spPr>
        <p:txBody>
          <a:bodyPr wrap="square" lIns="0" tIns="0" rIns="0" bIns="0" rtlCol="0" anchor="t"/>
          <a:lstStyle/>
          <a:p>
            <a:pPr indent="0" marL="0">
              <a:buNone/>
            </a:pPr>
            <a:r>
              <a:rPr lang="en-US" sz="1300" dirty="0">
                <a:solidFill>
                  <a:srgbClr val="3E4750"/>
                </a:solidFill>
                <a:latin typeface="Calibri" pitchFamily="34" charset="0"/>
                <a:ea typeface="Calibri" pitchFamily="34" charset="-122"/>
                <a:cs typeface="Calibri" pitchFamily="34" charset="-120"/>
              </a:rPr>
              <a:t>A brush first gets its identity at the handle lot. One moulding lot is consumed by one to three assembly runs.</a:t>
            </a:r>
            <a:endParaRPr lang="en-US" sz="1300" dirty="0"/>
          </a:p>
        </p:txBody>
      </p:sp>
      <p:sp>
        <p:nvSpPr>
          <p:cNvPr id="15" name="Text 13"/>
          <p:cNvSpPr txBox="1"/>
          <p:nvPr/>
        </p:nvSpPr>
        <p:spPr>
          <a:xfrm>
            <a:off x="6949440" y="3291840"/>
            <a:ext cx="411480" cy="411480"/>
          </a:xfrm>
          <a:prstGeom prst="rect">
            <a:avLst/>
          </a:prstGeom>
          <a:noFill/>
          <a:ln/>
        </p:spPr>
        <p:txBody>
          <a:bodyPr wrap="square" lIns="0" tIns="0" rIns="0" bIns="0" rtlCol="0" anchor="ctr"/>
          <a:lstStyle/>
          <a:p>
            <a:pPr algn="ctr" indent="0" marL="0">
              <a:buNone/>
            </a:pPr>
            <a:r>
              <a:rPr lang="en-US" sz="1800" dirty="0">
                <a:solidFill>
                  <a:srgbClr val="E0561F"/>
                </a:solidFill>
                <a:latin typeface="Calibri" pitchFamily="34" charset="0"/>
                <a:ea typeface="Calibri" pitchFamily="34" charset="-122"/>
                <a:cs typeface="Calibri" pitchFamily="34" charset="-120"/>
              </a:rPr>
              <a:t>→</a:t>
            </a:r>
            <a:endParaRPr lang="en-US" sz="1800" dirty="0"/>
          </a:p>
        </p:txBody>
      </p:sp>
      <p:sp>
        <p:nvSpPr>
          <p:cNvPr id="16" name="Text 14"/>
          <p:cNvSpPr txBox="1"/>
          <p:nvPr/>
        </p:nvSpPr>
        <p:spPr>
          <a:xfrm>
            <a:off x="7406640" y="3291840"/>
            <a:ext cx="4206240" cy="1097280"/>
          </a:xfrm>
          <a:prstGeom prst="rect">
            <a:avLst/>
          </a:prstGeom>
          <a:noFill/>
          <a:ln/>
        </p:spPr>
        <p:txBody>
          <a:bodyPr wrap="square" lIns="0" tIns="0" rIns="0" bIns="0" rtlCol="0" anchor="t"/>
          <a:lstStyle/>
          <a:p>
            <a:pPr indent="0" marL="0">
              <a:buNone/>
            </a:pPr>
            <a:r>
              <a:rPr lang="en-US" sz="1300" b="1" dirty="0">
                <a:solidFill>
                  <a:srgbClr val="1A1D21"/>
                </a:solidFill>
                <a:latin typeface="Calibri" pitchFamily="34" charset="0"/>
                <a:ea typeface="Calibri" pitchFamily="34" charset="-122"/>
                <a:cs typeface="Calibri" pitchFamily="34" charset="-120"/>
              </a:rPr>
              <a:t>Carry the handle lot on every production record. Trace a lot to every run it reached.</a:t>
            </a:r>
            <a:endParaRPr lang="en-US" sz="1300" dirty="0"/>
          </a:p>
        </p:txBody>
      </p:sp>
      <p:sp>
        <p:nvSpPr>
          <p:cNvPr id="17" name="Shape 15"/>
          <p:cNvSpPr/>
          <p:nvPr/>
        </p:nvSpPr>
        <p:spPr>
          <a:xfrm>
            <a:off x="548640" y="4526280"/>
            <a:ext cx="11091672" cy="0"/>
          </a:xfrm>
          <a:prstGeom prst="line">
            <a:avLst/>
          </a:prstGeom>
          <a:noFill/>
          <a:ln w="9525">
            <a:solidFill>
              <a:srgbClr val="D6D8D6"/>
            </a:solidFill>
            <a:prstDash val="solid"/>
          </a:ln>
        </p:spPr>
      </p:sp>
      <p:sp>
        <p:nvSpPr>
          <p:cNvPr id="18" name="Text 16"/>
          <p:cNvSpPr txBox="1"/>
          <p:nvPr/>
        </p:nvSpPr>
        <p:spPr>
          <a:xfrm>
            <a:off x="548640" y="4709160"/>
            <a:ext cx="731520" cy="548640"/>
          </a:xfrm>
          <a:prstGeom prst="rect">
            <a:avLst/>
          </a:prstGeom>
          <a:noFill/>
          <a:ln/>
        </p:spPr>
        <p:txBody>
          <a:bodyPr wrap="square" lIns="0" tIns="0" rIns="0" bIns="0" rtlCol="0" anchor="t"/>
          <a:lstStyle/>
          <a:p>
            <a:pPr indent="0" marL="0">
              <a:buNone/>
            </a:pPr>
            <a:r>
              <a:rPr lang="en-US" sz="2800" dirty="0">
                <a:solidFill>
                  <a:srgbClr val="E0561F"/>
                </a:solidFill>
                <a:latin typeface="Cambria" pitchFamily="34" charset="0"/>
                <a:ea typeface="Cambria" pitchFamily="34" charset="-122"/>
                <a:cs typeface="Cambria" pitchFamily="34" charset="-120"/>
              </a:rPr>
              <a:t>03</a:t>
            </a:r>
            <a:endParaRPr lang="en-US" sz="2800" dirty="0"/>
          </a:p>
        </p:txBody>
      </p:sp>
      <p:sp>
        <p:nvSpPr>
          <p:cNvPr id="19" name="Text 17"/>
          <p:cNvSpPr txBox="1"/>
          <p:nvPr/>
        </p:nvSpPr>
        <p:spPr>
          <a:xfrm>
            <a:off x="1280160" y="4754880"/>
            <a:ext cx="1371600" cy="457200"/>
          </a:xfrm>
          <a:prstGeom prst="rect">
            <a:avLst/>
          </a:prstGeom>
          <a:noFill/>
          <a:ln/>
        </p:spPr>
        <p:txBody>
          <a:bodyPr wrap="square" lIns="0" tIns="0" rIns="0" bIns="0" rtlCol="0" anchor="t"/>
          <a:lstStyle/>
          <a:p>
            <a:pPr indent="0" marL="0">
              <a:buNone/>
            </a:pPr>
            <a:r>
              <a:rPr lang="en-US" sz="1800" dirty="0">
                <a:solidFill>
                  <a:srgbClr val="1A1D21"/>
                </a:solidFill>
                <a:latin typeface="Cambria" pitchFamily="34" charset="0"/>
                <a:ea typeface="Cambria" pitchFamily="34" charset="-122"/>
                <a:cs typeface="Cambria" pitchFamily="34" charset="-120"/>
              </a:rPr>
              <a:t>Tufting</a:t>
            </a:r>
            <a:endParaRPr lang="en-US" sz="1800" dirty="0"/>
          </a:p>
        </p:txBody>
      </p:sp>
      <p:sp>
        <p:nvSpPr>
          <p:cNvPr id="20" name="Text 18"/>
          <p:cNvSpPr txBox="1"/>
          <p:nvPr/>
        </p:nvSpPr>
        <p:spPr>
          <a:xfrm>
            <a:off x="2697480" y="4709160"/>
            <a:ext cx="4297680" cy="1097280"/>
          </a:xfrm>
          <a:prstGeom prst="rect">
            <a:avLst/>
          </a:prstGeom>
          <a:noFill/>
          <a:ln/>
        </p:spPr>
        <p:txBody>
          <a:bodyPr wrap="square" lIns="0" tIns="0" rIns="0" bIns="0" rtlCol="0" anchor="t"/>
          <a:lstStyle/>
          <a:p>
            <a:pPr indent="0" marL="0">
              <a:buNone/>
            </a:pPr>
            <a:r>
              <a:rPr lang="en-US" sz="1300" dirty="0">
                <a:solidFill>
                  <a:srgbClr val="3E4750"/>
                </a:solidFill>
                <a:latin typeface="Calibri" pitchFamily="34" charset="0"/>
                <a:ea typeface="Calibri" pitchFamily="34" charset="-122"/>
                <a:cs typeface="Calibri" pitchFamily="34" charset="-120"/>
              </a:rPr>
              <a:t>Filament is anchored into the handle and trimmed. Bristle retention is decided here.</a:t>
            </a:r>
            <a:endParaRPr lang="en-US" sz="1300" dirty="0"/>
          </a:p>
        </p:txBody>
      </p:sp>
      <p:sp>
        <p:nvSpPr>
          <p:cNvPr id="21" name="Text 19"/>
          <p:cNvSpPr txBox="1"/>
          <p:nvPr/>
        </p:nvSpPr>
        <p:spPr>
          <a:xfrm>
            <a:off x="6949440" y="4709160"/>
            <a:ext cx="411480" cy="411480"/>
          </a:xfrm>
          <a:prstGeom prst="rect">
            <a:avLst/>
          </a:prstGeom>
          <a:noFill/>
          <a:ln/>
        </p:spPr>
        <p:txBody>
          <a:bodyPr wrap="square" lIns="0" tIns="0" rIns="0" bIns="0" rtlCol="0" anchor="ctr"/>
          <a:lstStyle/>
          <a:p>
            <a:pPr algn="ctr" indent="0" marL="0">
              <a:buNone/>
            </a:pPr>
            <a:r>
              <a:rPr lang="en-US" sz="1800" dirty="0">
                <a:solidFill>
                  <a:srgbClr val="E0561F"/>
                </a:solidFill>
                <a:latin typeface="Calibri" pitchFamily="34" charset="0"/>
                <a:ea typeface="Calibri" pitchFamily="34" charset="-122"/>
                <a:cs typeface="Calibri" pitchFamily="34" charset="-120"/>
              </a:rPr>
              <a:t>→</a:t>
            </a:r>
            <a:endParaRPr lang="en-US" sz="1800" dirty="0"/>
          </a:p>
        </p:txBody>
      </p:sp>
      <p:sp>
        <p:nvSpPr>
          <p:cNvPr id="22" name="Text 20"/>
          <p:cNvSpPr txBox="1"/>
          <p:nvPr/>
        </p:nvSpPr>
        <p:spPr>
          <a:xfrm>
            <a:off x="7406640" y="4709160"/>
            <a:ext cx="4206240" cy="1097280"/>
          </a:xfrm>
          <a:prstGeom prst="rect">
            <a:avLst/>
          </a:prstGeom>
          <a:noFill/>
          <a:ln/>
        </p:spPr>
        <p:txBody>
          <a:bodyPr wrap="square" lIns="0" tIns="0" rIns="0" bIns="0" rtlCol="0" anchor="t"/>
          <a:lstStyle/>
          <a:p>
            <a:pPr indent="0" marL="0">
              <a:buNone/>
            </a:pPr>
            <a:r>
              <a:rPr lang="en-US" sz="1300" b="1" dirty="0">
                <a:solidFill>
                  <a:srgbClr val="1A1D21"/>
                </a:solidFill>
                <a:latin typeface="Calibri" pitchFamily="34" charset="0"/>
                <a:ea typeface="Calibri" pitchFamily="34" charset="-122"/>
                <a:cs typeface="Calibri" pitchFamily="34" charset="-120"/>
              </a:rPr>
              <a:t>Record the tufting machine, bristle supplier, filament and anchor-wire lots, and classify defects by stage.</a:t>
            </a:r>
            <a:endParaRPr lang="en-US" sz="1300" dirty="0"/>
          </a:p>
        </p:txBody>
      </p:sp>
      <p:sp>
        <p:nvSpPr>
          <p:cNvPr id="23" name="Text 21"/>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500" i="1" dirty="0">
                <a:solidFill>
                  <a:srgbClr val="3E4750"/>
                </a:solidFill>
                <a:latin typeface="Cambria" pitchFamily="34" charset="0"/>
                <a:ea typeface="Cambria" pitchFamily="34" charset="-122"/>
                <a:cs typeface="Cambria" pitchFamily="34" charset="-120"/>
              </a:rPr>
              <a:t>Tufting is where the bristle complaint points. Every field on the manufacturing record can be traced back to something seen on the floor.</a:t>
            </a:r>
            <a:endParaRPr lang="en-US" sz="1500" dirty="0"/>
          </a:p>
        </p:txBody>
      </p:sp>
      <p:sp>
        <p:nvSpPr>
          <p:cNvPr id="24" name="Text 22"/>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518"/>
        </a:solidFill>
      </p:bgPr>
    </p:bg>
    <p:spTree>
      <p:nvGrpSpPr>
        <p:cNvPr id="1" name=""/>
        <p:cNvGrpSpPr/>
        <p:nvPr/>
      </p:nvGrpSpPr>
      <p:grpSpPr>
        <a:xfrm>
          <a:off x="0" y="0"/>
          <a:ext cx="0" cy="0"/>
          <a:chOff x="0" y="0"/>
          <a:chExt cx="0" cy="0"/>
        </a:xfrm>
      </p:grpSpPr>
      <p:pic>
        <p:nvPicPr>
          <p:cNvPr id="2" name="Image 0" descr="/home/user/master-executive-system/sip-presentation/source/photos/3.jpg">    </p:cNvPr>
          <p:cNvPicPr>
            <a:picLocks noChangeAspect="1"/>
          </p:cNvPicPr>
          <p:nvPr/>
        </p:nvPicPr>
        <p:blipFill>
          <a:blip r:embed="rId1"/>
          <a:srcRect l="0" r="0" t="0" b="0"/>
          <a:stretch/>
        </p:blipFill>
        <p:spPr>
          <a:xfrm>
            <a:off x="0" y="0"/>
            <a:ext cx="7498080" cy="6858000"/>
          </a:xfrm>
          <a:prstGeom prst="rect">
            <a:avLst/>
          </a:prstGeom>
        </p:spPr>
      </p:pic>
      <p:pic>
        <p:nvPicPr>
          <p:cNvPr id="3" name="Image 1" descr="/home/user/master-executive-system/sip-presentation/source/photos/4.jpg">    </p:cNvPr>
          <p:cNvPicPr>
            <a:picLocks noChangeAspect="1"/>
          </p:cNvPicPr>
          <p:nvPr/>
        </p:nvPicPr>
        <p:blipFill>
          <a:blip r:embed="rId2"/>
          <a:srcRect l="0" r="0" t="0" b="0"/>
          <a:stretch/>
        </p:blipFill>
        <p:spPr>
          <a:xfrm>
            <a:off x="7571232" y="0"/>
            <a:ext cx="4620463" cy="3383280"/>
          </a:xfrm>
          <a:prstGeom prst="rect">
            <a:avLst/>
          </a:prstGeom>
        </p:spPr>
      </p:pic>
      <p:pic>
        <p:nvPicPr>
          <p:cNvPr id="4" name="Image 2" descr="/home/user/master-executive-system/sip-presentation/source/photos/2.jpg">    </p:cNvPr>
          <p:cNvPicPr>
            <a:picLocks noChangeAspect="1"/>
          </p:cNvPicPr>
          <p:nvPr/>
        </p:nvPicPr>
        <p:blipFill>
          <a:blip r:embed="rId3"/>
          <a:srcRect l="0" r="0" t="0" b="0"/>
          <a:stretch/>
        </p:blipFill>
        <p:spPr>
          <a:xfrm>
            <a:off x="7571232" y="3456432"/>
            <a:ext cx="4620463" cy="3401568"/>
          </a:xfrm>
          <a:prstGeom prst="rect">
            <a:avLst/>
          </a:prstGeom>
        </p:spPr>
      </p:pic>
      <p:sp>
        <p:nvSpPr>
          <p:cNvPr id="5" name="Shape 0"/>
          <p:cNvSpPr/>
          <p:nvPr/>
        </p:nvSpPr>
        <p:spPr>
          <a:xfrm>
            <a:off x="411480" y="4617720"/>
            <a:ext cx="6675120" cy="1783080"/>
          </a:xfrm>
          <a:prstGeom prst="rect">
            <a:avLst/>
          </a:prstGeom>
          <a:solidFill>
            <a:srgbClr val="000000">
              <a:alpha val="78000"/>
            </a:srgbClr>
          </a:solidFill>
          <a:ln/>
        </p:spPr>
      </p:sp>
      <p:sp>
        <p:nvSpPr>
          <p:cNvPr id="6" name="Text 1"/>
          <p:cNvSpPr txBox="1"/>
          <p:nvPr/>
        </p:nvSpPr>
        <p:spPr>
          <a:xfrm>
            <a:off x="640080" y="4754880"/>
            <a:ext cx="6309360" cy="457200"/>
          </a:xfrm>
          <a:prstGeom prst="rect">
            <a:avLst/>
          </a:prstGeom>
          <a:noFill/>
          <a:ln/>
        </p:spPr>
        <p:txBody>
          <a:bodyPr wrap="square" lIns="0" tIns="0" rIns="0" bIns="0" rtlCol="0" anchor="ctr"/>
          <a:lstStyle/>
          <a:p>
            <a:pPr indent="0" marL="0">
              <a:buNone/>
            </a:pPr>
            <a:r>
              <a:rPr lang="en-US" sz="2200" dirty="0">
                <a:solidFill>
                  <a:srgbClr val="FFFFFF"/>
                </a:solidFill>
                <a:latin typeface="Cambria" pitchFamily="34" charset="0"/>
                <a:ea typeface="Cambria" pitchFamily="34" charset="-122"/>
                <a:cs typeface="Cambria" pitchFamily="34" charset="-120"/>
              </a:rPr>
              <a:t>What does it look like on the ground?</a:t>
            </a:r>
            <a:endParaRPr lang="en-US" sz="2200" dirty="0"/>
          </a:p>
        </p:txBody>
      </p:sp>
      <p:sp>
        <p:nvSpPr>
          <p:cNvPr id="7" name="Text 2"/>
          <p:cNvSpPr txBox="1"/>
          <p:nvPr/>
        </p:nvSpPr>
        <p:spPr>
          <a:xfrm>
            <a:off x="640080" y="5257800"/>
            <a:ext cx="6309360" cy="1005840"/>
          </a:xfrm>
          <a:prstGeom prst="rect">
            <a:avLst/>
          </a:prstGeom>
          <a:noFill/>
          <a:ln/>
        </p:spPr>
        <p:txBody>
          <a:bodyPr wrap="square" lIns="0" tIns="0" rIns="0" bIns="0" rtlCol="0" anchor="t"/>
          <a:lstStyle/>
          <a:p>
            <a:pPr indent="0" marL="0">
              <a:buNone/>
            </a:pPr>
            <a:r>
              <a:rPr lang="en-US" sz="1300" dirty="0">
                <a:solidFill>
                  <a:srgbClr val="D5D9DC"/>
                </a:solidFill>
                <a:latin typeface="Calibri" pitchFamily="34" charset="0"/>
                <a:ea typeface="Calibri" pitchFamily="34" charset="-122"/>
                <a:cs typeface="Calibri" pitchFamily="34" charset="-120"/>
              </a:rPr>
              <a:t>Stores, production blocks, QC, packing and dispatch spread across one campus. Material moves between them all day, and each hand-over leaves a record behind.</a:t>
            </a:r>
            <a:endParaRPr lang="en-US" sz="1300" dirty="0"/>
          </a:p>
        </p:txBody>
      </p:sp>
      <p:sp>
        <p:nvSpPr>
          <p:cNvPr id="8" name="Shape 3"/>
          <p:cNvSpPr/>
          <p:nvPr/>
        </p:nvSpPr>
        <p:spPr>
          <a:xfrm>
            <a:off x="7571232" y="2999232"/>
            <a:ext cx="4620463" cy="384048"/>
          </a:xfrm>
          <a:prstGeom prst="rect">
            <a:avLst/>
          </a:prstGeom>
          <a:solidFill>
            <a:srgbClr val="000000">
              <a:alpha val="60000"/>
            </a:srgbClr>
          </a:solidFill>
          <a:ln/>
        </p:spPr>
      </p:sp>
      <p:sp>
        <p:nvSpPr>
          <p:cNvPr id="9" name="Text 4"/>
          <p:cNvSpPr txBox="1"/>
          <p:nvPr/>
        </p:nvSpPr>
        <p:spPr>
          <a:xfrm>
            <a:off x="7726680" y="3072384"/>
            <a:ext cx="4206240" cy="2286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Tube filling line, paste plant</a:t>
            </a:r>
            <a:endParaRPr lang="en-US" sz="1000" dirty="0"/>
          </a:p>
        </p:txBody>
      </p:sp>
      <p:sp>
        <p:nvSpPr>
          <p:cNvPr id="10" name="Shape 5"/>
          <p:cNvSpPr/>
          <p:nvPr/>
        </p:nvSpPr>
        <p:spPr>
          <a:xfrm>
            <a:off x="7571232" y="6400800"/>
            <a:ext cx="4620463" cy="457200"/>
          </a:xfrm>
          <a:prstGeom prst="rect">
            <a:avLst/>
          </a:prstGeom>
          <a:solidFill>
            <a:srgbClr val="000000">
              <a:alpha val="60000"/>
            </a:srgbClr>
          </a:solidFill>
          <a:ln/>
        </p:spPr>
      </p:sp>
      <p:sp>
        <p:nvSpPr>
          <p:cNvPr id="11" name="Text 6"/>
          <p:cNvSpPr txBox="1"/>
          <p:nvPr/>
        </p:nvSpPr>
        <p:spPr>
          <a:xfrm>
            <a:off x="7726680" y="6528816"/>
            <a:ext cx="4206240" cy="22860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Kala-Amb industrial belt from the plant roof</a:t>
            </a:r>
            <a:endParaRPr lang="en-US" sz="1000" dirty="0"/>
          </a:p>
        </p:txBody>
      </p:sp>
      <p:sp>
        <p:nvSpPr>
          <p:cNvPr id="12" name="Text 7"/>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7D85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518"/>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04</a:t>
            </a:r>
            <a:pPr indent="0" marL="0">
              <a:buNone/>
            </a:pPr>
            <a:r>
              <a:rPr lang="en-US" sz="1050" spc="300" kern="0" dirty="0">
                <a:solidFill>
                  <a:srgbClr val="9AA1A7"/>
                </a:solidFill>
                <a:latin typeface="Calibri" pitchFamily="34" charset="0"/>
                <a:ea typeface="Calibri" pitchFamily="34" charset="-122"/>
                <a:cs typeface="Calibri" pitchFamily="34" charset="-120"/>
              </a:rPr>
              <a:t>   THE DISCOVERY</a:t>
            </a:r>
            <a:endParaRPr lang="en-US" sz="1050" dirty="0"/>
          </a:p>
        </p:txBody>
      </p:sp>
      <p:sp>
        <p:nvSpPr>
          <p:cNvPr id="3" name="Text 1"/>
          <p:cNvSpPr txBox="1"/>
          <p:nvPr/>
        </p:nvSpPr>
        <p:spPr>
          <a:xfrm>
            <a:off x="548640" y="2011680"/>
            <a:ext cx="11155680" cy="1005840"/>
          </a:xfrm>
          <a:prstGeom prst="rect">
            <a:avLst/>
          </a:prstGeom>
          <a:noFill/>
          <a:ln/>
        </p:spPr>
        <p:txBody>
          <a:bodyPr wrap="square" lIns="0" tIns="0" rIns="0" bIns="0" rtlCol="0" anchor="ctr"/>
          <a:lstStyle/>
          <a:p>
            <a:pPr indent="0" marL="0">
              <a:buNone/>
            </a:pPr>
            <a:r>
              <a:rPr lang="en-US" sz="5000" dirty="0">
                <a:solidFill>
                  <a:srgbClr val="FFFFFF"/>
                </a:solidFill>
                <a:latin typeface="Cambria" pitchFamily="34" charset="0"/>
                <a:ea typeface="Cambria" pitchFamily="34" charset="-122"/>
                <a:cs typeface="Cambria" pitchFamily="34" charset="-120"/>
              </a:rPr>
              <a:t>THE PLANT HAD THE DATA.</a:t>
            </a:r>
            <a:endParaRPr lang="en-US" sz="5000" dirty="0"/>
          </a:p>
        </p:txBody>
      </p:sp>
      <p:sp>
        <p:nvSpPr>
          <p:cNvPr id="4" name="Text 2"/>
          <p:cNvSpPr txBox="1"/>
          <p:nvPr/>
        </p:nvSpPr>
        <p:spPr>
          <a:xfrm>
            <a:off x="548640" y="3063240"/>
            <a:ext cx="11155680" cy="1920240"/>
          </a:xfrm>
          <a:prstGeom prst="rect">
            <a:avLst/>
          </a:prstGeom>
          <a:noFill/>
          <a:ln/>
        </p:spPr>
        <p:txBody>
          <a:bodyPr wrap="square" lIns="0" tIns="0" rIns="0" bIns="0" rtlCol="0" anchor="t"/>
          <a:lstStyle/>
          <a:p>
            <a:pPr indent="0" marL="0">
              <a:buNone/>
            </a:pPr>
            <a:r>
              <a:rPr lang="en-US" sz="5000" dirty="0">
                <a:solidFill>
                  <a:srgbClr val="E0561F"/>
                </a:solidFill>
                <a:latin typeface="Cambria" pitchFamily="34" charset="0"/>
                <a:ea typeface="Cambria" pitchFamily="34" charset="-122"/>
                <a:cs typeface="Cambria" pitchFamily="34" charset="-120"/>
              </a:rPr>
              <a:t>THE PROBLEM WAS HOW</a:t>
            </a:r>
            <a:endParaRPr lang="en-US" sz="5000" dirty="0"/>
          </a:p>
          <a:p>
            <a:pPr indent="0" marL="0">
              <a:buNone/>
            </a:pPr>
            <a:r>
              <a:rPr lang="en-US" sz="5000" dirty="0">
                <a:solidFill>
                  <a:srgbClr val="E0561F"/>
                </a:solidFill>
                <a:latin typeface="Cambria" pitchFamily="34" charset="0"/>
                <a:ea typeface="Cambria" pitchFamily="34" charset="-122"/>
                <a:cs typeface="Cambria" pitchFamily="34" charset="-120"/>
              </a:rPr>
              <a:t>THE DATA WAS CONNECTED.</a:t>
            </a:r>
            <a:endParaRPr lang="en-US" sz="5000" dirty="0"/>
          </a:p>
        </p:txBody>
      </p:sp>
      <p:sp>
        <p:nvSpPr>
          <p:cNvPr id="5" name="Text 3"/>
          <p:cNvSpPr txBox="1"/>
          <p:nvPr/>
        </p:nvSpPr>
        <p:spPr>
          <a:xfrm>
            <a:off x="548640" y="5669280"/>
            <a:ext cx="5486400" cy="320040"/>
          </a:xfrm>
          <a:prstGeom prst="rect">
            <a:avLst/>
          </a:prstGeom>
          <a:noFill/>
          <a:ln/>
        </p:spPr>
        <p:txBody>
          <a:bodyPr wrap="square" lIns="0" tIns="0" rIns="0" bIns="0" rtlCol="0" anchor="ctr"/>
          <a:lstStyle/>
          <a:p>
            <a:pPr indent="0" marL="0">
              <a:buNone/>
            </a:pPr>
            <a:r>
              <a:rPr lang="en-US" sz="1300" dirty="0">
                <a:solidFill>
                  <a:srgbClr val="7D858B"/>
                </a:solidFill>
                <a:latin typeface="Calibri" pitchFamily="34" charset="0"/>
                <a:ea typeface="Calibri" pitchFamily="34" charset="-122"/>
                <a:cs typeface="Calibri" pitchFamily="34" charset="-120"/>
              </a:rPr>
              <a:t>What did I discover?</a:t>
            </a:r>
            <a:endParaRPr lang="en-US" sz="1300" dirty="0"/>
          </a:p>
        </p:txBody>
      </p:sp>
      <p:sp>
        <p:nvSpPr>
          <p:cNvPr id="6" name="Text 4"/>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7D85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04</a:t>
            </a:r>
            <a:pPr indent="0" marL="0">
              <a:buNone/>
            </a:pPr>
            <a:r>
              <a:rPr lang="en-US" sz="1050" spc="300" kern="0" dirty="0">
                <a:solidFill>
                  <a:srgbClr val="6B7278"/>
                </a:solidFill>
                <a:latin typeface="Calibri" pitchFamily="34" charset="0"/>
                <a:ea typeface="Calibri" pitchFamily="34" charset="-122"/>
                <a:cs typeface="Calibri" pitchFamily="34" charset="-120"/>
              </a:rPr>
              <a:t>   THE DISCOVERY</a:t>
            </a:r>
            <a:endParaRPr lang="en-US" sz="1050" dirty="0"/>
          </a:p>
        </p:txBody>
      </p:sp>
      <p:sp>
        <p:nvSpPr>
          <p:cNvPr id="3" name="Text 1"/>
          <p:cNvSpPr txBox="1"/>
          <p:nvPr/>
        </p:nvSpPr>
        <p:spPr>
          <a:xfrm>
            <a:off x="548640" y="713232"/>
            <a:ext cx="11155680" cy="822960"/>
          </a:xfrm>
          <a:prstGeom prst="rect">
            <a:avLst/>
          </a:prstGeom>
          <a:noFill/>
          <a:ln/>
        </p:spPr>
        <p:txBody>
          <a:bodyPr wrap="square" lIns="0" tIns="0" rIns="0" bIns="0" rtlCol="0" anchor="t"/>
          <a:lstStyle/>
          <a:p>
            <a:pPr indent="0" marL="0">
              <a:buNone/>
            </a:pPr>
            <a:r>
              <a:rPr lang="en-US" sz="3200" dirty="0">
                <a:solidFill>
                  <a:srgbClr val="1A1D21"/>
                </a:solidFill>
                <a:latin typeface="Cambria" pitchFamily="34" charset="0"/>
                <a:ea typeface="Cambria" pitchFamily="34" charset="-122"/>
                <a:cs typeface="Cambria" pitchFamily="34" charset="-120"/>
              </a:rPr>
              <a:t>Where was the information, and why was it slow to use?</a:t>
            </a:r>
            <a:endParaRPr lang="en-US" sz="3200" dirty="0"/>
          </a:p>
        </p:txBody>
      </p:sp>
      <p:sp>
        <p:nvSpPr>
          <p:cNvPr id="4" name="Shape 2"/>
          <p:cNvSpPr/>
          <p:nvPr/>
        </p:nvSpPr>
        <p:spPr>
          <a:xfrm rot="-120000">
            <a:off x="640080" y="1828800"/>
            <a:ext cx="2103120" cy="1097280"/>
          </a:xfrm>
          <a:prstGeom prst="rect">
            <a:avLst/>
          </a:prstGeom>
          <a:solidFill>
            <a:srgbClr val="F4F4F1"/>
          </a:solidFill>
          <a:ln w="12700">
            <a:solidFill>
              <a:srgbClr val="B9BEC2"/>
            </a:solidFill>
            <a:prstDash val="solid"/>
          </a:ln>
          <a:effectLst>
            <a:outerShdw sx="100000" sy="100000" kx="0" ky="0" algn="bl" rotWithShape="0" blurRad="50800" dist="25400" dir="5400000">
              <a:srgbClr val="000000">
                <a:alpha val="12000"/>
              </a:srgbClr>
            </a:outerShdw>
          </a:effectLst>
        </p:spPr>
      </p:sp>
      <p:sp>
        <p:nvSpPr>
          <p:cNvPr id="5" name="Text 3"/>
          <p:cNvSpPr txBox="1"/>
          <p:nvPr/>
        </p:nvSpPr>
        <p:spPr>
          <a:xfrm rot="-120000">
            <a:off x="777240" y="1965960"/>
            <a:ext cx="1828800" cy="822960"/>
          </a:xfrm>
          <a:prstGeom prst="rect">
            <a:avLst/>
          </a:prstGeom>
          <a:noFill/>
          <a:ln/>
        </p:spPr>
        <p:txBody>
          <a:bodyPr wrap="square" lIns="0" tIns="0" rIns="0" bIns="0" rtlCol="0" anchor="t"/>
          <a:lstStyle/>
          <a:p>
            <a:pPr indent="0" marL="0">
              <a:buNone/>
            </a:pPr>
            <a:r>
              <a:rPr lang="en-US" sz="1600" b="1" dirty="0">
                <a:solidFill>
                  <a:srgbClr val="1A1D21"/>
                </a:solidFill>
                <a:latin typeface="Calibri" pitchFamily="34" charset="0"/>
                <a:ea typeface="Calibri" pitchFamily="34" charset="-122"/>
                <a:cs typeface="Calibri" pitchFamily="34" charset="-120"/>
              </a:rPr>
              <a:t>Production</a:t>
            </a:r>
            <a:endParaRPr lang="en-US" sz="1600" dirty="0"/>
          </a:p>
          <a:p>
            <a:pPr indent="0" marL="0">
              <a:buNone/>
            </a:pPr>
            <a:r>
              <a:rPr lang="en-US" sz="1100" dirty="0">
                <a:solidFill>
                  <a:srgbClr val="6B7278"/>
                </a:solidFill>
                <a:latin typeface="Calibri" pitchFamily="34" charset="0"/>
                <a:ea typeface="Calibri" pitchFamily="34" charset="-122"/>
                <a:cs typeface="Calibri" pitchFamily="34" charset="-120"/>
              </a:rPr>
              <a:t>Output, shift, line</a:t>
            </a:r>
            <a:endParaRPr lang="en-US" sz="1600" dirty="0"/>
          </a:p>
        </p:txBody>
      </p:sp>
      <p:sp>
        <p:nvSpPr>
          <p:cNvPr id="6" name="Shape 4"/>
          <p:cNvSpPr/>
          <p:nvPr/>
        </p:nvSpPr>
        <p:spPr>
          <a:xfrm rot="180000">
            <a:off x="2971800" y="2148840"/>
            <a:ext cx="2103120" cy="1097280"/>
          </a:xfrm>
          <a:prstGeom prst="rect">
            <a:avLst/>
          </a:prstGeom>
          <a:solidFill>
            <a:srgbClr val="F4F4F1"/>
          </a:solidFill>
          <a:ln w="12700">
            <a:solidFill>
              <a:srgbClr val="B9BEC2"/>
            </a:solidFill>
            <a:prstDash val="solid"/>
          </a:ln>
          <a:effectLst>
            <a:outerShdw sx="100000" sy="100000" kx="0" ky="0" algn="bl" rotWithShape="0" blurRad="50800" dist="25400" dir="5400000">
              <a:srgbClr val="000000">
                <a:alpha val="12000"/>
              </a:srgbClr>
            </a:outerShdw>
          </a:effectLst>
        </p:spPr>
      </p:sp>
      <p:sp>
        <p:nvSpPr>
          <p:cNvPr id="7" name="Text 5"/>
          <p:cNvSpPr txBox="1"/>
          <p:nvPr/>
        </p:nvSpPr>
        <p:spPr>
          <a:xfrm rot="180000">
            <a:off x="3108960" y="2286000"/>
            <a:ext cx="1828800" cy="822960"/>
          </a:xfrm>
          <a:prstGeom prst="rect">
            <a:avLst/>
          </a:prstGeom>
          <a:noFill/>
          <a:ln/>
        </p:spPr>
        <p:txBody>
          <a:bodyPr wrap="square" lIns="0" tIns="0" rIns="0" bIns="0" rtlCol="0" anchor="t"/>
          <a:lstStyle/>
          <a:p>
            <a:pPr indent="0" marL="0">
              <a:buNone/>
            </a:pPr>
            <a:r>
              <a:rPr lang="en-US" sz="1600" b="1" dirty="0">
                <a:solidFill>
                  <a:srgbClr val="1A1D21"/>
                </a:solidFill>
                <a:latin typeface="Calibri" pitchFamily="34" charset="0"/>
                <a:ea typeface="Calibri" pitchFamily="34" charset="-122"/>
                <a:cs typeface="Calibri" pitchFamily="34" charset="-120"/>
              </a:rPr>
              <a:t>Quality</a:t>
            </a:r>
            <a:endParaRPr lang="en-US" sz="1600" dirty="0"/>
          </a:p>
          <a:p>
            <a:pPr indent="0" marL="0">
              <a:buNone/>
            </a:pPr>
            <a:r>
              <a:rPr lang="en-US" sz="1100" dirty="0">
                <a:solidFill>
                  <a:srgbClr val="6B7278"/>
                </a:solidFill>
                <a:latin typeface="Calibri" pitchFamily="34" charset="0"/>
                <a:ea typeface="Calibri" pitchFamily="34" charset="-122"/>
                <a:cs typeface="Calibri" pitchFamily="34" charset="-120"/>
              </a:rPr>
              <a:t>Checks, rejections</a:t>
            </a:r>
            <a:endParaRPr lang="en-US" sz="1600" dirty="0"/>
          </a:p>
        </p:txBody>
      </p:sp>
      <p:sp>
        <p:nvSpPr>
          <p:cNvPr id="8" name="Shape 6"/>
          <p:cNvSpPr/>
          <p:nvPr/>
        </p:nvSpPr>
        <p:spPr>
          <a:xfrm rot="120000">
            <a:off x="868680" y="3429000"/>
            <a:ext cx="2103120" cy="1097280"/>
          </a:xfrm>
          <a:prstGeom prst="rect">
            <a:avLst/>
          </a:prstGeom>
          <a:solidFill>
            <a:srgbClr val="F4F4F1"/>
          </a:solidFill>
          <a:ln w="12700">
            <a:solidFill>
              <a:srgbClr val="B9BEC2"/>
            </a:solidFill>
            <a:prstDash val="solid"/>
          </a:ln>
          <a:effectLst>
            <a:outerShdw sx="100000" sy="100000" kx="0" ky="0" algn="bl" rotWithShape="0" blurRad="50800" dist="25400" dir="5400000">
              <a:srgbClr val="000000">
                <a:alpha val="12000"/>
              </a:srgbClr>
            </a:outerShdw>
          </a:effectLst>
        </p:spPr>
      </p:sp>
      <p:sp>
        <p:nvSpPr>
          <p:cNvPr id="9" name="Text 7"/>
          <p:cNvSpPr txBox="1"/>
          <p:nvPr/>
        </p:nvSpPr>
        <p:spPr>
          <a:xfrm rot="120000">
            <a:off x="1005840" y="3566160"/>
            <a:ext cx="1828800" cy="822960"/>
          </a:xfrm>
          <a:prstGeom prst="rect">
            <a:avLst/>
          </a:prstGeom>
          <a:noFill/>
          <a:ln/>
        </p:spPr>
        <p:txBody>
          <a:bodyPr wrap="square" lIns="0" tIns="0" rIns="0" bIns="0" rtlCol="0" anchor="t"/>
          <a:lstStyle/>
          <a:p>
            <a:pPr indent="0" marL="0">
              <a:buNone/>
            </a:pPr>
            <a:r>
              <a:rPr lang="en-US" sz="1600" b="1" dirty="0">
                <a:solidFill>
                  <a:srgbClr val="1A1D21"/>
                </a:solidFill>
                <a:latin typeface="Calibri" pitchFamily="34" charset="0"/>
                <a:ea typeface="Calibri" pitchFamily="34" charset="-122"/>
                <a:cs typeface="Calibri" pitchFamily="34" charset="-120"/>
              </a:rPr>
              <a:t>Material</a:t>
            </a:r>
            <a:endParaRPr lang="en-US" sz="1600" dirty="0"/>
          </a:p>
          <a:p>
            <a:pPr indent="0" marL="0">
              <a:buNone/>
            </a:pPr>
            <a:r>
              <a:rPr lang="en-US" sz="1100" dirty="0">
                <a:solidFill>
                  <a:srgbClr val="6B7278"/>
                </a:solidFill>
                <a:latin typeface="Calibri" pitchFamily="34" charset="0"/>
                <a:ea typeface="Calibri" pitchFamily="34" charset="-122"/>
                <a:cs typeface="Calibri" pitchFamily="34" charset="-120"/>
              </a:rPr>
              <a:t>Lots issued</a:t>
            </a:r>
            <a:endParaRPr lang="en-US" sz="1600" dirty="0"/>
          </a:p>
        </p:txBody>
      </p:sp>
      <p:sp>
        <p:nvSpPr>
          <p:cNvPr id="10" name="Shape 8"/>
          <p:cNvSpPr/>
          <p:nvPr/>
        </p:nvSpPr>
        <p:spPr>
          <a:xfrm rot="-180000">
            <a:off x="3246120" y="3657600"/>
            <a:ext cx="2103120" cy="1097280"/>
          </a:xfrm>
          <a:prstGeom prst="rect">
            <a:avLst/>
          </a:prstGeom>
          <a:solidFill>
            <a:srgbClr val="F4F4F1"/>
          </a:solidFill>
          <a:ln w="12700">
            <a:solidFill>
              <a:srgbClr val="B9BEC2"/>
            </a:solidFill>
            <a:prstDash val="solid"/>
          </a:ln>
          <a:effectLst>
            <a:outerShdw sx="100000" sy="100000" kx="0" ky="0" algn="bl" rotWithShape="0" blurRad="50800" dist="25400" dir="5400000">
              <a:srgbClr val="000000">
                <a:alpha val="12000"/>
              </a:srgbClr>
            </a:outerShdw>
          </a:effectLst>
        </p:spPr>
      </p:sp>
      <p:sp>
        <p:nvSpPr>
          <p:cNvPr id="11" name="Text 9"/>
          <p:cNvSpPr txBox="1"/>
          <p:nvPr/>
        </p:nvSpPr>
        <p:spPr>
          <a:xfrm rot="-180000">
            <a:off x="3383280" y="3794760"/>
            <a:ext cx="1828800" cy="822960"/>
          </a:xfrm>
          <a:prstGeom prst="rect">
            <a:avLst/>
          </a:prstGeom>
          <a:noFill/>
          <a:ln/>
        </p:spPr>
        <p:txBody>
          <a:bodyPr wrap="square" lIns="0" tIns="0" rIns="0" bIns="0" rtlCol="0" anchor="t"/>
          <a:lstStyle/>
          <a:p>
            <a:pPr indent="0" marL="0">
              <a:buNone/>
            </a:pPr>
            <a:r>
              <a:rPr lang="en-US" sz="1600" b="1" dirty="0">
                <a:solidFill>
                  <a:srgbClr val="1A1D21"/>
                </a:solidFill>
                <a:latin typeface="Calibri" pitchFamily="34" charset="0"/>
                <a:ea typeface="Calibri" pitchFamily="34" charset="-122"/>
                <a:cs typeface="Calibri" pitchFamily="34" charset="-120"/>
              </a:rPr>
              <a:t>Downtime</a:t>
            </a:r>
            <a:endParaRPr lang="en-US" sz="1600" dirty="0"/>
          </a:p>
          <a:p>
            <a:pPr indent="0" marL="0">
              <a:buNone/>
            </a:pPr>
            <a:r>
              <a:rPr lang="en-US" sz="1100" dirty="0">
                <a:solidFill>
                  <a:srgbClr val="6B7278"/>
                </a:solidFill>
                <a:latin typeface="Calibri" pitchFamily="34" charset="0"/>
                <a:ea typeface="Calibri" pitchFamily="34" charset="-122"/>
                <a:cs typeface="Calibri" pitchFamily="34" charset="-120"/>
              </a:rPr>
              <a:t>Stops &amp; reasons</a:t>
            </a:r>
            <a:endParaRPr lang="en-US" sz="1600" dirty="0"/>
          </a:p>
        </p:txBody>
      </p:sp>
      <p:sp>
        <p:nvSpPr>
          <p:cNvPr id="12" name="Shape 10"/>
          <p:cNvSpPr/>
          <p:nvPr/>
        </p:nvSpPr>
        <p:spPr>
          <a:xfrm rot="60000">
            <a:off x="1920240" y="4846320"/>
            <a:ext cx="2103120" cy="1097280"/>
          </a:xfrm>
          <a:prstGeom prst="rect">
            <a:avLst/>
          </a:prstGeom>
          <a:solidFill>
            <a:srgbClr val="F4F4F1"/>
          </a:solidFill>
          <a:ln w="12700">
            <a:solidFill>
              <a:srgbClr val="B9BEC2"/>
            </a:solidFill>
            <a:prstDash val="solid"/>
          </a:ln>
          <a:effectLst>
            <a:outerShdw sx="100000" sy="100000" kx="0" ky="0" algn="bl" rotWithShape="0" blurRad="50800" dist="25400" dir="5400000">
              <a:srgbClr val="000000">
                <a:alpha val="12000"/>
              </a:srgbClr>
            </a:outerShdw>
          </a:effectLst>
        </p:spPr>
      </p:sp>
      <p:sp>
        <p:nvSpPr>
          <p:cNvPr id="13" name="Text 11"/>
          <p:cNvSpPr txBox="1"/>
          <p:nvPr/>
        </p:nvSpPr>
        <p:spPr>
          <a:xfrm rot="60000">
            <a:off x="2057400" y="4983480"/>
            <a:ext cx="1828800" cy="822960"/>
          </a:xfrm>
          <a:prstGeom prst="rect">
            <a:avLst/>
          </a:prstGeom>
          <a:noFill/>
          <a:ln/>
        </p:spPr>
        <p:txBody>
          <a:bodyPr wrap="square" lIns="0" tIns="0" rIns="0" bIns="0" rtlCol="0" anchor="t"/>
          <a:lstStyle/>
          <a:p>
            <a:pPr indent="0" marL="0">
              <a:buNone/>
            </a:pPr>
            <a:r>
              <a:rPr lang="en-US" sz="1600" b="1" dirty="0">
                <a:solidFill>
                  <a:srgbClr val="1A1D21"/>
                </a:solidFill>
                <a:latin typeface="Calibri" pitchFamily="34" charset="0"/>
                <a:ea typeface="Calibri" pitchFamily="34" charset="-122"/>
                <a:cs typeface="Calibri" pitchFamily="34" charset="-120"/>
              </a:rPr>
              <a:t>Dispatch</a:t>
            </a:r>
            <a:endParaRPr lang="en-US" sz="1600" dirty="0"/>
          </a:p>
          <a:p>
            <a:pPr indent="0" marL="0">
              <a:buNone/>
            </a:pPr>
            <a:r>
              <a:rPr lang="en-US" sz="1100" dirty="0">
                <a:solidFill>
                  <a:srgbClr val="6B7278"/>
                </a:solidFill>
                <a:latin typeface="Calibri" pitchFamily="34" charset="0"/>
                <a:ea typeface="Calibri" pitchFamily="34" charset="-122"/>
                <a:cs typeface="Calibri" pitchFamily="34" charset="-120"/>
              </a:rPr>
              <a:t>Customer, quantity</a:t>
            </a:r>
            <a:endParaRPr lang="en-US" sz="1600" dirty="0"/>
          </a:p>
        </p:txBody>
      </p:sp>
      <p:sp>
        <p:nvSpPr>
          <p:cNvPr id="14" name="Text 12"/>
          <p:cNvSpPr txBox="1"/>
          <p:nvPr/>
        </p:nvSpPr>
        <p:spPr>
          <a:xfrm>
            <a:off x="640080" y="6172200"/>
            <a:ext cx="3657600" cy="274320"/>
          </a:xfrm>
          <a:prstGeom prst="rect">
            <a:avLst/>
          </a:prstGeom>
          <a:noFill/>
          <a:ln/>
        </p:spPr>
        <p:txBody>
          <a:bodyPr wrap="square" lIns="0" tIns="0" rIns="0" bIns="0" rtlCol="0" anchor="ctr"/>
          <a:lstStyle/>
          <a:p>
            <a:pPr indent="0" marL="0">
              <a:buNone/>
            </a:pPr>
            <a:r>
              <a:rPr lang="en-US" sz="1000" i="1" dirty="0">
                <a:solidFill>
                  <a:srgbClr val="6B7278"/>
                </a:solidFill>
                <a:latin typeface="Calibri" pitchFamily="34" charset="0"/>
                <a:ea typeface="Calibri" pitchFamily="34" charset="-122"/>
                <a:cs typeface="Calibri" pitchFamily="34" charset="-120"/>
              </a:rPr>
              <a:t>Separate registers</a:t>
            </a:r>
            <a:endParaRPr lang="en-US" sz="1000" dirty="0"/>
          </a:p>
        </p:txBody>
      </p:sp>
      <p:sp>
        <p:nvSpPr>
          <p:cNvPr id="15" name="Shape 13"/>
          <p:cNvSpPr/>
          <p:nvPr/>
        </p:nvSpPr>
        <p:spPr>
          <a:xfrm>
            <a:off x="6492240" y="1874520"/>
            <a:ext cx="3017520" cy="621792"/>
          </a:xfrm>
          <a:prstGeom prst="rect">
            <a:avLst/>
          </a:prstGeom>
          <a:solidFill>
            <a:srgbClr val="121518"/>
          </a:solidFill>
          <a:ln/>
        </p:spPr>
      </p:sp>
      <p:sp>
        <p:nvSpPr>
          <p:cNvPr id="16" name="Text 14"/>
          <p:cNvSpPr txBox="1"/>
          <p:nvPr/>
        </p:nvSpPr>
        <p:spPr>
          <a:xfrm>
            <a:off x="6492240" y="1874520"/>
            <a:ext cx="3017520"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Manual searching</a:t>
            </a:r>
            <a:endParaRPr lang="en-US" sz="1500" dirty="0"/>
          </a:p>
        </p:txBody>
      </p:sp>
      <p:sp>
        <p:nvSpPr>
          <p:cNvPr id="17" name="Text 15"/>
          <p:cNvSpPr txBox="1"/>
          <p:nvPr/>
        </p:nvSpPr>
        <p:spPr>
          <a:xfrm>
            <a:off x="6492240" y="2478024"/>
            <a:ext cx="3017520" cy="329184"/>
          </a:xfrm>
          <a:prstGeom prst="rect">
            <a:avLst/>
          </a:prstGeom>
          <a:noFill/>
          <a:ln/>
        </p:spPr>
        <p:txBody>
          <a:bodyPr wrap="square" lIns="0" tIns="0" rIns="0" bIns="0" rtlCol="0" anchor="ctr"/>
          <a:lstStyle/>
          <a:p>
            <a:pPr algn="ctr" indent="0" marL="0">
              <a:buNone/>
            </a:pPr>
            <a:r>
              <a:rPr lang="en-US" sz="1600" dirty="0">
                <a:solidFill>
                  <a:srgbClr val="6B7278"/>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6492240" y="2807208"/>
            <a:ext cx="3017520" cy="621792"/>
          </a:xfrm>
          <a:prstGeom prst="rect">
            <a:avLst/>
          </a:prstGeom>
          <a:solidFill>
            <a:srgbClr val="121518"/>
          </a:solidFill>
          <a:ln/>
        </p:spPr>
      </p:sp>
      <p:sp>
        <p:nvSpPr>
          <p:cNvPr id="19" name="Text 17"/>
          <p:cNvSpPr txBox="1"/>
          <p:nvPr/>
        </p:nvSpPr>
        <p:spPr>
          <a:xfrm>
            <a:off x="6492240" y="2807208"/>
            <a:ext cx="3017520"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Manual consolidation</a:t>
            </a:r>
            <a:endParaRPr lang="en-US" sz="1500" dirty="0"/>
          </a:p>
        </p:txBody>
      </p:sp>
      <p:sp>
        <p:nvSpPr>
          <p:cNvPr id="20" name="Text 18"/>
          <p:cNvSpPr txBox="1"/>
          <p:nvPr/>
        </p:nvSpPr>
        <p:spPr>
          <a:xfrm>
            <a:off x="6492240" y="3410712"/>
            <a:ext cx="3017520" cy="329184"/>
          </a:xfrm>
          <a:prstGeom prst="rect">
            <a:avLst/>
          </a:prstGeom>
          <a:noFill/>
          <a:ln/>
        </p:spPr>
        <p:txBody>
          <a:bodyPr wrap="square" lIns="0" tIns="0" rIns="0" bIns="0" rtlCol="0" anchor="ctr"/>
          <a:lstStyle/>
          <a:p>
            <a:pPr algn="ctr" indent="0" marL="0">
              <a:buNone/>
            </a:pPr>
            <a:r>
              <a:rPr lang="en-US" sz="1600" dirty="0">
                <a:solidFill>
                  <a:srgbClr val="6B7278"/>
                </a:solidFill>
                <a:latin typeface="Calibri" pitchFamily="34" charset="0"/>
                <a:ea typeface="Calibri" pitchFamily="34" charset="-122"/>
                <a:cs typeface="Calibri" pitchFamily="34" charset="-120"/>
              </a:rPr>
              <a:t>↓</a:t>
            </a:r>
            <a:endParaRPr lang="en-US" sz="1600" dirty="0"/>
          </a:p>
        </p:txBody>
      </p:sp>
      <p:sp>
        <p:nvSpPr>
          <p:cNvPr id="21" name="Shape 19"/>
          <p:cNvSpPr/>
          <p:nvPr/>
        </p:nvSpPr>
        <p:spPr>
          <a:xfrm>
            <a:off x="6492240" y="3739896"/>
            <a:ext cx="3017520" cy="621792"/>
          </a:xfrm>
          <a:prstGeom prst="rect">
            <a:avLst/>
          </a:prstGeom>
          <a:solidFill>
            <a:srgbClr val="121518"/>
          </a:solidFill>
          <a:ln/>
        </p:spPr>
      </p:sp>
      <p:sp>
        <p:nvSpPr>
          <p:cNvPr id="22" name="Text 20"/>
          <p:cNvSpPr txBox="1"/>
          <p:nvPr/>
        </p:nvSpPr>
        <p:spPr>
          <a:xfrm>
            <a:off x="6492240" y="3739896"/>
            <a:ext cx="3017520"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Delayed investigation</a:t>
            </a:r>
            <a:endParaRPr lang="en-US" sz="1500" dirty="0"/>
          </a:p>
        </p:txBody>
      </p:sp>
      <p:sp>
        <p:nvSpPr>
          <p:cNvPr id="23" name="Text 21"/>
          <p:cNvSpPr txBox="1"/>
          <p:nvPr/>
        </p:nvSpPr>
        <p:spPr>
          <a:xfrm>
            <a:off x="6492240" y="4343400"/>
            <a:ext cx="3017520" cy="329184"/>
          </a:xfrm>
          <a:prstGeom prst="rect">
            <a:avLst/>
          </a:prstGeom>
          <a:noFill/>
          <a:ln/>
        </p:spPr>
        <p:txBody>
          <a:bodyPr wrap="square" lIns="0" tIns="0" rIns="0" bIns="0" rtlCol="0" anchor="ctr"/>
          <a:lstStyle/>
          <a:p>
            <a:pPr algn="ctr" indent="0" marL="0">
              <a:buNone/>
            </a:pPr>
            <a:r>
              <a:rPr lang="en-US" sz="1600" dirty="0">
                <a:solidFill>
                  <a:srgbClr val="6B7278"/>
                </a:solidFill>
                <a:latin typeface="Calibri" pitchFamily="34" charset="0"/>
                <a:ea typeface="Calibri" pitchFamily="34" charset="-122"/>
                <a:cs typeface="Calibri" pitchFamily="34" charset="-120"/>
              </a:rPr>
              <a:t>↓</a:t>
            </a:r>
            <a:endParaRPr lang="en-US" sz="1600" dirty="0"/>
          </a:p>
        </p:txBody>
      </p:sp>
      <p:sp>
        <p:nvSpPr>
          <p:cNvPr id="24" name="Shape 22"/>
          <p:cNvSpPr/>
          <p:nvPr/>
        </p:nvSpPr>
        <p:spPr>
          <a:xfrm>
            <a:off x="6492240" y="4672584"/>
            <a:ext cx="3017520" cy="621792"/>
          </a:xfrm>
          <a:prstGeom prst="rect">
            <a:avLst/>
          </a:prstGeom>
          <a:solidFill>
            <a:srgbClr val="E0561F"/>
          </a:solidFill>
          <a:ln/>
        </p:spPr>
      </p:sp>
      <p:sp>
        <p:nvSpPr>
          <p:cNvPr id="25" name="Text 23"/>
          <p:cNvSpPr txBox="1"/>
          <p:nvPr/>
        </p:nvSpPr>
        <p:spPr>
          <a:xfrm>
            <a:off x="6492240" y="4672584"/>
            <a:ext cx="3017520" cy="62179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Limited visibility</a:t>
            </a:r>
            <a:endParaRPr lang="en-US" sz="1500" dirty="0"/>
          </a:p>
        </p:txBody>
      </p:sp>
      <p:sp>
        <p:nvSpPr>
          <p:cNvPr id="26" name="Text 24"/>
          <p:cNvSpPr txBox="1"/>
          <p:nvPr/>
        </p:nvSpPr>
        <p:spPr>
          <a:xfrm>
            <a:off x="9829800" y="1874520"/>
            <a:ext cx="1920240" cy="3566160"/>
          </a:xfrm>
          <a:prstGeom prst="rect">
            <a:avLst/>
          </a:prstGeom>
          <a:noFill/>
          <a:ln/>
        </p:spPr>
        <p:txBody>
          <a:bodyPr wrap="square" lIns="0" tIns="0" rIns="0" bIns="0" rtlCol="0" anchor="t"/>
          <a:lstStyle/>
          <a:p>
            <a:pPr indent="0" marL="0">
              <a:buNone/>
            </a:pPr>
            <a:r>
              <a:rPr lang="en-US" sz="1300" b="1" dirty="0">
                <a:solidFill>
                  <a:srgbClr val="1A1D21"/>
                </a:solidFill>
                <a:latin typeface="Calibri" pitchFamily="34" charset="0"/>
                <a:ea typeface="Calibri" pitchFamily="34" charset="-122"/>
                <a:cs typeface="Calibri" pitchFamily="34" charset="-120"/>
              </a:rPr>
              <a:t>Not an absence-of-data problem.</a:t>
            </a:r>
            <a:endParaRPr lang="en-US" sz="1300" dirty="0"/>
          </a:p>
          <a:p>
            <a:pPr indent="0" marL="0">
              <a:buNone/>
            </a:pPr>
            <a:r>
              <a:rPr lang="en-US" sz="1300" dirty="0">
                <a:solidFill>
                  <a:srgbClr val="3E4750"/>
                </a:solidFill>
                <a:latin typeface="Calibri" pitchFamily="34" charset="0"/>
                <a:ea typeface="Calibri" pitchFamily="34" charset="-122"/>
                <a:cs typeface="Calibri" pitchFamily="34" charset="-120"/>
              </a:rPr>
              <a:t>A data-structure and information-flow problem: no common key, no automatic link between registers.</a:t>
            </a:r>
            <a:endParaRPr lang="en-US" sz="1300" dirty="0"/>
          </a:p>
        </p:txBody>
      </p:sp>
      <p:sp>
        <p:nvSpPr>
          <p:cNvPr id="27" name="Text 25"/>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4F1"/>
        </a:solidFill>
      </p:bgPr>
    </p:bg>
    <p:spTree>
      <p:nvGrpSpPr>
        <p:cNvPr id="1" name=""/>
        <p:cNvGrpSpPr/>
        <p:nvPr/>
      </p:nvGrpSpPr>
      <p:grpSpPr>
        <a:xfrm>
          <a:off x="0" y="0"/>
          <a:ext cx="0" cy="0"/>
          <a:chOff x="0" y="0"/>
          <a:chExt cx="0" cy="0"/>
        </a:xfrm>
      </p:grpSpPr>
      <p:pic>
        <p:nvPicPr>
          <p:cNvPr id="2" name="Image 0" descr="/home/user/master-executive-system/sip-presentation/source/photos/4.jpg">    </p:cNvPr>
          <p:cNvPicPr>
            <a:picLocks noChangeAspect="1"/>
          </p:cNvPicPr>
          <p:nvPr/>
        </p:nvPicPr>
        <p:blipFill>
          <a:blip r:embed="rId1"/>
          <a:srcRect l="0" r="0" t="0" b="0"/>
          <a:stretch/>
        </p:blipFill>
        <p:spPr>
          <a:xfrm>
            <a:off x="0" y="0"/>
            <a:ext cx="3383280" cy="6858000"/>
          </a:xfrm>
          <a:prstGeom prst="rect">
            <a:avLst/>
          </a:prstGeom>
        </p:spPr>
      </p:pic>
      <p:sp>
        <p:nvSpPr>
          <p:cNvPr id="3" name="Shape 0"/>
          <p:cNvSpPr/>
          <p:nvPr/>
        </p:nvSpPr>
        <p:spPr>
          <a:xfrm>
            <a:off x="0" y="6172200"/>
            <a:ext cx="3383280" cy="685800"/>
          </a:xfrm>
          <a:prstGeom prst="rect">
            <a:avLst/>
          </a:prstGeom>
          <a:solidFill>
            <a:srgbClr val="000000">
              <a:alpha val="65000"/>
            </a:srgbClr>
          </a:solidFill>
          <a:ln/>
        </p:spPr>
      </p:sp>
      <p:sp>
        <p:nvSpPr>
          <p:cNvPr id="4" name="Text 1"/>
          <p:cNvSpPr txBox="1"/>
          <p:nvPr/>
        </p:nvSpPr>
        <p:spPr>
          <a:xfrm>
            <a:off x="228600" y="6355080"/>
            <a:ext cx="3017520" cy="27432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Main toothpaste line, paste plant</a:t>
            </a:r>
            <a:endParaRPr lang="en-US" sz="1000" dirty="0"/>
          </a:p>
        </p:txBody>
      </p:sp>
      <p:sp>
        <p:nvSpPr>
          <p:cNvPr id="5" name="Text 2"/>
          <p:cNvSpPr txBox="1"/>
          <p:nvPr/>
        </p:nvSpPr>
        <p:spPr>
          <a:xfrm>
            <a:off x="388620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05</a:t>
            </a:r>
            <a:pPr indent="0" marL="0">
              <a:buNone/>
            </a:pPr>
            <a:r>
              <a:rPr lang="en-US" sz="1050" spc="300" kern="0" dirty="0">
                <a:solidFill>
                  <a:srgbClr val="6B7278"/>
                </a:solidFill>
                <a:latin typeface="Calibri" pitchFamily="34" charset="0"/>
                <a:ea typeface="Calibri" pitchFamily="34" charset="-122"/>
                <a:cs typeface="Calibri" pitchFamily="34" charset="-120"/>
              </a:rPr>
              <a:t>   THE LINE STUDY</a:t>
            </a:r>
            <a:endParaRPr lang="en-US" sz="1050" dirty="0"/>
          </a:p>
        </p:txBody>
      </p:sp>
      <p:sp>
        <p:nvSpPr>
          <p:cNvPr id="6" name="Text 3"/>
          <p:cNvSpPr txBox="1"/>
          <p:nvPr/>
        </p:nvSpPr>
        <p:spPr>
          <a:xfrm>
            <a:off x="3886200" y="713232"/>
            <a:ext cx="7754112" cy="822960"/>
          </a:xfrm>
          <a:prstGeom prst="rect">
            <a:avLst/>
          </a:prstGeom>
          <a:noFill/>
          <a:ln/>
        </p:spPr>
        <p:txBody>
          <a:bodyPr wrap="square" lIns="0" tIns="0" rIns="0" bIns="0" rtlCol="0" anchor="t"/>
          <a:lstStyle/>
          <a:p>
            <a:pPr indent="0" marL="0">
              <a:buNone/>
            </a:pPr>
            <a:r>
              <a:rPr lang="en-US" sz="3000" dirty="0">
                <a:solidFill>
                  <a:srgbClr val="1A1D21"/>
                </a:solidFill>
                <a:latin typeface="Cambria" pitchFamily="34" charset="0"/>
                <a:ea typeface="Cambria" pitchFamily="34" charset="-122"/>
                <a:cs typeface="Cambria" pitchFamily="34" charset="-120"/>
              </a:rPr>
              <a:t>What did twelve hours on one line show me?</a:t>
            </a:r>
            <a:endParaRPr lang="en-US" sz="3000" dirty="0"/>
          </a:p>
        </p:txBody>
      </p:sp>
      <p:sp>
        <p:nvSpPr>
          <p:cNvPr id="7" name="Shape 4"/>
          <p:cNvSpPr/>
          <p:nvPr/>
        </p:nvSpPr>
        <p:spPr>
          <a:xfrm>
            <a:off x="3886200" y="2103120"/>
            <a:ext cx="7269480" cy="777240"/>
          </a:xfrm>
          <a:prstGeom prst="rect">
            <a:avLst/>
          </a:prstGeom>
          <a:solidFill>
            <a:srgbClr val="121518"/>
          </a:solidFill>
          <a:ln w="12700">
            <a:solidFill>
              <a:srgbClr val="F4F4F1"/>
            </a:solidFill>
            <a:prstDash val="solid"/>
          </a:ln>
        </p:spPr>
      </p:sp>
      <p:sp>
        <p:nvSpPr>
          <p:cNvPr id="8" name="Shape 5"/>
          <p:cNvSpPr/>
          <p:nvPr/>
        </p:nvSpPr>
        <p:spPr>
          <a:xfrm>
            <a:off x="11155680" y="2103120"/>
            <a:ext cx="323088" cy="777240"/>
          </a:xfrm>
          <a:prstGeom prst="rect">
            <a:avLst/>
          </a:prstGeom>
          <a:solidFill>
            <a:srgbClr val="E0561F"/>
          </a:solidFill>
          <a:ln w="12700">
            <a:solidFill>
              <a:srgbClr val="F4F4F1"/>
            </a:solidFill>
            <a:prstDash val="solid"/>
          </a:ln>
        </p:spPr>
      </p:sp>
      <p:sp>
        <p:nvSpPr>
          <p:cNvPr id="9" name="Shape 6"/>
          <p:cNvSpPr/>
          <p:nvPr/>
        </p:nvSpPr>
        <p:spPr>
          <a:xfrm>
            <a:off x="11478768" y="2103120"/>
            <a:ext cx="161544" cy="777240"/>
          </a:xfrm>
          <a:prstGeom prst="rect">
            <a:avLst/>
          </a:prstGeom>
          <a:solidFill>
            <a:srgbClr val="F09A6E"/>
          </a:solidFill>
          <a:ln w="12700">
            <a:solidFill>
              <a:srgbClr val="F4F4F1"/>
            </a:solidFill>
            <a:prstDash val="solid"/>
          </a:ln>
        </p:spPr>
      </p:sp>
      <p:sp>
        <p:nvSpPr>
          <p:cNvPr id="10" name="Text 7"/>
          <p:cNvSpPr txBox="1"/>
          <p:nvPr/>
        </p:nvSpPr>
        <p:spPr>
          <a:xfrm>
            <a:off x="4069080" y="2103120"/>
            <a:ext cx="4572000" cy="7772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675 effective minutes</a:t>
            </a:r>
            <a:endParaRPr lang="en-US" sz="1500" dirty="0"/>
          </a:p>
        </p:txBody>
      </p:sp>
      <p:sp>
        <p:nvSpPr>
          <p:cNvPr id="11" name="Text 8"/>
          <p:cNvSpPr txBox="1"/>
          <p:nvPr/>
        </p:nvSpPr>
        <p:spPr>
          <a:xfrm>
            <a:off x="10607040" y="2953512"/>
            <a:ext cx="1097280" cy="274320"/>
          </a:xfrm>
          <a:prstGeom prst="rect">
            <a:avLst/>
          </a:prstGeom>
          <a:noFill/>
          <a:ln/>
        </p:spPr>
        <p:txBody>
          <a:bodyPr wrap="square" lIns="0" tIns="0" rIns="0" bIns="0" rtlCol="0" anchor="ctr"/>
          <a:lstStyle/>
          <a:p>
            <a:pPr algn="ctr" indent="0" marL="0">
              <a:buNone/>
            </a:pPr>
            <a:r>
              <a:rPr lang="en-US" sz="1100" b="1" dirty="0">
                <a:solidFill>
                  <a:srgbClr val="E0561F"/>
                </a:solidFill>
                <a:latin typeface="Calibri" pitchFamily="34" charset="0"/>
                <a:ea typeface="Calibri" pitchFamily="34" charset="-122"/>
                <a:cs typeface="Calibri" pitchFamily="34" charset="-120"/>
              </a:rPr>
              <a:t>Lunch 30</a:t>
            </a:r>
            <a:endParaRPr lang="en-US" sz="1100" dirty="0"/>
          </a:p>
        </p:txBody>
      </p:sp>
      <p:sp>
        <p:nvSpPr>
          <p:cNvPr id="12" name="Text 9"/>
          <p:cNvSpPr txBox="1"/>
          <p:nvPr/>
        </p:nvSpPr>
        <p:spPr>
          <a:xfrm>
            <a:off x="10817352" y="1792224"/>
            <a:ext cx="822960" cy="274320"/>
          </a:xfrm>
          <a:prstGeom prst="rect">
            <a:avLst/>
          </a:prstGeom>
          <a:noFill/>
          <a:ln/>
        </p:spPr>
        <p:txBody>
          <a:bodyPr wrap="square" lIns="0" tIns="0" rIns="0" bIns="0" rtlCol="0" anchor="ctr"/>
          <a:lstStyle/>
          <a:p>
            <a:pPr algn="r" indent="0" marL="0">
              <a:buNone/>
            </a:pPr>
            <a:r>
              <a:rPr lang="en-US" sz="1100" b="1" dirty="0">
                <a:solidFill>
                  <a:srgbClr val="C8693C"/>
                </a:solidFill>
                <a:latin typeface="Calibri" pitchFamily="34" charset="0"/>
                <a:ea typeface="Calibri" pitchFamily="34" charset="-122"/>
                <a:cs typeface="Calibri" pitchFamily="34" charset="-120"/>
              </a:rPr>
              <a:t>Tea 15</a:t>
            </a:r>
            <a:endParaRPr lang="en-US" sz="1100" dirty="0"/>
          </a:p>
        </p:txBody>
      </p:sp>
      <p:sp>
        <p:nvSpPr>
          <p:cNvPr id="13" name="Text 10"/>
          <p:cNvSpPr txBox="1"/>
          <p:nvPr/>
        </p:nvSpPr>
        <p:spPr>
          <a:xfrm>
            <a:off x="3886200" y="1792224"/>
            <a:ext cx="2743200" cy="274320"/>
          </a:xfrm>
          <a:prstGeom prst="rect">
            <a:avLst/>
          </a:prstGeom>
          <a:noFill/>
          <a:ln/>
        </p:spPr>
        <p:txBody>
          <a:bodyPr wrap="square" lIns="0" tIns="0" rIns="0" bIns="0" rtlCol="0" anchor="ctr"/>
          <a:lstStyle/>
          <a:p>
            <a:pPr indent="0" marL="0">
              <a:buNone/>
            </a:pPr>
            <a:r>
              <a:rPr lang="en-US" sz="1000" dirty="0">
                <a:solidFill>
                  <a:srgbClr val="6B7278"/>
                </a:solidFill>
                <a:latin typeface="Calibri" pitchFamily="34" charset="0"/>
                <a:ea typeface="Calibri" pitchFamily="34" charset="-122"/>
                <a:cs typeface="Calibri" pitchFamily="34" charset="-120"/>
              </a:rPr>
              <a:t>Two shifts  ·  720 min</a:t>
            </a:r>
            <a:endParaRPr lang="en-US" sz="1000" dirty="0"/>
          </a:p>
        </p:txBody>
      </p:sp>
      <p:sp>
        <p:nvSpPr>
          <p:cNvPr id="14" name="Text 11"/>
          <p:cNvSpPr txBox="1"/>
          <p:nvPr/>
        </p:nvSpPr>
        <p:spPr>
          <a:xfrm>
            <a:off x="3886200" y="3520440"/>
            <a:ext cx="1051560" cy="685800"/>
          </a:xfrm>
          <a:prstGeom prst="rect">
            <a:avLst/>
          </a:prstGeom>
          <a:noFill/>
          <a:ln/>
        </p:spPr>
        <p:txBody>
          <a:bodyPr wrap="square" lIns="0" tIns="0" rIns="0" bIns="0" rtlCol="0" anchor="ctr"/>
          <a:lstStyle/>
          <a:p>
            <a:pPr indent="0" marL="0">
              <a:buNone/>
            </a:pPr>
            <a:r>
              <a:rPr lang="en-US" sz="3600" dirty="0">
                <a:solidFill>
                  <a:srgbClr val="1A1D21"/>
                </a:solidFill>
                <a:latin typeface="Cambria" pitchFamily="34" charset="0"/>
                <a:ea typeface="Cambria" pitchFamily="34" charset="-122"/>
                <a:cs typeface="Cambria" pitchFamily="34" charset="-120"/>
              </a:rPr>
              <a:t>720</a:t>
            </a:r>
            <a:endParaRPr lang="en-US" sz="3600" dirty="0"/>
          </a:p>
        </p:txBody>
      </p:sp>
      <p:sp>
        <p:nvSpPr>
          <p:cNvPr id="15" name="Text 12"/>
          <p:cNvSpPr txBox="1"/>
          <p:nvPr/>
        </p:nvSpPr>
        <p:spPr>
          <a:xfrm>
            <a:off x="3886200" y="4224528"/>
            <a:ext cx="1051560" cy="502920"/>
          </a:xfrm>
          <a:prstGeom prst="rect">
            <a:avLst/>
          </a:prstGeom>
          <a:noFill/>
          <a:ln/>
        </p:spPr>
        <p:txBody>
          <a:bodyPr wrap="square" lIns="0" tIns="0" rIns="0" bIns="0" rtlCol="0" anchor="t"/>
          <a:lstStyle/>
          <a:p>
            <a:pPr indent="0" marL="0">
              <a:buNone/>
            </a:pPr>
            <a:r>
              <a:rPr lang="en-US" sz="1100" dirty="0">
                <a:solidFill>
                  <a:srgbClr val="6B7278"/>
                </a:solidFill>
                <a:latin typeface="Calibri" pitchFamily="34" charset="0"/>
                <a:ea typeface="Calibri" pitchFamily="34" charset="-122"/>
                <a:cs typeface="Calibri" pitchFamily="34" charset="-120"/>
              </a:rPr>
              <a:t>minutes available</a:t>
            </a:r>
            <a:endParaRPr lang="en-US" sz="1100" dirty="0"/>
          </a:p>
        </p:txBody>
      </p:sp>
      <p:sp>
        <p:nvSpPr>
          <p:cNvPr id="16" name="Text 13"/>
          <p:cNvSpPr txBox="1"/>
          <p:nvPr/>
        </p:nvSpPr>
        <p:spPr>
          <a:xfrm>
            <a:off x="4892040" y="3520440"/>
            <a:ext cx="365760" cy="685800"/>
          </a:xfrm>
          <a:prstGeom prst="rect">
            <a:avLst/>
          </a:prstGeom>
          <a:noFill/>
          <a:ln/>
        </p:spPr>
        <p:txBody>
          <a:bodyPr wrap="square" lIns="0" tIns="0" rIns="0" bIns="0" rtlCol="0" anchor="ctr"/>
          <a:lstStyle/>
          <a:p>
            <a:pPr algn="ctr" indent="0" marL="0">
              <a:buNone/>
            </a:pPr>
            <a:r>
              <a:rPr lang="en-US" sz="2800" dirty="0">
                <a:solidFill>
                  <a:srgbClr val="6B7278"/>
                </a:solidFill>
                <a:latin typeface="Cambria" pitchFamily="34" charset="0"/>
                <a:ea typeface="Cambria" pitchFamily="34" charset="-122"/>
                <a:cs typeface="Cambria" pitchFamily="34" charset="-120"/>
              </a:rPr>
              <a:t>−</a:t>
            </a:r>
            <a:endParaRPr lang="en-US" sz="2800" dirty="0"/>
          </a:p>
        </p:txBody>
      </p:sp>
      <p:sp>
        <p:nvSpPr>
          <p:cNvPr id="17" name="Text 14"/>
          <p:cNvSpPr txBox="1"/>
          <p:nvPr/>
        </p:nvSpPr>
        <p:spPr>
          <a:xfrm>
            <a:off x="5303520" y="3520440"/>
            <a:ext cx="1097280" cy="685800"/>
          </a:xfrm>
          <a:prstGeom prst="rect">
            <a:avLst/>
          </a:prstGeom>
          <a:noFill/>
          <a:ln/>
        </p:spPr>
        <p:txBody>
          <a:bodyPr wrap="square" lIns="0" tIns="0" rIns="0" bIns="0" rtlCol="0" anchor="ctr"/>
          <a:lstStyle/>
          <a:p>
            <a:pPr indent="0" marL="0">
              <a:buNone/>
            </a:pPr>
            <a:r>
              <a:rPr lang="en-US" sz="3600" dirty="0">
                <a:solidFill>
                  <a:srgbClr val="E0561F"/>
                </a:solidFill>
                <a:latin typeface="Cambria" pitchFamily="34" charset="0"/>
                <a:ea typeface="Cambria" pitchFamily="34" charset="-122"/>
                <a:cs typeface="Cambria" pitchFamily="34" charset="-120"/>
              </a:rPr>
              <a:t>45</a:t>
            </a:r>
            <a:endParaRPr lang="en-US" sz="3600" dirty="0"/>
          </a:p>
        </p:txBody>
      </p:sp>
      <p:sp>
        <p:nvSpPr>
          <p:cNvPr id="18" name="Text 15"/>
          <p:cNvSpPr txBox="1"/>
          <p:nvPr/>
        </p:nvSpPr>
        <p:spPr>
          <a:xfrm>
            <a:off x="5303520" y="4224528"/>
            <a:ext cx="1097280" cy="502920"/>
          </a:xfrm>
          <a:prstGeom prst="rect">
            <a:avLst/>
          </a:prstGeom>
          <a:noFill/>
          <a:ln/>
        </p:spPr>
        <p:txBody>
          <a:bodyPr wrap="square" lIns="0" tIns="0" rIns="0" bIns="0" rtlCol="0" anchor="t"/>
          <a:lstStyle/>
          <a:p>
            <a:pPr indent="0" marL="0">
              <a:buNone/>
            </a:pPr>
            <a:r>
              <a:rPr lang="en-US" sz="1100" dirty="0">
                <a:solidFill>
                  <a:srgbClr val="6B7278"/>
                </a:solidFill>
                <a:latin typeface="Calibri" pitchFamily="34" charset="0"/>
                <a:ea typeface="Calibri" pitchFamily="34" charset="-122"/>
                <a:cs typeface="Calibri" pitchFamily="34" charset="-120"/>
              </a:rPr>
              <a:t>planned breaks</a:t>
            </a:r>
            <a:endParaRPr lang="en-US" sz="1100" dirty="0"/>
          </a:p>
        </p:txBody>
      </p:sp>
      <p:sp>
        <p:nvSpPr>
          <p:cNvPr id="19" name="Text 16"/>
          <p:cNvSpPr txBox="1"/>
          <p:nvPr/>
        </p:nvSpPr>
        <p:spPr>
          <a:xfrm>
            <a:off x="6355080" y="3520440"/>
            <a:ext cx="365760" cy="685800"/>
          </a:xfrm>
          <a:prstGeom prst="rect">
            <a:avLst/>
          </a:prstGeom>
          <a:noFill/>
          <a:ln/>
        </p:spPr>
        <p:txBody>
          <a:bodyPr wrap="square" lIns="0" tIns="0" rIns="0" bIns="0" rtlCol="0" anchor="ctr"/>
          <a:lstStyle/>
          <a:p>
            <a:pPr algn="ctr" indent="0" marL="0">
              <a:buNone/>
            </a:pPr>
            <a:r>
              <a:rPr lang="en-US" sz="2800" dirty="0">
                <a:solidFill>
                  <a:srgbClr val="6B7278"/>
                </a:solidFill>
                <a:latin typeface="Cambria" pitchFamily="34" charset="0"/>
                <a:ea typeface="Cambria" pitchFamily="34" charset="-122"/>
                <a:cs typeface="Cambria" pitchFamily="34" charset="-120"/>
              </a:rPr>
              <a:t>=</a:t>
            </a:r>
            <a:endParaRPr lang="en-US" sz="2800" dirty="0"/>
          </a:p>
        </p:txBody>
      </p:sp>
      <p:sp>
        <p:nvSpPr>
          <p:cNvPr id="20" name="Text 17"/>
          <p:cNvSpPr txBox="1"/>
          <p:nvPr/>
        </p:nvSpPr>
        <p:spPr>
          <a:xfrm>
            <a:off x="6766560" y="3520440"/>
            <a:ext cx="1097280" cy="685800"/>
          </a:xfrm>
          <a:prstGeom prst="rect">
            <a:avLst/>
          </a:prstGeom>
          <a:noFill/>
          <a:ln/>
        </p:spPr>
        <p:txBody>
          <a:bodyPr wrap="square" lIns="0" tIns="0" rIns="0" bIns="0" rtlCol="0" anchor="ctr"/>
          <a:lstStyle/>
          <a:p>
            <a:pPr indent="0" marL="0">
              <a:buNone/>
            </a:pPr>
            <a:r>
              <a:rPr lang="en-US" sz="3600" dirty="0">
                <a:solidFill>
                  <a:srgbClr val="1A1D21"/>
                </a:solidFill>
                <a:latin typeface="Cambria" pitchFamily="34" charset="0"/>
                <a:ea typeface="Cambria" pitchFamily="34" charset="-122"/>
                <a:cs typeface="Cambria" pitchFamily="34" charset="-120"/>
              </a:rPr>
              <a:t>675</a:t>
            </a:r>
            <a:endParaRPr lang="en-US" sz="3600" dirty="0"/>
          </a:p>
        </p:txBody>
      </p:sp>
      <p:sp>
        <p:nvSpPr>
          <p:cNvPr id="21" name="Text 18"/>
          <p:cNvSpPr txBox="1"/>
          <p:nvPr/>
        </p:nvSpPr>
        <p:spPr>
          <a:xfrm>
            <a:off x="6766560" y="4224528"/>
            <a:ext cx="1097280" cy="502920"/>
          </a:xfrm>
          <a:prstGeom prst="rect">
            <a:avLst/>
          </a:prstGeom>
          <a:noFill/>
          <a:ln/>
        </p:spPr>
        <p:txBody>
          <a:bodyPr wrap="square" lIns="0" tIns="0" rIns="0" bIns="0" rtlCol="0" anchor="t"/>
          <a:lstStyle/>
          <a:p>
            <a:pPr indent="0" marL="0">
              <a:buNone/>
            </a:pPr>
            <a:r>
              <a:rPr lang="en-US" sz="1100" dirty="0">
                <a:solidFill>
                  <a:srgbClr val="6B7278"/>
                </a:solidFill>
                <a:latin typeface="Calibri" pitchFamily="34" charset="0"/>
                <a:ea typeface="Calibri" pitchFamily="34" charset="-122"/>
                <a:cs typeface="Calibri" pitchFamily="34" charset="-120"/>
              </a:rPr>
              <a:t>effective minutes</a:t>
            </a:r>
            <a:endParaRPr lang="en-US" sz="1100" dirty="0"/>
          </a:p>
        </p:txBody>
      </p:sp>
      <p:sp>
        <p:nvSpPr>
          <p:cNvPr id="22" name="Text 19"/>
          <p:cNvSpPr txBox="1"/>
          <p:nvPr/>
        </p:nvSpPr>
        <p:spPr>
          <a:xfrm>
            <a:off x="7818120" y="3520440"/>
            <a:ext cx="365760" cy="685800"/>
          </a:xfrm>
          <a:prstGeom prst="rect">
            <a:avLst/>
          </a:prstGeom>
          <a:noFill/>
          <a:ln/>
        </p:spPr>
        <p:txBody>
          <a:bodyPr wrap="square" lIns="0" tIns="0" rIns="0" bIns="0" rtlCol="0" anchor="ctr"/>
          <a:lstStyle/>
          <a:p>
            <a:pPr algn="ctr" indent="0" marL="0">
              <a:buNone/>
            </a:pPr>
            <a:r>
              <a:rPr lang="en-US" sz="2800" dirty="0">
                <a:solidFill>
                  <a:srgbClr val="6B7278"/>
                </a:solidFill>
                <a:latin typeface="Cambria" pitchFamily="34" charset="0"/>
                <a:ea typeface="Cambria" pitchFamily="34" charset="-122"/>
                <a:cs typeface="Cambria" pitchFamily="34" charset="-120"/>
              </a:rPr>
              <a:t>×</a:t>
            </a:r>
            <a:endParaRPr lang="en-US" sz="2800" dirty="0"/>
          </a:p>
        </p:txBody>
      </p:sp>
      <p:sp>
        <p:nvSpPr>
          <p:cNvPr id="23" name="Text 20"/>
          <p:cNvSpPr txBox="1"/>
          <p:nvPr/>
        </p:nvSpPr>
        <p:spPr>
          <a:xfrm>
            <a:off x="8229600" y="3520440"/>
            <a:ext cx="1097280" cy="685800"/>
          </a:xfrm>
          <a:prstGeom prst="rect">
            <a:avLst/>
          </a:prstGeom>
          <a:noFill/>
          <a:ln/>
        </p:spPr>
        <p:txBody>
          <a:bodyPr wrap="square" lIns="0" tIns="0" rIns="0" bIns="0" rtlCol="0" anchor="ctr"/>
          <a:lstStyle/>
          <a:p>
            <a:pPr indent="0" marL="0">
              <a:buNone/>
            </a:pPr>
            <a:r>
              <a:rPr lang="en-US" sz="3600" dirty="0">
                <a:solidFill>
                  <a:srgbClr val="1A1D21"/>
                </a:solidFill>
                <a:latin typeface="Cambria" pitchFamily="34" charset="0"/>
                <a:ea typeface="Cambria" pitchFamily="34" charset="-122"/>
                <a:cs typeface="Cambria" pitchFamily="34" charset="-120"/>
              </a:rPr>
              <a:t>100</a:t>
            </a:r>
            <a:endParaRPr lang="en-US" sz="3600" dirty="0"/>
          </a:p>
        </p:txBody>
      </p:sp>
      <p:sp>
        <p:nvSpPr>
          <p:cNvPr id="24" name="Text 21"/>
          <p:cNvSpPr txBox="1"/>
          <p:nvPr/>
        </p:nvSpPr>
        <p:spPr>
          <a:xfrm>
            <a:off x="8229600" y="4224528"/>
            <a:ext cx="1097280" cy="502920"/>
          </a:xfrm>
          <a:prstGeom prst="rect">
            <a:avLst/>
          </a:prstGeom>
          <a:noFill/>
          <a:ln/>
        </p:spPr>
        <p:txBody>
          <a:bodyPr wrap="square" lIns="0" tIns="0" rIns="0" bIns="0" rtlCol="0" anchor="t"/>
          <a:lstStyle/>
          <a:p>
            <a:pPr indent="0" marL="0">
              <a:buNone/>
            </a:pPr>
            <a:r>
              <a:rPr lang="en-US" sz="1100" dirty="0">
                <a:solidFill>
                  <a:srgbClr val="6B7278"/>
                </a:solidFill>
                <a:latin typeface="Calibri" pitchFamily="34" charset="0"/>
                <a:ea typeface="Calibri" pitchFamily="34" charset="-122"/>
                <a:cs typeface="Calibri" pitchFamily="34" charset="-120"/>
              </a:rPr>
              <a:t>units / minute, rated speed</a:t>
            </a:r>
            <a:endParaRPr lang="en-US" sz="1100" dirty="0"/>
          </a:p>
        </p:txBody>
      </p:sp>
      <p:sp>
        <p:nvSpPr>
          <p:cNvPr id="25" name="Text 22"/>
          <p:cNvSpPr txBox="1"/>
          <p:nvPr/>
        </p:nvSpPr>
        <p:spPr>
          <a:xfrm>
            <a:off x="9281160" y="3520440"/>
            <a:ext cx="365760" cy="685800"/>
          </a:xfrm>
          <a:prstGeom prst="rect">
            <a:avLst/>
          </a:prstGeom>
          <a:noFill/>
          <a:ln/>
        </p:spPr>
        <p:txBody>
          <a:bodyPr wrap="square" lIns="0" tIns="0" rIns="0" bIns="0" rtlCol="0" anchor="ctr"/>
          <a:lstStyle/>
          <a:p>
            <a:pPr algn="ctr" indent="0" marL="0">
              <a:buNone/>
            </a:pPr>
            <a:r>
              <a:rPr lang="en-US" sz="2800" dirty="0">
                <a:solidFill>
                  <a:srgbClr val="6B7278"/>
                </a:solidFill>
                <a:latin typeface="Cambria" pitchFamily="34" charset="0"/>
                <a:ea typeface="Cambria" pitchFamily="34" charset="-122"/>
                <a:cs typeface="Cambria" pitchFamily="34" charset="-120"/>
              </a:rPr>
              <a:t>=</a:t>
            </a:r>
            <a:endParaRPr lang="en-US" sz="2800" dirty="0"/>
          </a:p>
        </p:txBody>
      </p:sp>
      <p:sp>
        <p:nvSpPr>
          <p:cNvPr id="26" name="Text 23"/>
          <p:cNvSpPr txBox="1"/>
          <p:nvPr/>
        </p:nvSpPr>
        <p:spPr>
          <a:xfrm>
            <a:off x="9646920" y="3520440"/>
            <a:ext cx="2011680" cy="685800"/>
          </a:xfrm>
          <a:prstGeom prst="rect">
            <a:avLst/>
          </a:prstGeom>
          <a:noFill/>
          <a:ln/>
        </p:spPr>
        <p:txBody>
          <a:bodyPr wrap="square" lIns="0" tIns="0" rIns="0" bIns="0" rtlCol="0" anchor="ctr"/>
          <a:lstStyle/>
          <a:p>
            <a:pPr indent="0" marL="0">
              <a:buNone/>
            </a:pPr>
            <a:r>
              <a:rPr lang="en-US" sz="3600" dirty="0">
                <a:solidFill>
                  <a:srgbClr val="1F4C94"/>
                </a:solidFill>
                <a:latin typeface="Cambria" pitchFamily="34" charset="0"/>
                <a:ea typeface="Cambria" pitchFamily="34" charset="-122"/>
                <a:cs typeface="Cambria" pitchFamily="34" charset="-120"/>
              </a:rPr>
              <a:t>67,500</a:t>
            </a:r>
            <a:endParaRPr lang="en-US" sz="3600" dirty="0"/>
          </a:p>
        </p:txBody>
      </p:sp>
      <p:sp>
        <p:nvSpPr>
          <p:cNvPr id="27" name="Text 24"/>
          <p:cNvSpPr txBox="1"/>
          <p:nvPr/>
        </p:nvSpPr>
        <p:spPr>
          <a:xfrm>
            <a:off x="9646920" y="4224528"/>
            <a:ext cx="2011680" cy="502920"/>
          </a:xfrm>
          <a:prstGeom prst="rect">
            <a:avLst/>
          </a:prstGeom>
          <a:noFill/>
          <a:ln/>
        </p:spPr>
        <p:txBody>
          <a:bodyPr wrap="square" lIns="0" tIns="0" rIns="0" bIns="0" rtlCol="0" anchor="t"/>
          <a:lstStyle/>
          <a:p>
            <a:pPr indent="0" marL="0">
              <a:buNone/>
            </a:pPr>
            <a:r>
              <a:rPr lang="en-US" sz="1100" dirty="0">
                <a:solidFill>
                  <a:srgbClr val="6B7278"/>
                </a:solidFill>
                <a:latin typeface="Calibri" pitchFamily="34" charset="0"/>
                <a:ea typeface="Calibri" pitchFamily="34" charset="-122"/>
                <a:cs typeface="Calibri" pitchFamily="34" charset="-120"/>
              </a:rPr>
              <a:t>ideal units per day</a:t>
            </a:r>
            <a:endParaRPr lang="en-US" sz="1100" dirty="0"/>
          </a:p>
        </p:txBody>
      </p:sp>
      <p:sp>
        <p:nvSpPr>
          <p:cNvPr id="28" name="Text 25"/>
          <p:cNvSpPr txBox="1"/>
          <p:nvPr/>
        </p:nvSpPr>
        <p:spPr>
          <a:xfrm>
            <a:off x="3886200" y="5257800"/>
            <a:ext cx="7754112" cy="640080"/>
          </a:xfrm>
          <a:prstGeom prst="rect">
            <a:avLst/>
          </a:prstGeom>
          <a:noFill/>
          <a:ln/>
        </p:spPr>
        <p:txBody>
          <a:bodyPr wrap="square" lIns="0" tIns="0" rIns="0" bIns="0" rtlCol="0" anchor="t"/>
          <a:lstStyle/>
          <a:p>
            <a:pPr indent="0" marL="0">
              <a:buNone/>
            </a:pPr>
            <a:r>
              <a:rPr lang="en-US" sz="1700" i="1" dirty="0">
                <a:solidFill>
                  <a:srgbClr val="3E4750"/>
                </a:solidFill>
                <a:latin typeface="Cambria" pitchFamily="34" charset="0"/>
                <a:ea typeface="Cambria" pitchFamily="34" charset="-122"/>
                <a:cs typeface="Cambria" pitchFamily="34" charset="-120"/>
              </a:rPr>
              <a:t>That's what the line could make running all 675 minutes at full speed with zero rejects.</a:t>
            </a:r>
            <a:endParaRPr lang="en-US" sz="1700" dirty="0"/>
          </a:p>
        </p:txBody>
      </p:sp>
      <p:sp>
        <p:nvSpPr>
          <p:cNvPr id="29" name="Text 26"/>
          <p:cNvSpPr txBox="1"/>
          <p:nvPr/>
        </p:nvSpPr>
        <p:spPr>
          <a:xfrm>
            <a:off x="3886200" y="6263640"/>
            <a:ext cx="7754112" cy="274320"/>
          </a:xfrm>
          <a:prstGeom prst="rect">
            <a:avLst/>
          </a:prstGeom>
          <a:noFill/>
          <a:ln/>
        </p:spPr>
        <p:txBody>
          <a:bodyPr wrap="square" lIns="0" tIns="0" rIns="0" bIns="0" rtlCol="0" anchor="ctr"/>
          <a:lstStyle/>
          <a:p>
            <a:pPr indent="0" marL="0">
              <a:buNone/>
            </a:pPr>
            <a:r>
              <a:rPr lang="en-US" sz="950" i="1" dirty="0">
                <a:solidFill>
                  <a:srgbClr val="6B7278"/>
                </a:solidFill>
                <a:latin typeface="Calibri" pitchFamily="34" charset="0"/>
                <a:ea typeface="Calibri" pitchFamily="34" charset="-122"/>
                <a:cs typeface="Calibri" pitchFamily="34" charset="-120"/>
              </a:rPr>
              <a:t>One operating cycle observed during plant induction: actual plant observation, not the demonstration dataset.</a:t>
            </a:r>
            <a:endParaRPr lang="en-US" sz="950" dirty="0"/>
          </a:p>
        </p:txBody>
      </p:sp>
      <p:sp>
        <p:nvSpPr>
          <p:cNvPr id="30" name="Text 27"/>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05</a:t>
            </a:r>
            <a:pPr indent="0" marL="0">
              <a:buNone/>
            </a:pPr>
            <a:r>
              <a:rPr lang="en-US" sz="1050" spc="300" kern="0" dirty="0">
                <a:solidFill>
                  <a:srgbClr val="6B7278"/>
                </a:solidFill>
                <a:latin typeface="Calibri" pitchFamily="34" charset="0"/>
                <a:ea typeface="Calibri" pitchFamily="34" charset="-122"/>
                <a:cs typeface="Calibri" pitchFamily="34" charset="-120"/>
              </a:rPr>
              <a:t>   THE LINE STUDY</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indent="0" marL="0">
              <a:buNone/>
            </a:pPr>
            <a:r>
              <a:rPr lang="en-US" sz="3200" dirty="0">
                <a:solidFill>
                  <a:srgbClr val="1A1D21"/>
                </a:solidFill>
                <a:latin typeface="Cambria" pitchFamily="34" charset="0"/>
                <a:ea typeface="Cambria" pitchFamily="34" charset="-122"/>
                <a:cs typeface="Cambria" pitchFamily="34" charset="-120"/>
              </a:rPr>
              <a:t>So where did 27,500 units go?</a:t>
            </a:r>
            <a:endParaRPr lang="en-US" sz="3200" dirty="0"/>
          </a:p>
        </p:txBody>
      </p:sp>
      <p:graphicFrame>
        <p:nvGraphicFramePr>
          <p:cNvPr id="4" name="Chart 0" descr=""/>
          <p:cNvGraphicFramePr/>
          <p:nvPr/>
        </p:nvGraphicFramePr>
        <p:xfrm>
          <a:off x="457200" y="1645920"/>
          <a:ext cx="6400800" cy="40233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315200" y="1783080"/>
            <a:ext cx="4389120" cy="1097280"/>
          </a:xfrm>
          <a:prstGeom prst="rect">
            <a:avLst/>
          </a:prstGeom>
          <a:noFill/>
          <a:ln/>
        </p:spPr>
        <p:txBody>
          <a:bodyPr wrap="square" lIns="0" tIns="0" rIns="0" bIns="0" rtlCol="0" anchor="ctr"/>
          <a:lstStyle/>
          <a:p>
            <a:pPr indent="0" marL="0">
              <a:buNone/>
            </a:pPr>
            <a:r>
              <a:rPr lang="en-US" sz="6600" dirty="0">
                <a:solidFill>
                  <a:srgbClr val="E0561F"/>
                </a:solidFill>
                <a:latin typeface="Cambria" pitchFamily="34" charset="0"/>
                <a:ea typeface="Cambria" pitchFamily="34" charset="-122"/>
                <a:cs typeface="Cambria" pitchFamily="34" charset="-120"/>
              </a:rPr>
              <a:t>~27,500</a:t>
            </a:r>
            <a:endParaRPr lang="en-US" sz="6600" dirty="0"/>
          </a:p>
        </p:txBody>
      </p:sp>
      <p:sp>
        <p:nvSpPr>
          <p:cNvPr id="6" name="Text 3"/>
          <p:cNvSpPr txBox="1"/>
          <p:nvPr/>
        </p:nvSpPr>
        <p:spPr>
          <a:xfrm>
            <a:off x="7315200" y="2834640"/>
            <a:ext cx="4389120" cy="365760"/>
          </a:xfrm>
          <a:prstGeom prst="rect">
            <a:avLst/>
          </a:prstGeom>
          <a:noFill/>
          <a:ln/>
        </p:spPr>
        <p:txBody>
          <a:bodyPr wrap="square" lIns="0" tIns="0" rIns="0" bIns="0" rtlCol="0" anchor="ctr"/>
          <a:lstStyle/>
          <a:p>
            <a:pPr indent="0" marL="0">
              <a:buNone/>
            </a:pPr>
            <a:r>
              <a:rPr lang="en-US" sz="1500" dirty="0">
                <a:solidFill>
                  <a:srgbClr val="1A1D21"/>
                </a:solidFill>
                <a:latin typeface="Calibri" pitchFamily="34" charset="0"/>
                <a:ea typeface="Calibri" pitchFamily="34" charset="-122"/>
                <a:cs typeface="Calibri" pitchFamily="34" charset="-120"/>
              </a:rPr>
              <a:t>units between ideal and actual</a:t>
            </a:r>
            <a:endParaRPr lang="en-US" sz="1500" dirty="0"/>
          </a:p>
        </p:txBody>
      </p:sp>
      <p:sp>
        <p:nvSpPr>
          <p:cNvPr id="7" name="Text 4"/>
          <p:cNvSpPr txBox="1"/>
          <p:nvPr/>
        </p:nvSpPr>
        <p:spPr>
          <a:xfrm>
            <a:off x="7315200" y="3383280"/>
            <a:ext cx="4389120" cy="822960"/>
          </a:xfrm>
          <a:prstGeom prst="rect">
            <a:avLst/>
          </a:prstGeom>
          <a:noFill/>
          <a:ln/>
        </p:spPr>
        <p:txBody>
          <a:bodyPr wrap="square" lIns="0" tIns="0" rIns="0" bIns="0" rtlCol="0" anchor="ctr"/>
          <a:lstStyle/>
          <a:p>
            <a:pPr indent="0" marL="0">
              <a:buNone/>
            </a:pPr>
            <a:r>
              <a:rPr lang="en-US" sz="4400" dirty="0">
                <a:solidFill>
                  <a:srgbClr val="1A1D21"/>
                </a:solidFill>
                <a:latin typeface="Cambria" pitchFamily="34" charset="0"/>
                <a:ea typeface="Cambria" pitchFamily="34" charset="-122"/>
                <a:cs typeface="Cambria" pitchFamily="34" charset="-120"/>
              </a:rPr>
              <a:t>~40.7%</a:t>
            </a:r>
            <a:endParaRPr lang="en-US" sz="4400" dirty="0"/>
          </a:p>
        </p:txBody>
      </p:sp>
      <p:sp>
        <p:nvSpPr>
          <p:cNvPr id="8" name="Text 5"/>
          <p:cNvSpPr txBox="1"/>
          <p:nvPr/>
        </p:nvSpPr>
        <p:spPr>
          <a:xfrm>
            <a:off x="7315200" y="4160520"/>
            <a:ext cx="4389120" cy="548640"/>
          </a:xfrm>
          <a:prstGeom prst="rect">
            <a:avLst/>
          </a:prstGeom>
          <a:noFill/>
          <a:ln/>
        </p:spPr>
        <p:txBody>
          <a:bodyPr wrap="square" lIns="0" tIns="0" rIns="0" bIns="0" rtlCol="0" anchor="t"/>
          <a:lstStyle/>
          <a:p>
            <a:pPr indent="0" marL="0">
              <a:buNone/>
            </a:pPr>
            <a:r>
              <a:rPr lang="en-US" sz="1300" dirty="0">
                <a:solidFill>
                  <a:srgbClr val="6B7278"/>
                </a:solidFill>
                <a:latin typeface="Calibri" pitchFamily="34" charset="0"/>
                <a:ea typeface="Calibri" pitchFamily="34" charset="-122"/>
                <a:cs typeface="Calibri" pitchFamily="34" charset="-120"/>
              </a:rPr>
              <a:t>variance against ideal output</a:t>
            </a:r>
            <a:endParaRPr lang="en-US" sz="1300" dirty="0"/>
          </a:p>
          <a:p>
            <a:pPr indent="0" marL="0">
              <a:buNone/>
            </a:pPr>
            <a:r>
              <a:rPr lang="en-US" sz="1300" dirty="0">
                <a:solidFill>
                  <a:srgbClr val="6B7278"/>
                </a:solidFill>
                <a:latin typeface="Calibri" pitchFamily="34" charset="0"/>
                <a:ea typeface="Calibri" pitchFamily="34" charset="-122"/>
                <a:cs typeface="Calibri" pitchFamily="34" charset="-120"/>
              </a:rPr>
              <a:t>(27,500 ÷ 67,500)</a:t>
            </a:r>
            <a:endParaRPr lang="en-US" sz="1300" dirty="0"/>
          </a:p>
        </p:txBody>
      </p:sp>
      <p:sp>
        <p:nvSpPr>
          <p:cNvPr id="9" name="Text 6"/>
          <p:cNvSpPr txBox="1"/>
          <p:nvPr/>
        </p:nvSpPr>
        <p:spPr>
          <a:xfrm>
            <a:off x="7315200" y="4937760"/>
            <a:ext cx="4389120" cy="822960"/>
          </a:xfrm>
          <a:prstGeom prst="rect">
            <a:avLst/>
          </a:prstGeom>
          <a:noFill/>
          <a:ln/>
        </p:spPr>
        <p:txBody>
          <a:bodyPr wrap="square" lIns="0" tIns="0" rIns="0" bIns="0" rtlCol="0" anchor="t"/>
          <a:lstStyle/>
          <a:p>
            <a:pPr indent="0" marL="0">
              <a:buNone/>
            </a:pPr>
            <a:r>
              <a:rPr lang="en-US" sz="1500" i="1" dirty="0">
                <a:solidFill>
                  <a:srgbClr val="3E4750"/>
                </a:solidFill>
                <a:latin typeface="Cambria" pitchFamily="34" charset="0"/>
                <a:ea typeface="Cambria" pitchFamily="34" charset="-122"/>
                <a:cs typeface="Cambria" pitchFamily="34" charset="-120"/>
              </a:rPr>
              <a:t>But one loss number can't tell you whether the line stopped, slowed down, or made rejects.</a:t>
            </a:r>
            <a:endParaRPr lang="en-US" sz="1500" dirty="0"/>
          </a:p>
        </p:txBody>
      </p:sp>
      <p:sp>
        <p:nvSpPr>
          <p:cNvPr id="10" name="Text 7"/>
          <p:cNvSpPr txBox="1"/>
          <p:nvPr/>
        </p:nvSpPr>
        <p:spPr>
          <a:xfrm>
            <a:off x="548640" y="6172200"/>
            <a:ext cx="10972800" cy="274320"/>
          </a:xfrm>
          <a:prstGeom prst="rect">
            <a:avLst/>
          </a:prstGeom>
          <a:noFill/>
          <a:ln/>
        </p:spPr>
        <p:txBody>
          <a:bodyPr wrap="square" lIns="0" tIns="0" rIns="0" bIns="0" rtlCol="0" anchor="ctr"/>
          <a:lstStyle/>
          <a:p>
            <a:pPr indent="0" marL="0">
              <a:buNone/>
            </a:pPr>
            <a:r>
              <a:rPr lang="en-US" sz="1000" i="1" dirty="0">
                <a:solidFill>
                  <a:srgbClr val="6B7278"/>
                </a:solidFill>
                <a:latin typeface="Calibri" pitchFamily="34" charset="0"/>
                <a:ea typeface="Calibri" pitchFamily="34" charset="-122"/>
                <a:cs typeface="Calibri" pitchFamily="34" charset="-120"/>
              </a:rPr>
              <a:t>One line, one 12-hour shift, observed during the internship. A line-study observation, not a company-wide performance figure.</a:t>
            </a:r>
            <a:endParaRPr lang="en-US" sz="1000" dirty="0"/>
          </a:p>
        </p:txBody>
      </p:sp>
      <p:sp>
        <p:nvSpPr>
          <p:cNvPr id="11" name="Text 8"/>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518"/>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06</a:t>
            </a:r>
            <a:pPr indent="0" marL="0">
              <a:buNone/>
            </a:pPr>
            <a:r>
              <a:rPr lang="en-US" sz="1050" spc="300" kern="0" dirty="0">
                <a:solidFill>
                  <a:srgbClr val="9AA1A7"/>
                </a:solidFill>
                <a:latin typeface="Calibri" pitchFamily="34" charset="0"/>
                <a:ea typeface="Calibri" pitchFamily="34" charset="-122"/>
                <a:cs typeface="Calibri" pitchFamily="34" charset="-120"/>
              </a:rPr>
              <a:t>   THE QUESTION BECOMES A SYSTEM</a:t>
            </a:r>
            <a:endParaRPr lang="en-US" sz="1050" dirty="0"/>
          </a:p>
        </p:txBody>
      </p:sp>
      <p:sp>
        <p:nvSpPr>
          <p:cNvPr id="3" name="Text 1"/>
          <p:cNvSpPr txBox="1"/>
          <p:nvPr/>
        </p:nvSpPr>
        <p:spPr>
          <a:xfrm>
            <a:off x="548640" y="777240"/>
            <a:ext cx="10972800" cy="1371600"/>
          </a:xfrm>
          <a:prstGeom prst="rect">
            <a:avLst/>
          </a:prstGeom>
          <a:noFill/>
          <a:ln/>
        </p:spPr>
        <p:txBody>
          <a:bodyPr wrap="square" lIns="0" tIns="0" rIns="0" bIns="0" rtlCol="0" anchor="t"/>
          <a:lstStyle/>
          <a:p>
            <a:pPr indent="0" marL="0">
              <a:buNone/>
            </a:pPr>
            <a:r>
              <a:rPr lang="en-US" sz="3200" dirty="0">
                <a:solidFill>
                  <a:srgbClr val="FFFFFF"/>
                </a:solidFill>
                <a:latin typeface="Cambria" pitchFamily="34" charset="0"/>
                <a:ea typeface="Cambria" pitchFamily="34" charset="-122"/>
                <a:cs typeface="Cambria" pitchFamily="34" charset="-120"/>
              </a:rPr>
              <a:t>So I asked myself:</a:t>
            </a:r>
            <a:endParaRPr lang="en-US" sz="3200" dirty="0"/>
          </a:p>
          <a:p>
            <a:pPr indent="0" marL="0">
              <a:buNone/>
            </a:pPr>
            <a:r>
              <a:rPr lang="en-US" sz="3200" dirty="0">
                <a:solidFill>
                  <a:srgbClr val="FFFFFF"/>
                </a:solidFill>
                <a:latin typeface="Cambria" pitchFamily="34" charset="0"/>
                <a:ea typeface="Cambria" pitchFamily="34" charset="-122"/>
                <a:cs typeface="Cambria" pitchFamily="34" charset="-120"/>
              </a:rPr>
              <a:t>what would the system need to answer?</a:t>
            </a:r>
            <a:endParaRPr lang="en-US" sz="3200" dirty="0"/>
          </a:p>
        </p:txBody>
      </p:sp>
      <p:sp>
        <p:nvSpPr>
          <p:cNvPr id="4" name="Text 2"/>
          <p:cNvSpPr txBox="1"/>
          <p:nvPr/>
        </p:nvSpPr>
        <p:spPr>
          <a:xfrm>
            <a:off x="548640" y="2606040"/>
            <a:ext cx="822960" cy="731520"/>
          </a:xfrm>
          <a:prstGeom prst="rect">
            <a:avLst/>
          </a:prstGeom>
          <a:noFill/>
          <a:ln/>
        </p:spPr>
        <p:txBody>
          <a:bodyPr wrap="square" lIns="0" tIns="0" rIns="0" bIns="0" rtlCol="0" anchor="t"/>
          <a:lstStyle/>
          <a:p>
            <a:pPr indent="0" marL="0">
              <a:buNone/>
            </a:pPr>
            <a:r>
              <a:rPr lang="en-US" sz="3400" dirty="0">
                <a:solidFill>
                  <a:srgbClr val="E0561F"/>
                </a:solidFill>
                <a:latin typeface="Cambria" pitchFamily="34" charset="0"/>
                <a:ea typeface="Cambria" pitchFamily="34" charset="-122"/>
                <a:cs typeface="Cambria" pitchFamily="34" charset="-120"/>
              </a:rPr>
              <a:t>01</a:t>
            </a:r>
            <a:endParaRPr lang="en-US" sz="3400" dirty="0"/>
          </a:p>
        </p:txBody>
      </p:sp>
      <p:sp>
        <p:nvSpPr>
          <p:cNvPr id="5" name="Text 3"/>
          <p:cNvSpPr txBox="1"/>
          <p:nvPr/>
        </p:nvSpPr>
        <p:spPr>
          <a:xfrm>
            <a:off x="1463040" y="2679192"/>
            <a:ext cx="4572000" cy="731520"/>
          </a:xfrm>
          <a:prstGeom prst="rect">
            <a:avLst/>
          </a:prstGeom>
          <a:noFill/>
          <a:ln/>
        </p:spPr>
        <p:txBody>
          <a:bodyPr wrap="square" lIns="0" tIns="0" rIns="0" bIns="0" rtlCol="0" anchor="t"/>
          <a:lstStyle/>
          <a:p>
            <a:pPr indent="0" marL="0">
              <a:buNone/>
            </a:pPr>
            <a:r>
              <a:rPr lang="en-US" sz="1900" dirty="0">
                <a:solidFill>
                  <a:srgbClr val="FFFFFF"/>
                </a:solidFill>
                <a:latin typeface="Cambria" pitchFamily="34" charset="0"/>
                <a:ea typeface="Cambria" pitchFamily="34" charset="-122"/>
                <a:cs typeface="Cambria" pitchFamily="34" charset="-120"/>
              </a:rPr>
              <a:t>Can I identify the correct production run?</a:t>
            </a:r>
            <a:endParaRPr lang="en-US" sz="1900" dirty="0"/>
          </a:p>
        </p:txBody>
      </p:sp>
      <p:sp>
        <p:nvSpPr>
          <p:cNvPr id="6" name="Text 4"/>
          <p:cNvSpPr txBox="1"/>
          <p:nvPr/>
        </p:nvSpPr>
        <p:spPr>
          <a:xfrm>
            <a:off x="548640" y="3749040"/>
            <a:ext cx="822960" cy="731520"/>
          </a:xfrm>
          <a:prstGeom prst="rect">
            <a:avLst/>
          </a:prstGeom>
          <a:noFill/>
          <a:ln/>
        </p:spPr>
        <p:txBody>
          <a:bodyPr wrap="square" lIns="0" tIns="0" rIns="0" bIns="0" rtlCol="0" anchor="t"/>
          <a:lstStyle/>
          <a:p>
            <a:pPr indent="0" marL="0">
              <a:buNone/>
            </a:pPr>
            <a:r>
              <a:rPr lang="en-US" sz="3400" dirty="0">
                <a:solidFill>
                  <a:srgbClr val="E0561F"/>
                </a:solidFill>
                <a:latin typeface="Cambria" pitchFamily="34" charset="0"/>
                <a:ea typeface="Cambria" pitchFamily="34" charset="-122"/>
                <a:cs typeface="Cambria" pitchFamily="34" charset="-120"/>
              </a:rPr>
              <a:t>02</a:t>
            </a:r>
            <a:endParaRPr lang="en-US" sz="3400" dirty="0"/>
          </a:p>
        </p:txBody>
      </p:sp>
      <p:sp>
        <p:nvSpPr>
          <p:cNvPr id="7" name="Text 5"/>
          <p:cNvSpPr txBox="1"/>
          <p:nvPr/>
        </p:nvSpPr>
        <p:spPr>
          <a:xfrm>
            <a:off x="1463040" y="3822192"/>
            <a:ext cx="4572000" cy="731520"/>
          </a:xfrm>
          <a:prstGeom prst="rect">
            <a:avLst/>
          </a:prstGeom>
          <a:noFill/>
          <a:ln/>
        </p:spPr>
        <p:txBody>
          <a:bodyPr wrap="square" lIns="0" tIns="0" rIns="0" bIns="0" rtlCol="0" anchor="t"/>
          <a:lstStyle/>
          <a:p>
            <a:pPr indent="0" marL="0">
              <a:buNone/>
            </a:pPr>
            <a:r>
              <a:rPr lang="en-US" sz="1900" dirty="0">
                <a:solidFill>
                  <a:srgbClr val="FFFFFF"/>
                </a:solidFill>
                <a:latin typeface="Cambria" pitchFamily="34" charset="0"/>
                <a:ea typeface="Cambria" pitchFamily="34" charset="-122"/>
                <a:cs typeface="Cambria" pitchFamily="34" charset="-120"/>
              </a:rPr>
              <a:t>Can I connect production with quality?</a:t>
            </a:r>
            <a:endParaRPr lang="en-US" sz="1900" dirty="0"/>
          </a:p>
        </p:txBody>
      </p:sp>
      <p:sp>
        <p:nvSpPr>
          <p:cNvPr id="8" name="Text 6"/>
          <p:cNvSpPr txBox="1"/>
          <p:nvPr/>
        </p:nvSpPr>
        <p:spPr>
          <a:xfrm>
            <a:off x="548640" y="4892040"/>
            <a:ext cx="822960" cy="731520"/>
          </a:xfrm>
          <a:prstGeom prst="rect">
            <a:avLst/>
          </a:prstGeom>
          <a:noFill/>
          <a:ln/>
        </p:spPr>
        <p:txBody>
          <a:bodyPr wrap="square" lIns="0" tIns="0" rIns="0" bIns="0" rtlCol="0" anchor="t"/>
          <a:lstStyle/>
          <a:p>
            <a:pPr indent="0" marL="0">
              <a:buNone/>
            </a:pPr>
            <a:r>
              <a:rPr lang="en-US" sz="3400" dirty="0">
                <a:solidFill>
                  <a:srgbClr val="E0561F"/>
                </a:solidFill>
                <a:latin typeface="Cambria" pitchFamily="34" charset="0"/>
                <a:ea typeface="Cambria" pitchFamily="34" charset="-122"/>
                <a:cs typeface="Cambria" pitchFamily="34" charset="-120"/>
              </a:rPr>
              <a:t>03</a:t>
            </a:r>
            <a:endParaRPr lang="en-US" sz="3400" dirty="0"/>
          </a:p>
        </p:txBody>
      </p:sp>
      <p:sp>
        <p:nvSpPr>
          <p:cNvPr id="9" name="Text 7"/>
          <p:cNvSpPr txBox="1"/>
          <p:nvPr/>
        </p:nvSpPr>
        <p:spPr>
          <a:xfrm>
            <a:off x="1463040" y="4965192"/>
            <a:ext cx="4572000" cy="731520"/>
          </a:xfrm>
          <a:prstGeom prst="rect">
            <a:avLst/>
          </a:prstGeom>
          <a:noFill/>
          <a:ln/>
        </p:spPr>
        <p:txBody>
          <a:bodyPr wrap="square" lIns="0" tIns="0" rIns="0" bIns="0" rtlCol="0" anchor="t"/>
          <a:lstStyle/>
          <a:p>
            <a:pPr indent="0" marL="0">
              <a:buNone/>
            </a:pPr>
            <a:r>
              <a:rPr lang="en-US" sz="1900" dirty="0">
                <a:solidFill>
                  <a:srgbClr val="FFFFFF"/>
                </a:solidFill>
                <a:latin typeface="Cambria" pitchFamily="34" charset="0"/>
                <a:ea typeface="Cambria" pitchFamily="34" charset="-122"/>
                <a:cs typeface="Cambria" pitchFamily="34" charset="-120"/>
              </a:rPr>
              <a:t>Can I trace materials forward?</a:t>
            </a:r>
            <a:endParaRPr lang="en-US" sz="1900" dirty="0"/>
          </a:p>
        </p:txBody>
      </p:sp>
      <p:sp>
        <p:nvSpPr>
          <p:cNvPr id="10" name="Text 8"/>
          <p:cNvSpPr txBox="1"/>
          <p:nvPr/>
        </p:nvSpPr>
        <p:spPr>
          <a:xfrm>
            <a:off x="6309360" y="2606040"/>
            <a:ext cx="822960" cy="731520"/>
          </a:xfrm>
          <a:prstGeom prst="rect">
            <a:avLst/>
          </a:prstGeom>
          <a:noFill/>
          <a:ln/>
        </p:spPr>
        <p:txBody>
          <a:bodyPr wrap="square" lIns="0" tIns="0" rIns="0" bIns="0" rtlCol="0" anchor="t"/>
          <a:lstStyle/>
          <a:p>
            <a:pPr indent="0" marL="0">
              <a:buNone/>
            </a:pPr>
            <a:r>
              <a:rPr lang="en-US" sz="3400" dirty="0">
                <a:solidFill>
                  <a:srgbClr val="E0561F"/>
                </a:solidFill>
                <a:latin typeface="Cambria" pitchFamily="34" charset="0"/>
                <a:ea typeface="Cambria" pitchFamily="34" charset="-122"/>
                <a:cs typeface="Cambria" pitchFamily="34" charset="-120"/>
              </a:rPr>
              <a:t>04</a:t>
            </a:r>
            <a:endParaRPr lang="en-US" sz="3400" dirty="0"/>
          </a:p>
        </p:txBody>
      </p:sp>
      <p:sp>
        <p:nvSpPr>
          <p:cNvPr id="11" name="Text 9"/>
          <p:cNvSpPr txBox="1"/>
          <p:nvPr/>
        </p:nvSpPr>
        <p:spPr>
          <a:xfrm>
            <a:off x="7223760" y="2679192"/>
            <a:ext cx="4572000" cy="731520"/>
          </a:xfrm>
          <a:prstGeom prst="rect">
            <a:avLst/>
          </a:prstGeom>
          <a:noFill/>
          <a:ln/>
        </p:spPr>
        <p:txBody>
          <a:bodyPr wrap="square" lIns="0" tIns="0" rIns="0" bIns="0" rtlCol="0" anchor="t"/>
          <a:lstStyle/>
          <a:p>
            <a:pPr indent="0" marL="0">
              <a:buNone/>
            </a:pPr>
            <a:r>
              <a:rPr lang="en-US" sz="1900" dirty="0">
                <a:solidFill>
                  <a:srgbClr val="FFFFFF"/>
                </a:solidFill>
                <a:latin typeface="Cambria" pitchFamily="34" charset="0"/>
                <a:ea typeface="Cambria" pitchFamily="34" charset="-122"/>
                <a:cs typeface="Cambria" pitchFamily="34" charset="-120"/>
              </a:rPr>
              <a:t>Can I trace an implicated lot backwards?</a:t>
            </a:r>
            <a:endParaRPr lang="en-US" sz="1900" dirty="0"/>
          </a:p>
        </p:txBody>
      </p:sp>
      <p:sp>
        <p:nvSpPr>
          <p:cNvPr id="12" name="Text 10"/>
          <p:cNvSpPr txBox="1"/>
          <p:nvPr/>
        </p:nvSpPr>
        <p:spPr>
          <a:xfrm>
            <a:off x="6309360" y="3749040"/>
            <a:ext cx="822960" cy="731520"/>
          </a:xfrm>
          <a:prstGeom prst="rect">
            <a:avLst/>
          </a:prstGeom>
          <a:noFill/>
          <a:ln/>
        </p:spPr>
        <p:txBody>
          <a:bodyPr wrap="square" lIns="0" tIns="0" rIns="0" bIns="0" rtlCol="0" anchor="t"/>
          <a:lstStyle/>
          <a:p>
            <a:pPr indent="0" marL="0">
              <a:buNone/>
            </a:pPr>
            <a:r>
              <a:rPr lang="en-US" sz="3400" dirty="0">
                <a:solidFill>
                  <a:srgbClr val="E0561F"/>
                </a:solidFill>
                <a:latin typeface="Cambria" pitchFamily="34" charset="0"/>
                <a:ea typeface="Cambria" pitchFamily="34" charset="-122"/>
                <a:cs typeface="Cambria" pitchFamily="34" charset="-120"/>
              </a:rPr>
              <a:t>05</a:t>
            </a:r>
            <a:endParaRPr lang="en-US" sz="3400" dirty="0"/>
          </a:p>
        </p:txBody>
      </p:sp>
      <p:sp>
        <p:nvSpPr>
          <p:cNvPr id="13" name="Text 11"/>
          <p:cNvSpPr txBox="1"/>
          <p:nvPr/>
        </p:nvSpPr>
        <p:spPr>
          <a:xfrm>
            <a:off x="7223760" y="3822192"/>
            <a:ext cx="4572000" cy="731520"/>
          </a:xfrm>
          <a:prstGeom prst="rect">
            <a:avLst/>
          </a:prstGeom>
          <a:noFill/>
          <a:ln/>
        </p:spPr>
        <p:txBody>
          <a:bodyPr wrap="square" lIns="0" tIns="0" rIns="0" bIns="0" rtlCol="0" anchor="t"/>
          <a:lstStyle/>
          <a:p>
            <a:pPr indent="0" marL="0">
              <a:buNone/>
            </a:pPr>
            <a:r>
              <a:rPr lang="en-US" sz="1900" dirty="0">
                <a:solidFill>
                  <a:srgbClr val="FFFFFF"/>
                </a:solidFill>
                <a:latin typeface="Cambria" pitchFamily="34" charset="0"/>
                <a:ea typeface="Cambria" pitchFamily="34" charset="-122"/>
                <a:cs typeface="Cambria" pitchFamily="34" charset="-120"/>
              </a:rPr>
              <a:t>Can management see production and losses?</a:t>
            </a:r>
            <a:endParaRPr lang="en-US" sz="1900" dirty="0"/>
          </a:p>
        </p:txBody>
      </p:sp>
      <p:sp>
        <p:nvSpPr>
          <p:cNvPr id="14" name="Text 12"/>
          <p:cNvSpPr txBox="1"/>
          <p:nvPr/>
        </p:nvSpPr>
        <p:spPr>
          <a:xfrm>
            <a:off x="6309360" y="4892040"/>
            <a:ext cx="822960" cy="731520"/>
          </a:xfrm>
          <a:prstGeom prst="rect">
            <a:avLst/>
          </a:prstGeom>
          <a:noFill/>
          <a:ln/>
        </p:spPr>
        <p:txBody>
          <a:bodyPr wrap="square" lIns="0" tIns="0" rIns="0" bIns="0" rtlCol="0" anchor="t"/>
          <a:lstStyle/>
          <a:p>
            <a:pPr indent="0" marL="0">
              <a:buNone/>
            </a:pPr>
            <a:r>
              <a:rPr lang="en-US" sz="3400" dirty="0">
                <a:solidFill>
                  <a:srgbClr val="E0561F"/>
                </a:solidFill>
                <a:latin typeface="Cambria" pitchFamily="34" charset="0"/>
                <a:ea typeface="Cambria" pitchFamily="34" charset="-122"/>
                <a:cs typeface="Cambria" pitchFamily="34" charset="-120"/>
              </a:rPr>
              <a:t>06</a:t>
            </a:r>
            <a:endParaRPr lang="en-US" sz="3400" dirty="0"/>
          </a:p>
        </p:txBody>
      </p:sp>
      <p:sp>
        <p:nvSpPr>
          <p:cNvPr id="15" name="Text 13"/>
          <p:cNvSpPr txBox="1"/>
          <p:nvPr/>
        </p:nvSpPr>
        <p:spPr>
          <a:xfrm>
            <a:off x="7223760" y="4965192"/>
            <a:ext cx="4572000" cy="731520"/>
          </a:xfrm>
          <a:prstGeom prst="rect">
            <a:avLst/>
          </a:prstGeom>
          <a:noFill/>
          <a:ln/>
        </p:spPr>
        <p:txBody>
          <a:bodyPr wrap="square" lIns="0" tIns="0" rIns="0" bIns="0" rtlCol="0" anchor="t"/>
          <a:lstStyle/>
          <a:p>
            <a:pPr indent="0" marL="0">
              <a:buNone/>
            </a:pPr>
            <a:r>
              <a:rPr lang="en-US" sz="1900" dirty="0">
                <a:solidFill>
                  <a:srgbClr val="FFFFFF"/>
                </a:solidFill>
                <a:latin typeface="Cambria" pitchFamily="34" charset="0"/>
                <a:ea typeface="Cambria" pitchFamily="34" charset="-122"/>
                <a:cs typeface="Cambria" pitchFamily="34" charset="-120"/>
              </a:rPr>
              <a:t>Can I calculate OEE?</a:t>
            </a:r>
            <a:endParaRPr lang="en-US" sz="1900" dirty="0"/>
          </a:p>
        </p:txBody>
      </p:sp>
      <p:sp>
        <p:nvSpPr>
          <p:cNvPr id="16" name="Text 14"/>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7D85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4F1"/>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06</a:t>
            </a:r>
            <a:pPr indent="0" marL="0">
              <a:buNone/>
            </a:pPr>
            <a:r>
              <a:rPr lang="en-US" sz="1050" spc="300" kern="0" dirty="0">
                <a:solidFill>
                  <a:srgbClr val="6B7278"/>
                </a:solidFill>
                <a:latin typeface="Calibri" pitchFamily="34" charset="0"/>
                <a:ea typeface="Calibri" pitchFamily="34" charset="-122"/>
                <a:cs typeface="Calibri" pitchFamily="34" charset="-120"/>
              </a:rPr>
              <a:t>   THE QUESTION BECOMES A SYSTEM</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indent="0" marL="0">
              <a:buNone/>
            </a:pPr>
            <a:r>
              <a:rPr lang="en-US" sz="3200" dirty="0">
                <a:solidFill>
                  <a:srgbClr val="1A1D21"/>
                </a:solidFill>
                <a:latin typeface="Cambria" pitchFamily="34" charset="0"/>
                <a:ea typeface="Cambria" pitchFamily="34" charset="-122"/>
                <a:cs typeface="Cambria" pitchFamily="34" charset="-120"/>
              </a:rPr>
              <a:t>How did the project evolve?</a:t>
            </a:r>
            <a:endParaRPr lang="en-US" sz="3200" dirty="0"/>
          </a:p>
        </p:txBody>
      </p:sp>
      <p:sp>
        <p:nvSpPr>
          <p:cNvPr id="4" name="Shape 2"/>
          <p:cNvSpPr/>
          <p:nvPr/>
        </p:nvSpPr>
        <p:spPr>
          <a:xfrm>
            <a:off x="548640" y="2834640"/>
            <a:ext cx="1316736" cy="109728"/>
          </a:xfrm>
          <a:prstGeom prst="rect">
            <a:avLst/>
          </a:prstGeom>
          <a:solidFill>
            <a:srgbClr val="8A949C"/>
          </a:solidFill>
          <a:ln/>
        </p:spPr>
      </p:sp>
      <p:sp>
        <p:nvSpPr>
          <p:cNvPr id="5" name="Text 3"/>
          <p:cNvSpPr txBox="1"/>
          <p:nvPr/>
        </p:nvSpPr>
        <p:spPr>
          <a:xfrm>
            <a:off x="548640" y="2148840"/>
            <a:ext cx="1298448" cy="457200"/>
          </a:xfrm>
          <a:prstGeom prst="rect">
            <a:avLst/>
          </a:prstGeom>
          <a:noFill/>
          <a:ln/>
        </p:spPr>
        <p:txBody>
          <a:bodyPr wrap="square" lIns="0" tIns="0" rIns="0" bIns="0" rtlCol="0" anchor="ctr"/>
          <a:lstStyle/>
          <a:p>
            <a:pPr indent="0" marL="0">
              <a:buNone/>
            </a:pPr>
            <a:r>
              <a:rPr lang="en-US" sz="2400" dirty="0">
                <a:solidFill>
                  <a:srgbClr val="B9BEC2"/>
                </a:solidFill>
                <a:latin typeface="Cambria" pitchFamily="34" charset="0"/>
                <a:ea typeface="Cambria" pitchFamily="34" charset="-122"/>
                <a:cs typeface="Cambria" pitchFamily="34" charset="-120"/>
              </a:rPr>
              <a:t>01</a:t>
            </a:r>
            <a:endParaRPr lang="en-US" sz="2400" dirty="0"/>
          </a:p>
        </p:txBody>
      </p:sp>
      <p:sp>
        <p:nvSpPr>
          <p:cNvPr id="6" name="Text 4"/>
          <p:cNvSpPr txBox="1"/>
          <p:nvPr/>
        </p:nvSpPr>
        <p:spPr>
          <a:xfrm>
            <a:off x="548640" y="3108960"/>
            <a:ext cx="1252728" cy="594360"/>
          </a:xfrm>
          <a:prstGeom prst="rect">
            <a:avLst/>
          </a:prstGeom>
          <a:noFill/>
          <a:ln/>
        </p:spPr>
        <p:txBody>
          <a:bodyPr wrap="square" lIns="0" tIns="0" rIns="0" bIns="0" rtlCol="0" anchor="t"/>
          <a:lstStyle/>
          <a:p>
            <a:pPr indent="0" marL="0">
              <a:buNone/>
            </a:pPr>
            <a:r>
              <a:rPr lang="en-US" sz="1500" dirty="0">
                <a:solidFill>
                  <a:srgbClr val="1A1D21"/>
                </a:solidFill>
                <a:latin typeface="Cambria" pitchFamily="34" charset="0"/>
                <a:ea typeface="Cambria" pitchFamily="34" charset="-122"/>
                <a:cs typeface="Cambria" pitchFamily="34" charset="-120"/>
              </a:rPr>
              <a:t>Process study</a:t>
            </a:r>
            <a:endParaRPr lang="en-US" sz="1500" dirty="0"/>
          </a:p>
        </p:txBody>
      </p:sp>
      <p:sp>
        <p:nvSpPr>
          <p:cNvPr id="7" name="Text 5"/>
          <p:cNvSpPr txBox="1"/>
          <p:nvPr/>
        </p:nvSpPr>
        <p:spPr>
          <a:xfrm>
            <a:off x="548640" y="3730752"/>
            <a:ext cx="1207008" cy="914400"/>
          </a:xfrm>
          <a:prstGeom prst="rect">
            <a:avLst/>
          </a:prstGeom>
          <a:noFill/>
          <a:ln/>
        </p:spPr>
        <p:txBody>
          <a:bodyPr wrap="square" lIns="0" tIns="0" rIns="0" bIns="0" rtlCol="0" anchor="t"/>
          <a:lstStyle/>
          <a:p>
            <a:pPr indent="0" marL="0">
              <a:buNone/>
            </a:pPr>
            <a:r>
              <a:rPr lang="en-US" sz="1100" dirty="0">
                <a:solidFill>
                  <a:srgbClr val="6B7278"/>
                </a:solidFill>
                <a:latin typeface="Calibri" pitchFamily="34" charset="0"/>
                <a:ea typeface="Calibri" pitchFamily="34" charset="-122"/>
                <a:cs typeface="Calibri" pitchFamily="34" charset="-120"/>
              </a:rPr>
              <a:t>Walked the flow, read the registers</a:t>
            </a:r>
            <a:endParaRPr lang="en-US" sz="1100" dirty="0"/>
          </a:p>
        </p:txBody>
      </p:sp>
      <p:sp>
        <p:nvSpPr>
          <p:cNvPr id="8" name="Shape 6"/>
          <p:cNvSpPr/>
          <p:nvPr/>
        </p:nvSpPr>
        <p:spPr>
          <a:xfrm>
            <a:off x="1938528" y="2834640"/>
            <a:ext cx="1316736" cy="109728"/>
          </a:xfrm>
          <a:prstGeom prst="rect">
            <a:avLst/>
          </a:prstGeom>
          <a:solidFill>
            <a:srgbClr val="8A949C"/>
          </a:solidFill>
          <a:ln/>
        </p:spPr>
      </p:sp>
      <p:sp>
        <p:nvSpPr>
          <p:cNvPr id="9" name="Text 7"/>
          <p:cNvSpPr txBox="1"/>
          <p:nvPr/>
        </p:nvSpPr>
        <p:spPr>
          <a:xfrm>
            <a:off x="1938528" y="2148840"/>
            <a:ext cx="1298448" cy="457200"/>
          </a:xfrm>
          <a:prstGeom prst="rect">
            <a:avLst/>
          </a:prstGeom>
          <a:noFill/>
          <a:ln/>
        </p:spPr>
        <p:txBody>
          <a:bodyPr wrap="square" lIns="0" tIns="0" rIns="0" bIns="0" rtlCol="0" anchor="ctr"/>
          <a:lstStyle/>
          <a:p>
            <a:pPr indent="0" marL="0">
              <a:buNone/>
            </a:pPr>
            <a:r>
              <a:rPr lang="en-US" sz="2400" dirty="0">
                <a:solidFill>
                  <a:srgbClr val="B9BEC2"/>
                </a:solidFill>
                <a:latin typeface="Cambria" pitchFamily="34" charset="0"/>
                <a:ea typeface="Cambria" pitchFamily="34" charset="-122"/>
                <a:cs typeface="Cambria" pitchFamily="34" charset="-120"/>
              </a:rPr>
              <a:t>02</a:t>
            </a:r>
            <a:endParaRPr lang="en-US" sz="2400" dirty="0"/>
          </a:p>
        </p:txBody>
      </p:sp>
      <p:sp>
        <p:nvSpPr>
          <p:cNvPr id="10" name="Text 8"/>
          <p:cNvSpPr txBox="1"/>
          <p:nvPr/>
        </p:nvSpPr>
        <p:spPr>
          <a:xfrm>
            <a:off x="1938528" y="3108960"/>
            <a:ext cx="1252728" cy="594360"/>
          </a:xfrm>
          <a:prstGeom prst="rect">
            <a:avLst/>
          </a:prstGeom>
          <a:noFill/>
          <a:ln/>
        </p:spPr>
        <p:txBody>
          <a:bodyPr wrap="square" lIns="0" tIns="0" rIns="0" bIns="0" rtlCol="0" anchor="t"/>
          <a:lstStyle/>
          <a:p>
            <a:pPr indent="0" marL="0">
              <a:buNone/>
            </a:pPr>
            <a:r>
              <a:rPr lang="en-US" sz="1500" dirty="0">
                <a:solidFill>
                  <a:srgbClr val="1A1D21"/>
                </a:solidFill>
                <a:latin typeface="Cambria" pitchFamily="34" charset="0"/>
                <a:ea typeface="Cambria" pitchFamily="34" charset="-122"/>
                <a:cs typeface="Cambria" pitchFamily="34" charset="-120"/>
              </a:rPr>
              <a:t>Requirements</a:t>
            </a:r>
            <a:endParaRPr lang="en-US" sz="1500" dirty="0"/>
          </a:p>
        </p:txBody>
      </p:sp>
      <p:sp>
        <p:nvSpPr>
          <p:cNvPr id="11" name="Text 9"/>
          <p:cNvSpPr txBox="1"/>
          <p:nvPr/>
        </p:nvSpPr>
        <p:spPr>
          <a:xfrm>
            <a:off x="1938528" y="3730752"/>
            <a:ext cx="1207008" cy="914400"/>
          </a:xfrm>
          <a:prstGeom prst="rect">
            <a:avLst/>
          </a:prstGeom>
          <a:noFill/>
          <a:ln/>
        </p:spPr>
        <p:txBody>
          <a:bodyPr wrap="square" lIns="0" tIns="0" rIns="0" bIns="0" rtlCol="0" anchor="t"/>
          <a:lstStyle/>
          <a:p>
            <a:pPr indent="0" marL="0">
              <a:buNone/>
            </a:pPr>
            <a:r>
              <a:rPr lang="en-US" sz="1100" dirty="0">
                <a:solidFill>
                  <a:srgbClr val="6B7278"/>
                </a:solidFill>
                <a:latin typeface="Calibri" pitchFamily="34" charset="0"/>
                <a:ea typeface="Calibri" pitchFamily="34" charset="-122"/>
                <a:cs typeface="Calibri" pitchFamily="34" charset="-120"/>
              </a:rPr>
              <a:t>Six questions the system must answer</a:t>
            </a:r>
            <a:endParaRPr lang="en-US" sz="1100" dirty="0"/>
          </a:p>
        </p:txBody>
      </p:sp>
      <p:sp>
        <p:nvSpPr>
          <p:cNvPr id="12" name="Shape 10"/>
          <p:cNvSpPr/>
          <p:nvPr/>
        </p:nvSpPr>
        <p:spPr>
          <a:xfrm>
            <a:off x="3328416" y="2834640"/>
            <a:ext cx="1316736" cy="109728"/>
          </a:xfrm>
          <a:prstGeom prst="rect">
            <a:avLst/>
          </a:prstGeom>
          <a:solidFill>
            <a:srgbClr val="8A949C"/>
          </a:solidFill>
          <a:ln/>
        </p:spPr>
      </p:sp>
      <p:sp>
        <p:nvSpPr>
          <p:cNvPr id="13" name="Text 11"/>
          <p:cNvSpPr txBox="1"/>
          <p:nvPr/>
        </p:nvSpPr>
        <p:spPr>
          <a:xfrm>
            <a:off x="3328416" y="2148840"/>
            <a:ext cx="1298448" cy="457200"/>
          </a:xfrm>
          <a:prstGeom prst="rect">
            <a:avLst/>
          </a:prstGeom>
          <a:noFill/>
          <a:ln/>
        </p:spPr>
        <p:txBody>
          <a:bodyPr wrap="square" lIns="0" tIns="0" rIns="0" bIns="0" rtlCol="0" anchor="ctr"/>
          <a:lstStyle/>
          <a:p>
            <a:pPr indent="0" marL="0">
              <a:buNone/>
            </a:pPr>
            <a:r>
              <a:rPr lang="en-US" sz="2400" dirty="0">
                <a:solidFill>
                  <a:srgbClr val="B9BEC2"/>
                </a:solidFill>
                <a:latin typeface="Cambria" pitchFamily="34" charset="0"/>
                <a:ea typeface="Cambria" pitchFamily="34" charset="-122"/>
                <a:cs typeface="Cambria" pitchFamily="34" charset="-120"/>
              </a:rPr>
              <a:t>03</a:t>
            </a:r>
            <a:endParaRPr lang="en-US" sz="2400" dirty="0"/>
          </a:p>
        </p:txBody>
      </p:sp>
      <p:sp>
        <p:nvSpPr>
          <p:cNvPr id="14" name="Text 12"/>
          <p:cNvSpPr txBox="1"/>
          <p:nvPr/>
        </p:nvSpPr>
        <p:spPr>
          <a:xfrm>
            <a:off x="3328416" y="3108960"/>
            <a:ext cx="1252728" cy="594360"/>
          </a:xfrm>
          <a:prstGeom prst="rect">
            <a:avLst/>
          </a:prstGeom>
          <a:noFill/>
          <a:ln/>
        </p:spPr>
        <p:txBody>
          <a:bodyPr wrap="square" lIns="0" tIns="0" rIns="0" bIns="0" rtlCol="0" anchor="t"/>
          <a:lstStyle/>
          <a:p>
            <a:pPr indent="0" marL="0">
              <a:buNone/>
            </a:pPr>
            <a:r>
              <a:rPr lang="en-US" sz="1500" dirty="0">
                <a:solidFill>
                  <a:srgbClr val="1A1D21"/>
                </a:solidFill>
                <a:latin typeface="Cambria" pitchFamily="34" charset="0"/>
                <a:ea typeface="Cambria" pitchFamily="34" charset="-122"/>
                <a:cs typeface="Cambria" pitchFamily="34" charset="-120"/>
              </a:rPr>
              <a:t>Problem definition</a:t>
            </a:r>
            <a:endParaRPr lang="en-US" sz="1500" dirty="0"/>
          </a:p>
        </p:txBody>
      </p:sp>
      <p:sp>
        <p:nvSpPr>
          <p:cNvPr id="15" name="Text 13"/>
          <p:cNvSpPr txBox="1"/>
          <p:nvPr/>
        </p:nvSpPr>
        <p:spPr>
          <a:xfrm>
            <a:off x="3328416" y="3730752"/>
            <a:ext cx="1207008" cy="914400"/>
          </a:xfrm>
          <a:prstGeom prst="rect">
            <a:avLst/>
          </a:prstGeom>
          <a:noFill/>
          <a:ln/>
        </p:spPr>
        <p:txBody>
          <a:bodyPr wrap="square" lIns="0" tIns="0" rIns="0" bIns="0" rtlCol="0" anchor="t"/>
          <a:lstStyle/>
          <a:p>
            <a:pPr indent="0" marL="0">
              <a:buNone/>
            </a:pPr>
            <a:r>
              <a:rPr lang="en-US" sz="1100" dirty="0">
                <a:solidFill>
                  <a:srgbClr val="6B7278"/>
                </a:solidFill>
                <a:latin typeface="Calibri" pitchFamily="34" charset="0"/>
                <a:ea typeface="Calibri" pitchFamily="34" charset="-122"/>
                <a:cs typeface="Calibri" pitchFamily="34" charset="-120"/>
              </a:rPr>
              <a:t>Disconnected records, non-unique key</a:t>
            </a:r>
            <a:endParaRPr lang="en-US" sz="1100" dirty="0"/>
          </a:p>
        </p:txBody>
      </p:sp>
      <p:sp>
        <p:nvSpPr>
          <p:cNvPr id="16" name="Shape 14"/>
          <p:cNvSpPr/>
          <p:nvPr/>
        </p:nvSpPr>
        <p:spPr>
          <a:xfrm>
            <a:off x="4718304" y="2834640"/>
            <a:ext cx="1316736" cy="109728"/>
          </a:xfrm>
          <a:prstGeom prst="rect">
            <a:avLst/>
          </a:prstGeom>
          <a:solidFill>
            <a:srgbClr val="121518"/>
          </a:solidFill>
          <a:ln/>
        </p:spPr>
      </p:sp>
      <p:sp>
        <p:nvSpPr>
          <p:cNvPr id="17" name="Text 15"/>
          <p:cNvSpPr txBox="1"/>
          <p:nvPr/>
        </p:nvSpPr>
        <p:spPr>
          <a:xfrm>
            <a:off x="4718304" y="2148840"/>
            <a:ext cx="1298448" cy="457200"/>
          </a:xfrm>
          <a:prstGeom prst="rect">
            <a:avLst/>
          </a:prstGeom>
          <a:noFill/>
          <a:ln/>
        </p:spPr>
        <p:txBody>
          <a:bodyPr wrap="square" lIns="0" tIns="0" rIns="0" bIns="0" rtlCol="0" anchor="ctr"/>
          <a:lstStyle/>
          <a:p>
            <a:pPr indent="0" marL="0">
              <a:buNone/>
            </a:pPr>
            <a:r>
              <a:rPr lang="en-US" sz="2400" dirty="0">
                <a:solidFill>
                  <a:srgbClr val="B9BEC2"/>
                </a:solidFill>
                <a:latin typeface="Cambria" pitchFamily="34" charset="0"/>
                <a:ea typeface="Cambria" pitchFamily="34" charset="-122"/>
                <a:cs typeface="Cambria" pitchFamily="34" charset="-120"/>
              </a:rPr>
              <a:t>04</a:t>
            </a:r>
            <a:endParaRPr lang="en-US" sz="2400" dirty="0"/>
          </a:p>
        </p:txBody>
      </p:sp>
      <p:sp>
        <p:nvSpPr>
          <p:cNvPr id="18" name="Text 16"/>
          <p:cNvSpPr txBox="1"/>
          <p:nvPr/>
        </p:nvSpPr>
        <p:spPr>
          <a:xfrm>
            <a:off x="4718304" y="3108960"/>
            <a:ext cx="1252728" cy="594360"/>
          </a:xfrm>
          <a:prstGeom prst="rect">
            <a:avLst/>
          </a:prstGeom>
          <a:noFill/>
          <a:ln/>
        </p:spPr>
        <p:txBody>
          <a:bodyPr wrap="square" lIns="0" tIns="0" rIns="0" bIns="0" rtlCol="0" anchor="t"/>
          <a:lstStyle/>
          <a:p>
            <a:pPr indent="0" marL="0">
              <a:buNone/>
            </a:pPr>
            <a:r>
              <a:rPr lang="en-US" sz="1500" dirty="0">
                <a:solidFill>
                  <a:srgbClr val="1A1D21"/>
                </a:solidFill>
                <a:latin typeface="Cambria" pitchFamily="34" charset="0"/>
                <a:ea typeface="Cambria" pitchFamily="34" charset="-122"/>
                <a:cs typeface="Cambria" pitchFamily="34" charset="-120"/>
              </a:rPr>
              <a:t>System design</a:t>
            </a:r>
            <a:endParaRPr lang="en-US" sz="1500" dirty="0"/>
          </a:p>
        </p:txBody>
      </p:sp>
      <p:sp>
        <p:nvSpPr>
          <p:cNvPr id="19" name="Text 17"/>
          <p:cNvSpPr txBox="1"/>
          <p:nvPr/>
        </p:nvSpPr>
        <p:spPr>
          <a:xfrm>
            <a:off x="4718304" y="3730752"/>
            <a:ext cx="1207008" cy="914400"/>
          </a:xfrm>
          <a:prstGeom prst="rect">
            <a:avLst/>
          </a:prstGeom>
          <a:noFill/>
          <a:ln/>
        </p:spPr>
        <p:txBody>
          <a:bodyPr wrap="square" lIns="0" tIns="0" rIns="0" bIns="0" rtlCol="0" anchor="t"/>
          <a:lstStyle/>
          <a:p>
            <a:pPr indent="0" marL="0">
              <a:buNone/>
            </a:pPr>
            <a:r>
              <a:rPr lang="en-US" sz="1100" dirty="0">
                <a:solidFill>
                  <a:srgbClr val="6B7278"/>
                </a:solidFill>
                <a:latin typeface="Calibri" pitchFamily="34" charset="0"/>
                <a:ea typeface="Calibri" pitchFamily="34" charset="-122"/>
                <a:cs typeface="Calibri" pitchFamily="34" charset="-120"/>
              </a:rPr>
              <a:t>Five layers, one internal key</a:t>
            </a:r>
            <a:endParaRPr lang="en-US" sz="1100" dirty="0"/>
          </a:p>
        </p:txBody>
      </p:sp>
      <p:sp>
        <p:nvSpPr>
          <p:cNvPr id="20" name="Shape 18"/>
          <p:cNvSpPr/>
          <p:nvPr/>
        </p:nvSpPr>
        <p:spPr>
          <a:xfrm>
            <a:off x="6108192" y="2834640"/>
            <a:ext cx="1316736" cy="109728"/>
          </a:xfrm>
          <a:prstGeom prst="rect">
            <a:avLst/>
          </a:prstGeom>
          <a:solidFill>
            <a:srgbClr val="121518"/>
          </a:solidFill>
          <a:ln/>
        </p:spPr>
      </p:sp>
      <p:sp>
        <p:nvSpPr>
          <p:cNvPr id="21" name="Text 19"/>
          <p:cNvSpPr txBox="1"/>
          <p:nvPr/>
        </p:nvSpPr>
        <p:spPr>
          <a:xfrm>
            <a:off x="6108192" y="2148840"/>
            <a:ext cx="1298448" cy="457200"/>
          </a:xfrm>
          <a:prstGeom prst="rect">
            <a:avLst/>
          </a:prstGeom>
          <a:noFill/>
          <a:ln/>
        </p:spPr>
        <p:txBody>
          <a:bodyPr wrap="square" lIns="0" tIns="0" rIns="0" bIns="0" rtlCol="0" anchor="ctr"/>
          <a:lstStyle/>
          <a:p>
            <a:pPr indent="0" marL="0">
              <a:buNone/>
            </a:pPr>
            <a:r>
              <a:rPr lang="en-US" sz="2400" dirty="0">
                <a:solidFill>
                  <a:srgbClr val="B9BEC2"/>
                </a:solidFill>
                <a:latin typeface="Cambria" pitchFamily="34" charset="0"/>
                <a:ea typeface="Cambria" pitchFamily="34" charset="-122"/>
                <a:cs typeface="Cambria" pitchFamily="34" charset="-120"/>
              </a:rPr>
              <a:t>05</a:t>
            </a:r>
            <a:endParaRPr lang="en-US" sz="2400" dirty="0"/>
          </a:p>
        </p:txBody>
      </p:sp>
      <p:sp>
        <p:nvSpPr>
          <p:cNvPr id="22" name="Text 20"/>
          <p:cNvSpPr txBox="1"/>
          <p:nvPr/>
        </p:nvSpPr>
        <p:spPr>
          <a:xfrm>
            <a:off x="6108192" y="3108960"/>
            <a:ext cx="1252728" cy="594360"/>
          </a:xfrm>
          <a:prstGeom prst="rect">
            <a:avLst/>
          </a:prstGeom>
          <a:noFill/>
          <a:ln/>
        </p:spPr>
        <p:txBody>
          <a:bodyPr wrap="square" lIns="0" tIns="0" rIns="0" bIns="0" rtlCol="0" anchor="t"/>
          <a:lstStyle/>
          <a:p>
            <a:pPr indent="0" marL="0">
              <a:buNone/>
            </a:pPr>
            <a:r>
              <a:rPr lang="en-US" sz="1500" dirty="0">
                <a:solidFill>
                  <a:srgbClr val="1A1D21"/>
                </a:solidFill>
                <a:latin typeface="Cambria" pitchFamily="34" charset="0"/>
                <a:ea typeface="Cambria" pitchFamily="34" charset="-122"/>
                <a:cs typeface="Cambria" pitchFamily="34" charset="-120"/>
              </a:rPr>
              <a:t>Development</a:t>
            </a:r>
            <a:endParaRPr lang="en-US" sz="1500" dirty="0"/>
          </a:p>
        </p:txBody>
      </p:sp>
      <p:sp>
        <p:nvSpPr>
          <p:cNvPr id="23" name="Text 21"/>
          <p:cNvSpPr txBox="1"/>
          <p:nvPr/>
        </p:nvSpPr>
        <p:spPr>
          <a:xfrm>
            <a:off x="6108192" y="3730752"/>
            <a:ext cx="1207008" cy="914400"/>
          </a:xfrm>
          <a:prstGeom prst="rect">
            <a:avLst/>
          </a:prstGeom>
          <a:noFill/>
          <a:ln/>
        </p:spPr>
        <p:txBody>
          <a:bodyPr wrap="square" lIns="0" tIns="0" rIns="0" bIns="0" rtlCol="0" anchor="t"/>
          <a:lstStyle/>
          <a:p>
            <a:pPr indent="0" marL="0">
              <a:buNone/>
            </a:pPr>
            <a:r>
              <a:rPr lang="en-US" sz="1100" dirty="0">
                <a:solidFill>
                  <a:srgbClr val="6B7278"/>
                </a:solidFill>
                <a:latin typeface="Calibri" pitchFamily="34" charset="0"/>
                <a:ea typeface="Calibri" pitchFamily="34" charset="-122"/>
                <a:cs typeface="Calibri" pitchFamily="34" charset="-120"/>
              </a:rPr>
              <a:t>Masters, registers, formulas, dashboards</a:t>
            </a:r>
            <a:endParaRPr lang="en-US" sz="1100" dirty="0"/>
          </a:p>
        </p:txBody>
      </p:sp>
      <p:sp>
        <p:nvSpPr>
          <p:cNvPr id="24" name="Shape 22"/>
          <p:cNvSpPr/>
          <p:nvPr/>
        </p:nvSpPr>
        <p:spPr>
          <a:xfrm>
            <a:off x="7498080" y="2834640"/>
            <a:ext cx="1316736" cy="109728"/>
          </a:xfrm>
          <a:prstGeom prst="rect">
            <a:avLst/>
          </a:prstGeom>
          <a:solidFill>
            <a:srgbClr val="121518"/>
          </a:solidFill>
          <a:ln/>
        </p:spPr>
      </p:sp>
      <p:sp>
        <p:nvSpPr>
          <p:cNvPr id="25" name="Text 23"/>
          <p:cNvSpPr txBox="1"/>
          <p:nvPr/>
        </p:nvSpPr>
        <p:spPr>
          <a:xfrm>
            <a:off x="7498080" y="2148840"/>
            <a:ext cx="1298448" cy="457200"/>
          </a:xfrm>
          <a:prstGeom prst="rect">
            <a:avLst/>
          </a:prstGeom>
          <a:noFill/>
          <a:ln/>
        </p:spPr>
        <p:txBody>
          <a:bodyPr wrap="square" lIns="0" tIns="0" rIns="0" bIns="0" rtlCol="0" anchor="ctr"/>
          <a:lstStyle/>
          <a:p>
            <a:pPr indent="0" marL="0">
              <a:buNone/>
            </a:pPr>
            <a:r>
              <a:rPr lang="en-US" sz="2400" dirty="0">
                <a:solidFill>
                  <a:srgbClr val="B9BEC2"/>
                </a:solidFill>
                <a:latin typeface="Cambria" pitchFamily="34" charset="0"/>
                <a:ea typeface="Cambria" pitchFamily="34" charset="-122"/>
                <a:cs typeface="Cambria" pitchFamily="34" charset="-120"/>
              </a:rPr>
              <a:t>06</a:t>
            </a:r>
            <a:endParaRPr lang="en-US" sz="2400" dirty="0"/>
          </a:p>
        </p:txBody>
      </p:sp>
      <p:sp>
        <p:nvSpPr>
          <p:cNvPr id="26" name="Text 24"/>
          <p:cNvSpPr txBox="1"/>
          <p:nvPr/>
        </p:nvSpPr>
        <p:spPr>
          <a:xfrm>
            <a:off x="7498080" y="3108960"/>
            <a:ext cx="1252728" cy="594360"/>
          </a:xfrm>
          <a:prstGeom prst="rect">
            <a:avLst/>
          </a:prstGeom>
          <a:noFill/>
          <a:ln/>
        </p:spPr>
        <p:txBody>
          <a:bodyPr wrap="square" lIns="0" tIns="0" rIns="0" bIns="0" rtlCol="0" anchor="t"/>
          <a:lstStyle/>
          <a:p>
            <a:pPr indent="0" marL="0">
              <a:buNone/>
            </a:pPr>
            <a:r>
              <a:rPr lang="en-US" sz="1500" dirty="0">
                <a:solidFill>
                  <a:srgbClr val="1A1D21"/>
                </a:solidFill>
                <a:latin typeface="Cambria" pitchFamily="34" charset="0"/>
                <a:ea typeface="Cambria" pitchFamily="34" charset="-122"/>
                <a:cs typeface="Cambria" pitchFamily="34" charset="-120"/>
              </a:rPr>
              <a:t>Testing</a:t>
            </a:r>
            <a:endParaRPr lang="en-US" sz="1500" dirty="0"/>
          </a:p>
        </p:txBody>
      </p:sp>
      <p:sp>
        <p:nvSpPr>
          <p:cNvPr id="27" name="Text 25"/>
          <p:cNvSpPr txBox="1"/>
          <p:nvPr/>
        </p:nvSpPr>
        <p:spPr>
          <a:xfrm>
            <a:off x="7498080" y="3730752"/>
            <a:ext cx="1207008" cy="914400"/>
          </a:xfrm>
          <a:prstGeom prst="rect">
            <a:avLst/>
          </a:prstGeom>
          <a:noFill/>
          <a:ln/>
        </p:spPr>
        <p:txBody>
          <a:bodyPr wrap="square" lIns="0" tIns="0" rIns="0" bIns="0" rtlCol="0" anchor="t"/>
          <a:lstStyle/>
          <a:p>
            <a:pPr indent="0" marL="0">
              <a:buNone/>
            </a:pPr>
            <a:r>
              <a:rPr lang="en-US" sz="1100" dirty="0">
                <a:solidFill>
                  <a:srgbClr val="6B7278"/>
                </a:solidFill>
                <a:latin typeface="Calibri" pitchFamily="34" charset="0"/>
                <a:ea typeface="Calibri" pitchFamily="34" charset="-122"/>
                <a:cs typeface="Calibri" pitchFamily="34" charset="-120"/>
              </a:rPr>
              <a:t>Exposed repeating batch numbers</a:t>
            </a:r>
            <a:endParaRPr lang="en-US" sz="1100" dirty="0"/>
          </a:p>
        </p:txBody>
      </p:sp>
      <p:sp>
        <p:nvSpPr>
          <p:cNvPr id="28" name="Shape 26"/>
          <p:cNvSpPr/>
          <p:nvPr/>
        </p:nvSpPr>
        <p:spPr>
          <a:xfrm>
            <a:off x="8887968" y="2834640"/>
            <a:ext cx="1316736" cy="109728"/>
          </a:xfrm>
          <a:prstGeom prst="rect">
            <a:avLst/>
          </a:prstGeom>
          <a:solidFill>
            <a:srgbClr val="121518"/>
          </a:solidFill>
          <a:ln/>
        </p:spPr>
      </p:sp>
      <p:sp>
        <p:nvSpPr>
          <p:cNvPr id="29" name="Text 27"/>
          <p:cNvSpPr txBox="1"/>
          <p:nvPr/>
        </p:nvSpPr>
        <p:spPr>
          <a:xfrm>
            <a:off x="8887968" y="2148840"/>
            <a:ext cx="1298448" cy="457200"/>
          </a:xfrm>
          <a:prstGeom prst="rect">
            <a:avLst/>
          </a:prstGeom>
          <a:noFill/>
          <a:ln/>
        </p:spPr>
        <p:txBody>
          <a:bodyPr wrap="square" lIns="0" tIns="0" rIns="0" bIns="0" rtlCol="0" anchor="ctr"/>
          <a:lstStyle/>
          <a:p>
            <a:pPr indent="0" marL="0">
              <a:buNone/>
            </a:pPr>
            <a:r>
              <a:rPr lang="en-US" sz="2400" dirty="0">
                <a:solidFill>
                  <a:srgbClr val="B9BEC2"/>
                </a:solidFill>
                <a:latin typeface="Cambria" pitchFamily="34" charset="0"/>
                <a:ea typeface="Cambria" pitchFamily="34" charset="-122"/>
                <a:cs typeface="Cambria" pitchFamily="34" charset="-120"/>
              </a:rPr>
              <a:t>07</a:t>
            </a:r>
            <a:endParaRPr lang="en-US" sz="2400" dirty="0"/>
          </a:p>
        </p:txBody>
      </p:sp>
      <p:sp>
        <p:nvSpPr>
          <p:cNvPr id="30" name="Text 28"/>
          <p:cNvSpPr txBox="1"/>
          <p:nvPr/>
        </p:nvSpPr>
        <p:spPr>
          <a:xfrm>
            <a:off x="8887968" y="3108960"/>
            <a:ext cx="1252728" cy="594360"/>
          </a:xfrm>
          <a:prstGeom prst="rect">
            <a:avLst/>
          </a:prstGeom>
          <a:noFill/>
          <a:ln/>
        </p:spPr>
        <p:txBody>
          <a:bodyPr wrap="square" lIns="0" tIns="0" rIns="0" bIns="0" rtlCol="0" anchor="t"/>
          <a:lstStyle/>
          <a:p>
            <a:pPr indent="0" marL="0">
              <a:buNone/>
            </a:pPr>
            <a:r>
              <a:rPr lang="en-US" sz="1500" dirty="0">
                <a:solidFill>
                  <a:srgbClr val="1A1D21"/>
                </a:solidFill>
                <a:latin typeface="Cambria" pitchFamily="34" charset="0"/>
                <a:ea typeface="Cambria" pitchFamily="34" charset="-122"/>
                <a:cs typeface="Cambria" pitchFamily="34" charset="-120"/>
              </a:rPr>
              <a:t>Refinement</a:t>
            </a:r>
            <a:endParaRPr lang="en-US" sz="1500" dirty="0"/>
          </a:p>
        </p:txBody>
      </p:sp>
      <p:sp>
        <p:nvSpPr>
          <p:cNvPr id="31" name="Text 29"/>
          <p:cNvSpPr txBox="1"/>
          <p:nvPr/>
        </p:nvSpPr>
        <p:spPr>
          <a:xfrm>
            <a:off x="8887968" y="3730752"/>
            <a:ext cx="1207008" cy="914400"/>
          </a:xfrm>
          <a:prstGeom prst="rect">
            <a:avLst/>
          </a:prstGeom>
          <a:noFill/>
          <a:ln/>
        </p:spPr>
        <p:txBody>
          <a:bodyPr wrap="square" lIns="0" tIns="0" rIns="0" bIns="0" rtlCol="0" anchor="t"/>
          <a:lstStyle/>
          <a:p>
            <a:pPr indent="0" marL="0">
              <a:buNone/>
            </a:pPr>
            <a:r>
              <a:rPr lang="en-US" sz="1100" dirty="0">
                <a:solidFill>
                  <a:srgbClr val="6B7278"/>
                </a:solidFill>
                <a:latin typeface="Calibri" pitchFamily="34" charset="0"/>
                <a:ea typeface="Calibri" pitchFamily="34" charset="-122"/>
                <a:cs typeface="Calibri" pitchFamily="34" charset="-120"/>
              </a:rPr>
              <a:t>Identification logic reworked</a:t>
            </a:r>
            <a:endParaRPr lang="en-US" sz="1100" dirty="0"/>
          </a:p>
        </p:txBody>
      </p:sp>
      <p:sp>
        <p:nvSpPr>
          <p:cNvPr id="32" name="Shape 30"/>
          <p:cNvSpPr/>
          <p:nvPr/>
        </p:nvSpPr>
        <p:spPr>
          <a:xfrm>
            <a:off x="10277856" y="2834640"/>
            <a:ext cx="1316736" cy="109728"/>
          </a:xfrm>
          <a:prstGeom prst="rect">
            <a:avLst/>
          </a:prstGeom>
          <a:solidFill>
            <a:srgbClr val="E0561F"/>
          </a:solidFill>
          <a:ln/>
        </p:spPr>
      </p:sp>
      <p:sp>
        <p:nvSpPr>
          <p:cNvPr id="33" name="Text 31"/>
          <p:cNvSpPr txBox="1"/>
          <p:nvPr/>
        </p:nvSpPr>
        <p:spPr>
          <a:xfrm>
            <a:off x="10277856" y="2148840"/>
            <a:ext cx="1298448" cy="457200"/>
          </a:xfrm>
          <a:prstGeom prst="rect">
            <a:avLst/>
          </a:prstGeom>
          <a:noFill/>
          <a:ln/>
        </p:spPr>
        <p:txBody>
          <a:bodyPr wrap="square" lIns="0" tIns="0" rIns="0" bIns="0" rtlCol="0" anchor="ctr"/>
          <a:lstStyle/>
          <a:p>
            <a:pPr indent="0" marL="0">
              <a:buNone/>
            </a:pPr>
            <a:r>
              <a:rPr lang="en-US" sz="2400" dirty="0">
                <a:solidFill>
                  <a:srgbClr val="E0561F"/>
                </a:solidFill>
                <a:latin typeface="Cambria" pitchFamily="34" charset="0"/>
                <a:ea typeface="Cambria" pitchFamily="34" charset="-122"/>
                <a:cs typeface="Cambria" pitchFamily="34" charset="-120"/>
              </a:rPr>
              <a:t>08</a:t>
            </a:r>
            <a:endParaRPr lang="en-US" sz="2400" dirty="0"/>
          </a:p>
        </p:txBody>
      </p:sp>
      <p:sp>
        <p:nvSpPr>
          <p:cNvPr id="34" name="Text 32"/>
          <p:cNvSpPr txBox="1"/>
          <p:nvPr/>
        </p:nvSpPr>
        <p:spPr>
          <a:xfrm>
            <a:off x="10277856" y="3108960"/>
            <a:ext cx="1252728" cy="594360"/>
          </a:xfrm>
          <a:prstGeom prst="rect">
            <a:avLst/>
          </a:prstGeom>
          <a:noFill/>
          <a:ln/>
        </p:spPr>
        <p:txBody>
          <a:bodyPr wrap="square" lIns="0" tIns="0" rIns="0" bIns="0" rtlCol="0" anchor="t"/>
          <a:lstStyle/>
          <a:p>
            <a:pPr indent="0" marL="0">
              <a:buNone/>
            </a:pPr>
            <a:r>
              <a:rPr lang="en-US" sz="1500" dirty="0">
                <a:solidFill>
                  <a:srgbClr val="1A1D21"/>
                </a:solidFill>
                <a:latin typeface="Cambria" pitchFamily="34" charset="0"/>
                <a:ea typeface="Cambria" pitchFamily="34" charset="-122"/>
                <a:cs typeface="Cambria" pitchFamily="34" charset="-120"/>
              </a:rPr>
              <a:t>Final MES</a:t>
            </a:r>
            <a:endParaRPr lang="en-US" sz="1500" dirty="0"/>
          </a:p>
        </p:txBody>
      </p:sp>
      <p:sp>
        <p:nvSpPr>
          <p:cNvPr id="35" name="Text 33"/>
          <p:cNvSpPr txBox="1"/>
          <p:nvPr/>
        </p:nvSpPr>
        <p:spPr>
          <a:xfrm>
            <a:off x="10277856" y="3730752"/>
            <a:ext cx="1207008" cy="914400"/>
          </a:xfrm>
          <a:prstGeom prst="rect">
            <a:avLst/>
          </a:prstGeom>
          <a:noFill/>
          <a:ln/>
        </p:spPr>
        <p:txBody>
          <a:bodyPr wrap="square" lIns="0" tIns="0" rIns="0" bIns="0" rtlCol="0" anchor="t"/>
          <a:lstStyle/>
          <a:p>
            <a:pPr indent="0" marL="0">
              <a:buNone/>
            </a:pPr>
            <a:r>
              <a:rPr lang="en-US" sz="1100" dirty="0">
                <a:solidFill>
                  <a:srgbClr val="6B7278"/>
                </a:solidFill>
                <a:latin typeface="Calibri" pitchFamily="34" charset="0"/>
                <a:ea typeface="Calibri" pitchFamily="34" charset="-122"/>
                <a:cs typeface="Calibri" pitchFamily="34" charset="-120"/>
              </a:rPr>
              <a:t>JHS MES v3.0, 27 sheets</a:t>
            </a:r>
            <a:endParaRPr lang="en-US" sz="1100" dirty="0"/>
          </a:p>
        </p:txBody>
      </p:sp>
      <p:sp>
        <p:nvSpPr>
          <p:cNvPr id="36" name="Text 34"/>
          <p:cNvSpPr txBox="1"/>
          <p:nvPr/>
        </p:nvSpPr>
        <p:spPr>
          <a:xfrm>
            <a:off x="548640" y="4892040"/>
            <a:ext cx="4023360" cy="274320"/>
          </a:xfrm>
          <a:prstGeom prst="rect">
            <a:avLst/>
          </a:prstGeom>
          <a:noFill/>
          <a:ln/>
        </p:spPr>
        <p:txBody>
          <a:bodyPr wrap="square" lIns="0" tIns="0" rIns="0" bIns="0" rtlCol="0" anchor="ctr"/>
          <a:lstStyle/>
          <a:p>
            <a:pPr indent="0" marL="0">
              <a:buNone/>
            </a:pPr>
            <a:r>
              <a:rPr lang="en-US" sz="1000" b="1" spc="300" kern="0" dirty="0">
                <a:solidFill>
                  <a:srgbClr val="8A949C"/>
                </a:solidFill>
                <a:latin typeface="Calibri" pitchFamily="34" charset="0"/>
                <a:ea typeface="Calibri" pitchFamily="34" charset="-122"/>
                <a:cs typeface="Calibri" pitchFamily="34" charset="-120"/>
              </a:rPr>
              <a:t>Understand</a:t>
            </a:r>
            <a:endParaRPr lang="en-US" sz="1000" dirty="0"/>
          </a:p>
        </p:txBody>
      </p:sp>
      <p:sp>
        <p:nvSpPr>
          <p:cNvPr id="37" name="Text 35"/>
          <p:cNvSpPr txBox="1"/>
          <p:nvPr/>
        </p:nvSpPr>
        <p:spPr>
          <a:xfrm>
            <a:off x="4718304" y="4892040"/>
            <a:ext cx="3657600" cy="274320"/>
          </a:xfrm>
          <a:prstGeom prst="rect">
            <a:avLst/>
          </a:prstGeom>
          <a:noFill/>
          <a:ln/>
        </p:spPr>
        <p:txBody>
          <a:bodyPr wrap="square" lIns="0" tIns="0" rIns="0" bIns="0" rtlCol="0" anchor="ctr"/>
          <a:lstStyle/>
          <a:p>
            <a:pPr indent="0" marL="0">
              <a:buNone/>
            </a:pPr>
            <a:r>
              <a:rPr lang="en-US" sz="1000" b="1" spc="300" kern="0" dirty="0">
                <a:solidFill>
                  <a:srgbClr val="121518"/>
                </a:solidFill>
                <a:latin typeface="Calibri" pitchFamily="34" charset="0"/>
                <a:ea typeface="Calibri" pitchFamily="34" charset="-122"/>
                <a:cs typeface="Calibri" pitchFamily="34" charset="-120"/>
              </a:rPr>
              <a:t>Build</a:t>
            </a:r>
            <a:endParaRPr lang="en-US" sz="1000" dirty="0"/>
          </a:p>
        </p:txBody>
      </p:sp>
      <p:sp>
        <p:nvSpPr>
          <p:cNvPr id="38" name="Text 36"/>
          <p:cNvSpPr txBox="1"/>
          <p:nvPr/>
        </p:nvSpPr>
        <p:spPr>
          <a:xfrm>
            <a:off x="548640" y="5486400"/>
            <a:ext cx="10972800" cy="457200"/>
          </a:xfrm>
          <a:prstGeom prst="rect">
            <a:avLst/>
          </a:prstGeom>
          <a:noFill/>
          <a:ln/>
        </p:spPr>
        <p:txBody>
          <a:bodyPr wrap="square" lIns="0" tIns="0" rIns="0" bIns="0" rtlCol="0" anchor="ctr"/>
          <a:lstStyle/>
          <a:p>
            <a:pPr indent="0" marL="0">
              <a:buNone/>
            </a:pPr>
            <a:r>
              <a:rPr lang="en-US" sz="1800" i="1" dirty="0">
                <a:solidFill>
                  <a:srgbClr val="3E4750"/>
                </a:solidFill>
                <a:latin typeface="Cambria" pitchFamily="34" charset="0"/>
                <a:ea typeface="Cambria" pitchFamily="34" charset="-122"/>
                <a:cs typeface="Cambria" pitchFamily="34" charset="-120"/>
              </a:rPr>
              <a:t>Three of the eight phases happened before a single formula was written.</a:t>
            </a:r>
            <a:endParaRPr lang="en-US" sz="1800" dirty="0"/>
          </a:p>
        </p:txBody>
      </p:sp>
      <p:sp>
        <p:nvSpPr>
          <p:cNvPr id="39" name="Text 37"/>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07</a:t>
            </a:r>
            <a:pPr indent="0" marL="0">
              <a:buNone/>
            </a:pPr>
            <a:r>
              <a:rPr lang="en-US" sz="1050" spc="300" kern="0" dirty="0">
                <a:solidFill>
                  <a:srgbClr val="6B7278"/>
                </a:solidFill>
                <a:latin typeface="Calibri" pitchFamily="34" charset="0"/>
                <a:ea typeface="Calibri" pitchFamily="34" charset="-122"/>
                <a:cs typeface="Calibri" pitchFamily="34" charset="-120"/>
              </a:rPr>
              <a:t>   THE BUILD</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indent="0" marL="0">
              <a:buNone/>
            </a:pPr>
            <a:r>
              <a:rPr lang="en-US" sz="3200" dirty="0">
                <a:solidFill>
                  <a:srgbClr val="1A1D21"/>
                </a:solidFill>
                <a:latin typeface="Cambria" pitchFamily="34" charset="0"/>
                <a:ea typeface="Cambria" pitchFamily="34" charset="-122"/>
                <a:cs typeface="Cambria" pitchFamily="34" charset="-120"/>
              </a:rPr>
              <a:t>How did I structure it?</a:t>
            </a:r>
            <a:endParaRPr lang="en-US" sz="3200" dirty="0"/>
          </a:p>
        </p:txBody>
      </p:sp>
      <p:sp>
        <p:nvSpPr>
          <p:cNvPr id="4" name="Shape 2"/>
          <p:cNvSpPr/>
          <p:nvPr/>
        </p:nvSpPr>
        <p:spPr>
          <a:xfrm>
            <a:off x="548640" y="1691640"/>
            <a:ext cx="6766560" cy="786384"/>
          </a:xfrm>
          <a:prstGeom prst="rect">
            <a:avLst/>
          </a:prstGeom>
          <a:solidFill>
            <a:srgbClr val="121518"/>
          </a:solidFill>
          <a:ln/>
        </p:spPr>
      </p:sp>
      <p:sp>
        <p:nvSpPr>
          <p:cNvPr id="5" name="Text 3"/>
          <p:cNvSpPr txBox="1"/>
          <p:nvPr/>
        </p:nvSpPr>
        <p:spPr>
          <a:xfrm>
            <a:off x="822960" y="1691640"/>
            <a:ext cx="3108960" cy="786384"/>
          </a:xfrm>
          <a:prstGeom prst="rect">
            <a:avLst/>
          </a:prstGeom>
          <a:noFill/>
          <a:ln/>
        </p:spPr>
        <p:txBody>
          <a:bodyPr wrap="square" lIns="0" tIns="0" rIns="0" bIns="0" rtlCol="0" anchor="ctr"/>
          <a:lstStyle/>
          <a:p>
            <a:pPr indent="0" marL="0">
              <a:buNone/>
            </a:pPr>
            <a:r>
              <a:rPr lang="en-US" sz="1500" b="1" spc="200" kern="0" dirty="0">
                <a:solidFill>
                  <a:srgbClr val="FFFFFF"/>
                </a:solidFill>
                <a:latin typeface="Calibri" pitchFamily="34" charset="0"/>
                <a:ea typeface="Calibri" pitchFamily="34" charset="-122"/>
                <a:cs typeface="Calibri" pitchFamily="34" charset="-120"/>
              </a:rPr>
              <a:t>MASTER DATA</a:t>
            </a:r>
            <a:endParaRPr lang="en-US" sz="1500" dirty="0"/>
          </a:p>
        </p:txBody>
      </p:sp>
      <p:sp>
        <p:nvSpPr>
          <p:cNvPr id="6" name="Text 4"/>
          <p:cNvSpPr txBox="1"/>
          <p:nvPr/>
        </p:nvSpPr>
        <p:spPr>
          <a:xfrm>
            <a:off x="3840480" y="1691640"/>
            <a:ext cx="3291840" cy="786384"/>
          </a:xfrm>
          <a:prstGeom prst="rect">
            <a:avLst/>
          </a:prstGeom>
          <a:noFill/>
          <a:ln/>
        </p:spPr>
        <p:txBody>
          <a:bodyPr wrap="square" lIns="0" tIns="0" rIns="0" bIns="0" rtlCol="0" anchor="ctr"/>
          <a:lstStyle/>
          <a:p>
            <a:pPr indent="0" marL="0">
              <a:buNone/>
            </a:pPr>
            <a:r>
              <a:rPr lang="en-US" sz="1150" dirty="0">
                <a:solidFill>
                  <a:srgbClr val="E8EAEC"/>
                </a:solidFill>
                <a:latin typeface="Calibri" pitchFamily="34" charset="0"/>
                <a:ea typeface="Calibri" pitchFamily="34" charset="-122"/>
                <a:cs typeface="Calibri" pitchFamily="34" charset="-120"/>
              </a:rPr>
              <a:t>Machine master with ideal speeds and OEE targets, SKU catalogue, lines, defects, materials, every dropdown source</a:t>
            </a:r>
            <a:endParaRPr lang="en-US" sz="1150" dirty="0"/>
          </a:p>
        </p:txBody>
      </p:sp>
      <p:sp>
        <p:nvSpPr>
          <p:cNvPr id="7" name="Text 5"/>
          <p:cNvSpPr txBox="1"/>
          <p:nvPr/>
        </p:nvSpPr>
        <p:spPr>
          <a:xfrm>
            <a:off x="822960" y="2459736"/>
            <a:ext cx="365760" cy="219456"/>
          </a:xfrm>
          <a:prstGeom prst="rect">
            <a:avLst/>
          </a:prstGeom>
          <a:noFill/>
          <a:ln/>
        </p:spPr>
        <p:txBody>
          <a:bodyPr wrap="square" lIns="0" tIns="0" rIns="0" bIns="0" rtlCol="0" anchor="ctr"/>
          <a:lstStyle/>
          <a:p>
            <a:pPr algn="l" indent="0" marL="0">
              <a:buNone/>
            </a:pPr>
            <a:r>
              <a:rPr lang="en-US" sz="1100" dirty="0">
                <a:solidFill>
                  <a:srgbClr val="6B7278"/>
                </a:solidFill>
                <a:latin typeface="Calibri" pitchFamily="34" charset="0"/>
                <a:ea typeface="Calibri" pitchFamily="34" charset="-122"/>
                <a:cs typeface="Calibri" pitchFamily="34" charset="-120"/>
              </a:rPr>
              <a:t>↓</a:t>
            </a:r>
            <a:endParaRPr lang="en-US" sz="1100" dirty="0"/>
          </a:p>
        </p:txBody>
      </p:sp>
      <p:sp>
        <p:nvSpPr>
          <p:cNvPr id="8" name="Shape 6"/>
          <p:cNvSpPr/>
          <p:nvPr/>
        </p:nvSpPr>
        <p:spPr>
          <a:xfrm>
            <a:off x="548640" y="2660904"/>
            <a:ext cx="6766560" cy="786384"/>
          </a:xfrm>
          <a:prstGeom prst="rect">
            <a:avLst/>
          </a:prstGeom>
          <a:solidFill>
            <a:srgbClr val="2A3138"/>
          </a:solidFill>
          <a:ln/>
        </p:spPr>
      </p:sp>
      <p:sp>
        <p:nvSpPr>
          <p:cNvPr id="9" name="Text 7"/>
          <p:cNvSpPr txBox="1"/>
          <p:nvPr/>
        </p:nvSpPr>
        <p:spPr>
          <a:xfrm>
            <a:off x="822960" y="2660904"/>
            <a:ext cx="3108960" cy="786384"/>
          </a:xfrm>
          <a:prstGeom prst="rect">
            <a:avLst/>
          </a:prstGeom>
          <a:noFill/>
          <a:ln/>
        </p:spPr>
        <p:txBody>
          <a:bodyPr wrap="square" lIns="0" tIns="0" rIns="0" bIns="0" rtlCol="0" anchor="ctr"/>
          <a:lstStyle/>
          <a:p>
            <a:pPr indent="0" marL="0">
              <a:buNone/>
            </a:pPr>
            <a:r>
              <a:rPr lang="en-US" sz="1500" b="1" spc="200" kern="0" dirty="0">
                <a:solidFill>
                  <a:srgbClr val="FFFFFF"/>
                </a:solidFill>
                <a:latin typeface="Calibri" pitchFamily="34" charset="0"/>
                <a:ea typeface="Calibri" pitchFamily="34" charset="-122"/>
                <a:cs typeface="Calibri" pitchFamily="34" charset="-120"/>
              </a:rPr>
              <a:t>TRANSACTION REGISTERS</a:t>
            </a:r>
            <a:endParaRPr lang="en-US" sz="1500" dirty="0"/>
          </a:p>
        </p:txBody>
      </p:sp>
      <p:sp>
        <p:nvSpPr>
          <p:cNvPr id="10" name="Text 8"/>
          <p:cNvSpPr txBox="1"/>
          <p:nvPr/>
        </p:nvSpPr>
        <p:spPr>
          <a:xfrm>
            <a:off x="3840480" y="2660904"/>
            <a:ext cx="3291840" cy="786384"/>
          </a:xfrm>
          <a:prstGeom prst="rect">
            <a:avLst/>
          </a:prstGeom>
          <a:noFill/>
          <a:ln/>
        </p:spPr>
        <p:txBody>
          <a:bodyPr wrap="square" lIns="0" tIns="0" rIns="0" bIns="0" rtlCol="0" anchor="ctr"/>
          <a:lstStyle/>
          <a:p>
            <a:pPr indent="0" marL="0">
              <a:buNone/>
            </a:pPr>
            <a:r>
              <a:rPr lang="en-US" sz="1150" dirty="0">
                <a:solidFill>
                  <a:srgbClr val="E8EAEC"/>
                </a:solidFill>
                <a:latin typeface="Calibri" pitchFamily="34" charset="0"/>
                <a:ea typeface="Calibri" pitchFamily="34" charset="-122"/>
                <a:cs typeface="Calibri" pitchFamily="34" charset="-120"/>
              </a:rPr>
              <a:t>RAW Production, Handle, QC, Dispatch, Downtime, Material Requirement Slip, GRN: the only sheets users type into</a:t>
            </a:r>
            <a:endParaRPr lang="en-US" sz="1150" dirty="0"/>
          </a:p>
        </p:txBody>
      </p:sp>
      <p:sp>
        <p:nvSpPr>
          <p:cNvPr id="11" name="Text 9"/>
          <p:cNvSpPr txBox="1"/>
          <p:nvPr/>
        </p:nvSpPr>
        <p:spPr>
          <a:xfrm>
            <a:off x="822960" y="3429000"/>
            <a:ext cx="365760" cy="219456"/>
          </a:xfrm>
          <a:prstGeom prst="rect">
            <a:avLst/>
          </a:prstGeom>
          <a:noFill/>
          <a:ln/>
        </p:spPr>
        <p:txBody>
          <a:bodyPr wrap="square" lIns="0" tIns="0" rIns="0" bIns="0" rtlCol="0" anchor="ctr"/>
          <a:lstStyle/>
          <a:p>
            <a:pPr algn="l" indent="0" marL="0">
              <a:buNone/>
            </a:pPr>
            <a:r>
              <a:rPr lang="en-US" sz="1100" dirty="0">
                <a:solidFill>
                  <a:srgbClr val="6B7278"/>
                </a:solidFill>
                <a:latin typeface="Calibri" pitchFamily="34" charset="0"/>
                <a:ea typeface="Calibri" pitchFamily="34" charset="-122"/>
                <a:cs typeface="Calibri" pitchFamily="34" charset="-120"/>
              </a:rPr>
              <a:t>↓</a:t>
            </a:r>
            <a:endParaRPr lang="en-US" sz="1100" dirty="0"/>
          </a:p>
        </p:txBody>
      </p:sp>
      <p:sp>
        <p:nvSpPr>
          <p:cNvPr id="12" name="Shape 10"/>
          <p:cNvSpPr/>
          <p:nvPr/>
        </p:nvSpPr>
        <p:spPr>
          <a:xfrm>
            <a:off x="548640" y="3630168"/>
            <a:ext cx="6766560" cy="786384"/>
          </a:xfrm>
          <a:prstGeom prst="rect">
            <a:avLst/>
          </a:prstGeom>
          <a:solidFill>
            <a:srgbClr val="E0561F"/>
          </a:solidFill>
          <a:ln/>
        </p:spPr>
      </p:sp>
      <p:sp>
        <p:nvSpPr>
          <p:cNvPr id="13" name="Text 11"/>
          <p:cNvSpPr txBox="1"/>
          <p:nvPr/>
        </p:nvSpPr>
        <p:spPr>
          <a:xfrm>
            <a:off x="822960" y="3630168"/>
            <a:ext cx="3108960" cy="786384"/>
          </a:xfrm>
          <a:prstGeom prst="rect">
            <a:avLst/>
          </a:prstGeom>
          <a:noFill/>
          <a:ln/>
        </p:spPr>
        <p:txBody>
          <a:bodyPr wrap="square" lIns="0" tIns="0" rIns="0" bIns="0" rtlCol="0" anchor="ctr"/>
          <a:lstStyle/>
          <a:p>
            <a:pPr indent="0" marL="0">
              <a:buNone/>
            </a:pPr>
            <a:r>
              <a:rPr lang="en-US" sz="1500" b="1" spc="200" kern="0" dirty="0">
                <a:solidFill>
                  <a:srgbClr val="FFFFFF"/>
                </a:solidFill>
                <a:latin typeface="Calibri" pitchFamily="34" charset="0"/>
                <a:ea typeface="Calibri" pitchFamily="34" charset="-122"/>
                <a:cs typeface="Calibri" pitchFamily="34" charset="-120"/>
              </a:rPr>
              <a:t>CALCULATION</a:t>
            </a:r>
            <a:endParaRPr lang="en-US" sz="1500" dirty="0"/>
          </a:p>
        </p:txBody>
      </p:sp>
      <p:sp>
        <p:nvSpPr>
          <p:cNvPr id="14" name="Text 12"/>
          <p:cNvSpPr txBox="1"/>
          <p:nvPr/>
        </p:nvSpPr>
        <p:spPr>
          <a:xfrm>
            <a:off x="3840480" y="3630168"/>
            <a:ext cx="3291840" cy="786384"/>
          </a:xfrm>
          <a:prstGeom prst="rect">
            <a:avLst/>
          </a:prstGeom>
          <a:noFill/>
          <a:ln/>
        </p:spPr>
        <p:txBody>
          <a:bodyPr wrap="square" lIns="0" tIns="0" rIns="0" bIns="0" rtlCol="0" anchor="ctr"/>
          <a:lstStyle/>
          <a:p>
            <a:pPr indent="0" marL="0">
              <a:buNone/>
            </a:pPr>
            <a:r>
              <a:rPr lang="en-US" sz="1150" dirty="0">
                <a:solidFill>
                  <a:srgbClr val="E8EAEC"/>
                </a:solidFill>
                <a:latin typeface="Calibri" pitchFamily="34" charset="0"/>
                <a:ea typeface="Calibri" pitchFamily="34" charset="-122"/>
                <a:cs typeface="Calibri" pitchFamily="34" charset="-120"/>
              </a:rPr>
              <a:t>OEE_Calculation and Master Traceability: one consolidated row per production run</a:t>
            </a:r>
            <a:endParaRPr lang="en-US" sz="1150" dirty="0"/>
          </a:p>
        </p:txBody>
      </p:sp>
      <p:sp>
        <p:nvSpPr>
          <p:cNvPr id="15" name="Text 13"/>
          <p:cNvSpPr txBox="1"/>
          <p:nvPr/>
        </p:nvSpPr>
        <p:spPr>
          <a:xfrm>
            <a:off x="822960" y="4398264"/>
            <a:ext cx="365760" cy="219456"/>
          </a:xfrm>
          <a:prstGeom prst="rect">
            <a:avLst/>
          </a:prstGeom>
          <a:noFill/>
          <a:ln/>
        </p:spPr>
        <p:txBody>
          <a:bodyPr wrap="square" lIns="0" tIns="0" rIns="0" bIns="0" rtlCol="0" anchor="ctr"/>
          <a:lstStyle/>
          <a:p>
            <a:pPr algn="l" indent="0" marL="0">
              <a:buNone/>
            </a:pPr>
            <a:r>
              <a:rPr lang="en-US" sz="1100" dirty="0">
                <a:solidFill>
                  <a:srgbClr val="6B7278"/>
                </a:solidFill>
                <a:latin typeface="Calibri" pitchFamily="34" charset="0"/>
                <a:ea typeface="Calibri" pitchFamily="34" charset="-122"/>
                <a:cs typeface="Calibri" pitchFamily="34" charset="-120"/>
              </a:rPr>
              <a:t>↓</a:t>
            </a:r>
            <a:endParaRPr lang="en-US" sz="1100" dirty="0"/>
          </a:p>
        </p:txBody>
      </p:sp>
      <p:sp>
        <p:nvSpPr>
          <p:cNvPr id="16" name="Shape 14"/>
          <p:cNvSpPr/>
          <p:nvPr/>
        </p:nvSpPr>
        <p:spPr>
          <a:xfrm>
            <a:off x="548640" y="4599432"/>
            <a:ext cx="6766560" cy="786384"/>
          </a:xfrm>
          <a:prstGeom prst="rect">
            <a:avLst/>
          </a:prstGeom>
          <a:solidFill>
            <a:srgbClr val="56606A"/>
          </a:solidFill>
          <a:ln/>
        </p:spPr>
      </p:sp>
      <p:sp>
        <p:nvSpPr>
          <p:cNvPr id="17" name="Text 15"/>
          <p:cNvSpPr txBox="1"/>
          <p:nvPr/>
        </p:nvSpPr>
        <p:spPr>
          <a:xfrm>
            <a:off x="822960" y="4599432"/>
            <a:ext cx="3108960" cy="786384"/>
          </a:xfrm>
          <a:prstGeom prst="rect">
            <a:avLst/>
          </a:prstGeom>
          <a:noFill/>
          <a:ln/>
        </p:spPr>
        <p:txBody>
          <a:bodyPr wrap="square" lIns="0" tIns="0" rIns="0" bIns="0" rtlCol="0" anchor="ctr"/>
          <a:lstStyle/>
          <a:p>
            <a:pPr indent="0" marL="0">
              <a:buNone/>
            </a:pPr>
            <a:r>
              <a:rPr lang="en-US" sz="1500" b="1" spc="200" kern="0" dirty="0">
                <a:solidFill>
                  <a:srgbClr val="FFFFFF"/>
                </a:solidFill>
                <a:latin typeface="Calibri" pitchFamily="34" charset="0"/>
                <a:ea typeface="Calibri" pitchFamily="34" charset="-122"/>
                <a:cs typeface="Calibri" pitchFamily="34" charset="-120"/>
              </a:rPr>
              <a:t>PRESENTATION</a:t>
            </a:r>
            <a:endParaRPr lang="en-US" sz="1500" dirty="0"/>
          </a:p>
        </p:txBody>
      </p:sp>
      <p:sp>
        <p:nvSpPr>
          <p:cNvPr id="18" name="Text 16"/>
          <p:cNvSpPr txBox="1"/>
          <p:nvPr/>
        </p:nvSpPr>
        <p:spPr>
          <a:xfrm>
            <a:off x="3840480" y="4599432"/>
            <a:ext cx="3291840" cy="786384"/>
          </a:xfrm>
          <a:prstGeom prst="rect">
            <a:avLst/>
          </a:prstGeom>
          <a:noFill/>
          <a:ln/>
        </p:spPr>
        <p:txBody>
          <a:bodyPr wrap="square" lIns="0" tIns="0" rIns="0" bIns="0" rtlCol="0" anchor="ctr"/>
          <a:lstStyle/>
          <a:p>
            <a:pPr indent="0" marL="0">
              <a:buNone/>
            </a:pPr>
            <a:r>
              <a:rPr lang="en-US" sz="1150" dirty="0">
                <a:solidFill>
                  <a:srgbClr val="E8EAEC"/>
                </a:solidFill>
                <a:latin typeface="Calibri" pitchFamily="34" charset="0"/>
                <a:ea typeface="Calibri" pitchFamily="34" charset="-122"/>
                <a:cs typeface="Calibri" pitchFamily="34" charset="-120"/>
              </a:rPr>
              <a:t>Dashboard, OEE, Production, Quality, Downtime, Inventory, Alerts, Trace Report, Reverse Trace, Complaint Tool</a:t>
            </a:r>
            <a:endParaRPr lang="en-US" sz="1150" dirty="0"/>
          </a:p>
        </p:txBody>
      </p:sp>
      <p:sp>
        <p:nvSpPr>
          <p:cNvPr id="19" name="Text 17"/>
          <p:cNvSpPr txBox="1"/>
          <p:nvPr/>
        </p:nvSpPr>
        <p:spPr>
          <a:xfrm>
            <a:off x="822960" y="5367528"/>
            <a:ext cx="365760" cy="219456"/>
          </a:xfrm>
          <a:prstGeom prst="rect">
            <a:avLst/>
          </a:prstGeom>
          <a:noFill/>
          <a:ln/>
        </p:spPr>
        <p:txBody>
          <a:bodyPr wrap="square" lIns="0" tIns="0" rIns="0" bIns="0" rtlCol="0" anchor="ctr"/>
          <a:lstStyle/>
          <a:p>
            <a:pPr algn="l" indent="0" marL="0">
              <a:buNone/>
            </a:pPr>
            <a:r>
              <a:rPr lang="en-US" sz="1100" dirty="0">
                <a:solidFill>
                  <a:srgbClr val="6B7278"/>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548640" y="5568696"/>
            <a:ext cx="6766560" cy="786384"/>
          </a:xfrm>
          <a:prstGeom prst="rect">
            <a:avLst/>
          </a:prstGeom>
          <a:solidFill>
            <a:srgbClr val="7A848D"/>
          </a:solidFill>
          <a:ln/>
        </p:spPr>
      </p:sp>
      <p:sp>
        <p:nvSpPr>
          <p:cNvPr id="21" name="Text 19"/>
          <p:cNvSpPr txBox="1"/>
          <p:nvPr/>
        </p:nvSpPr>
        <p:spPr>
          <a:xfrm>
            <a:off x="822960" y="5568696"/>
            <a:ext cx="3108960" cy="786384"/>
          </a:xfrm>
          <a:prstGeom prst="rect">
            <a:avLst/>
          </a:prstGeom>
          <a:noFill/>
          <a:ln/>
        </p:spPr>
        <p:txBody>
          <a:bodyPr wrap="square" lIns="0" tIns="0" rIns="0" bIns="0" rtlCol="0" anchor="ctr"/>
          <a:lstStyle/>
          <a:p>
            <a:pPr indent="0" marL="0">
              <a:buNone/>
            </a:pPr>
            <a:r>
              <a:rPr lang="en-US" sz="1500" b="1" spc="200" kern="0" dirty="0">
                <a:solidFill>
                  <a:srgbClr val="FFFFFF"/>
                </a:solidFill>
                <a:latin typeface="Calibri" pitchFamily="34" charset="0"/>
                <a:ea typeface="Calibri" pitchFamily="34" charset="-122"/>
                <a:cs typeface="Calibri" pitchFamily="34" charset="-120"/>
              </a:rPr>
              <a:t>DOCUMENTATION</a:t>
            </a:r>
            <a:endParaRPr lang="en-US" sz="1500" dirty="0"/>
          </a:p>
        </p:txBody>
      </p:sp>
      <p:sp>
        <p:nvSpPr>
          <p:cNvPr id="22" name="Text 20"/>
          <p:cNvSpPr txBox="1"/>
          <p:nvPr/>
        </p:nvSpPr>
        <p:spPr>
          <a:xfrm>
            <a:off x="3840480" y="5568696"/>
            <a:ext cx="3291840" cy="786384"/>
          </a:xfrm>
          <a:prstGeom prst="rect">
            <a:avLst/>
          </a:prstGeom>
          <a:noFill/>
          <a:ln/>
        </p:spPr>
        <p:txBody>
          <a:bodyPr wrap="square" lIns="0" tIns="0" rIns="0" bIns="0" rtlCol="0" anchor="ctr"/>
          <a:lstStyle/>
          <a:p>
            <a:pPr indent="0" marL="0">
              <a:buNone/>
            </a:pPr>
            <a:r>
              <a:rPr lang="en-US" sz="1150" dirty="0">
                <a:solidFill>
                  <a:srgbClr val="E8EAEC"/>
                </a:solidFill>
                <a:latin typeface="Calibri" pitchFamily="34" charset="0"/>
                <a:ea typeface="Calibri" pitchFamily="34" charset="-122"/>
                <a:cs typeface="Calibri" pitchFamily="34" charset="-120"/>
              </a:rPr>
              <a:t>Architecture, Instructions, Beginner Guide</a:t>
            </a:r>
            <a:endParaRPr lang="en-US" sz="1150" dirty="0"/>
          </a:p>
        </p:txBody>
      </p:sp>
      <p:sp>
        <p:nvSpPr>
          <p:cNvPr id="23" name="Text 21"/>
          <p:cNvSpPr txBox="1"/>
          <p:nvPr/>
        </p:nvSpPr>
        <p:spPr>
          <a:xfrm>
            <a:off x="7818120" y="1737360"/>
            <a:ext cx="3840480" cy="274320"/>
          </a:xfrm>
          <a:prstGeom prst="rect">
            <a:avLst/>
          </a:prstGeom>
          <a:noFill/>
          <a:ln/>
        </p:spPr>
        <p:txBody>
          <a:bodyPr wrap="square" lIns="0" tIns="0" rIns="0" bIns="0" rtlCol="0" anchor="ctr"/>
          <a:lstStyle/>
          <a:p>
            <a:pPr indent="0" marL="0">
              <a:buNone/>
            </a:pPr>
            <a:r>
              <a:rPr lang="en-US" sz="1000" b="1" spc="200" kern="0" dirty="0">
                <a:solidFill>
                  <a:srgbClr val="6B7278"/>
                </a:solidFill>
                <a:latin typeface="Calibri" pitchFamily="34" charset="0"/>
                <a:ea typeface="Calibri" pitchFamily="34" charset="-122"/>
                <a:cs typeface="Calibri" pitchFamily="34" charset="-120"/>
              </a:rPr>
              <a:t>WHAT EACH LAYER DOES</a:t>
            </a:r>
            <a:endParaRPr lang="en-US" sz="1000" dirty="0"/>
          </a:p>
        </p:txBody>
      </p:sp>
      <p:sp>
        <p:nvSpPr>
          <p:cNvPr id="24" name="Text 22"/>
          <p:cNvSpPr txBox="1"/>
          <p:nvPr/>
        </p:nvSpPr>
        <p:spPr>
          <a:xfrm>
            <a:off x="7818120" y="2103120"/>
            <a:ext cx="3840480" cy="2743200"/>
          </a:xfrm>
          <a:prstGeom prst="rect">
            <a:avLst/>
          </a:prstGeom>
          <a:noFill/>
          <a:ln/>
        </p:spPr>
        <p:txBody>
          <a:bodyPr wrap="square" lIns="0" tIns="0" rIns="0" bIns="0" rtlCol="0" anchor="t"/>
          <a:lstStyle/>
          <a:p>
            <a:pPr indent="0" marL="0">
              <a:spcAft>
                <a:spcPts val="800"/>
              </a:spcAft>
              <a:buNone/>
            </a:pPr>
            <a:r>
              <a:rPr lang="en-US" sz="1300" dirty="0">
                <a:solidFill>
                  <a:srgbClr val="3E4750"/>
                </a:solidFill>
                <a:latin typeface="Calibri" pitchFamily="34" charset="0"/>
                <a:ea typeface="Calibri" pitchFamily="34" charset="-122"/>
                <a:cs typeface="Calibri" pitchFamily="34" charset="-120"/>
              </a:rPr>
              <a:t>Master data defines the allowed values once.</a:t>
            </a:r>
            <a:endParaRPr lang="en-US" sz="1300" dirty="0"/>
          </a:p>
          <a:p>
            <a:pPr indent="0" marL="0">
              <a:spcAft>
                <a:spcPts val="800"/>
              </a:spcAft>
              <a:buNone/>
            </a:pPr>
            <a:r>
              <a:rPr lang="en-US" sz="1300" dirty="0">
                <a:solidFill>
                  <a:srgbClr val="3E4750"/>
                </a:solidFill>
                <a:latin typeface="Calibri" pitchFamily="34" charset="0"/>
                <a:ea typeface="Calibri" pitchFamily="34" charset="-122"/>
                <a:cs typeface="Calibri" pitchFamily="34" charset="-120"/>
              </a:rPr>
              <a:t>Transaction registers capture each event against those values.</a:t>
            </a:r>
            <a:endParaRPr lang="en-US" sz="1300" dirty="0"/>
          </a:p>
          <a:p>
            <a:pPr indent="0" marL="0">
              <a:spcAft>
                <a:spcPts val="800"/>
              </a:spcAft>
              <a:buNone/>
            </a:pPr>
            <a:r>
              <a:rPr lang="en-US" sz="1300" dirty="0">
                <a:solidFill>
                  <a:srgbClr val="3E4750"/>
                </a:solidFill>
                <a:latin typeface="Calibri" pitchFamily="34" charset="0"/>
                <a:ea typeface="Calibri" pitchFamily="34" charset="-122"/>
                <a:cs typeface="Calibri" pitchFamily="34" charset="-120"/>
              </a:rPr>
              <a:t>Calculation joins and summarises the registers.</a:t>
            </a:r>
            <a:endParaRPr lang="en-US" sz="1300" dirty="0"/>
          </a:p>
          <a:p>
            <a:pPr indent="0" marL="0">
              <a:spcAft>
                <a:spcPts val="800"/>
              </a:spcAft>
              <a:buNone/>
            </a:pPr>
            <a:r>
              <a:rPr lang="en-US" sz="1300" dirty="0">
                <a:solidFill>
                  <a:srgbClr val="3E4750"/>
                </a:solidFill>
                <a:latin typeface="Calibri" pitchFamily="34" charset="0"/>
                <a:ea typeface="Calibri" pitchFamily="34" charset="-122"/>
                <a:cs typeface="Calibri" pitchFamily="34" charset="-120"/>
              </a:rPr>
              <a:t>Presentation answers the questions: dashboards and trace reports.</a:t>
            </a:r>
            <a:endParaRPr lang="en-US" sz="1300" dirty="0"/>
          </a:p>
          <a:p>
            <a:pPr indent="0" marL="0">
              <a:spcAft>
                <a:spcPts val="800"/>
              </a:spcAft>
              <a:buNone/>
            </a:pPr>
            <a:r>
              <a:rPr lang="en-US" sz="1300" dirty="0">
                <a:solidFill>
                  <a:srgbClr val="3E4750"/>
                </a:solidFill>
                <a:latin typeface="Calibri" pitchFamily="34" charset="0"/>
                <a:ea typeface="Calibri" pitchFamily="34" charset="-122"/>
                <a:cs typeface="Calibri" pitchFamily="34" charset="-120"/>
              </a:rPr>
              <a:t>Documentation explains how to use and maintain it.</a:t>
            </a:r>
            <a:endParaRPr lang="en-US" sz="1300" dirty="0"/>
          </a:p>
        </p:txBody>
      </p:sp>
      <p:sp>
        <p:nvSpPr>
          <p:cNvPr id="25" name="Text 23"/>
          <p:cNvSpPr txBox="1"/>
          <p:nvPr/>
        </p:nvSpPr>
        <p:spPr>
          <a:xfrm>
            <a:off x="7818120" y="5074920"/>
            <a:ext cx="3840480" cy="731520"/>
          </a:xfrm>
          <a:prstGeom prst="rect">
            <a:avLst/>
          </a:prstGeom>
          <a:noFill/>
          <a:ln/>
        </p:spPr>
        <p:txBody>
          <a:bodyPr wrap="square" lIns="0" tIns="0" rIns="0" bIns="0" rtlCol="0" anchor="t"/>
          <a:lstStyle/>
          <a:p>
            <a:pPr indent="0" marL="0">
              <a:buNone/>
            </a:pPr>
            <a:r>
              <a:rPr lang="en-US" sz="1500" i="1" dirty="0">
                <a:solidFill>
                  <a:srgbClr val="1A1D21"/>
                </a:solidFill>
                <a:latin typeface="Cambria" pitchFamily="34" charset="0"/>
                <a:ea typeface="Cambria" pitchFamily="34" charset="-122"/>
                <a:cs typeface="Cambria" pitchFamily="34" charset="-120"/>
              </a:rPr>
              <a:t>27 worksheets. No macros. Data flows one way, so a dashboard figure and a trace record can't disagree.</a:t>
            </a:r>
            <a:endParaRPr lang="en-US" sz="1500" dirty="0"/>
          </a:p>
        </p:txBody>
      </p:sp>
      <p:sp>
        <p:nvSpPr>
          <p:cNvPr id="26" name="Text 24"/>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4F1"/>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07</a:t>
            </a:r>
            <a:pPr indent="0" marL="0">
              <a:buNone/>
            </a:pPr>
            <a:r>
              <a:rPr lang="en-US" sz="1050" spc="300" kern="0" dirty="0">
                <a:solidFill>
                  <a:srgbClr val="6B7278"/>
                </a:solidFill>
                <a:latin typeface="Calibri" pitchFamily="34" charset="0"/>
                <a:ea typeface="Calibri" pitchFamily="34" charset="-122"/>
                <a:cs typeface="Calibri" pitchFamily="34" charset="-120"/>
              </a:rPr>
              <a:t>   THE BUILD</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indent="0" marL="0">
              <a:buNone/>
            </a:pPr>
            <a:r>
              <a:rPr lang="en-US" sz="3200" dirty="0">
                <a:solidFill>
                  <a:srgbClr val="1A1D21"/>
                </a:solidFill>
                <a:latin typeface="Cambria" pitchFamily="34" charset="0"/>
                <a:ea typeface="Cambria" pitchFamily="34" charset="-122"/>
                <a:cs typeface="Cambria" pitchFamily="34" charset="-120"/>
              </a:rPr>
              <a:t>What connects the records?</a:t>
            </a:r>
            <a:endParaRPr lang="en-US" sz="3200" dirty="0"/>
          </a:p>
        </p:txBody>
      </p:sp>
      <p:sp>
        <p:nvSpPr>
          <p:cNvPr id="4" name="Shape 2"/>
          <p:cNvSpPr/>
          <p:nvPr/>
        </p:nvSpPr>
        <p:spPr>
          <a:xfrm>
            <a:off x="548640" y="1783080"/>
            <a:ext cx="3931920" cy="4023360"/>
          </a:xfrm>
          <a:prstGeom prst="rect">
            <a:avLst/>
          </a:prstGeom>
          <a:solidFill>
            <a:srgbClr val="FFFFFF"/>
          </a:solidFill>
          <a:ln w="12700">
            <a:solidFill>
              <a:srgbClr val="B9BEC2"/>
            </a:solidFill>
            <a:prstDash val="solid"/>
          </a:ln>
        </p:spPr>
      </p:sp>
      <p:sp>
        <p:nvSpPr>
          <p:cNvPr id="5" name="Text 3"/>
          <p:cNvSpPr txBox="1"/>
          <p:nvPr/>
        </p:nvSpPr>
        <p:spPr>
          <a:xfrm>
            <a:off x="822960" y="2011680"/>
            <a:ext cx="3474720" cy="274320"/>
          </a:xfrm>
          <a:prstGeom prst="rect">
            <a:avLst/>
          </a:prstGeom>
          <a:noFill/>
          <a:ln/>
        </p:spPr>
        <p:txBody>
          <a:bodyPr wrap="square" lIns="0" tIns="0" rIns="0" bIns="0" rtlCol="0" anchor="ctr"/>
          <a:lstStyle/>
          <a:p>
            <a:pPr indent="0" marL="0">
              <a:buNone/>
            </a:pPr>
            <a:r>
              <a:rPr lang="en-US" sz="1100" b="1" spc="300" kern="0" dirty="0">
                <a:solidFill>
                  <a:srgbClr val="6B7278"/>
                </a:solidFill>
                <a:latin typeface="Calibri" pitchFamily="34" charset="0"/>
                <a:ea typeface="Calibri" pitchFamily="34" charset="-122"/>
                <a:cs typeface="Calibri" pitchFamily="34" charset="-120"/>
              </a:rPr>
              <a:t>BATCH NUMBER</a:t>
            </a:r>
            <a:endParaRPr lang="en-US" sz="1100" dirty="0"/>
          </a:p>
        </p:txBody>
      </p:sp>
      <p:sp>
        <p:nvSpPr>
          <p:cNvPr id="6" name="Text 4"/>
          <p:cNvSpPr txBox="1"/>
          <p:nvPr/>
        </p:nvSpPr>
        <p:spPr>
          <a:xfrm>
            <a:off x="822960" y="2331720"/>
            <a:ext cx="3474720" cy="457200"/>
          </a:xfrm>
          <a:prstGeom prst="rect">
            <a:avLst/>
          </a:prstGeom>
          <a:noFill/>
          <a:ln/>
        </p:spPr>
        <p:txBody>
          <a:bodyPr wrap="square" lIns="0" tIns="0" rIns="0" bIns="0" rtlCol="0" anchor="ctr"/>
          <a:lstStyle/>
          <a:p>
            <a:pPr indent="0" marL="0">
              <a:buNone/>
            </a:pPr>
            <a:r>
              <a:rPr lang="en-US" sz="2200" dirty="0">
                <a:solidFill>
                  <a:srgbClr val="1A1D21"/>
                </a:solidFill>
                <a:latin typeface="Cambria" pitchFamily="34" charset="0"/>
                <a:ea typeface="Cambria" pitchFamily="34" charset="-122"/>
                <a:cs typeface="Cambria" pitchFamily="34" charset="-120"/>
              </a:rPr>
              <a:t>The printed identifier</a:t>
            </a:r>
            <a:endParaRPr lang="en-US" sz="2200" dirty="0"/>
          </a:p>
        </p:txBody>
      </p:sp>
      <p:sp>
        <p:nvSpPr>
          <p:cNvPr id="7" name="Text 5"/>
          <p:cNvSpPr txBox="1"/>
          <p:nvPr/>
        </p:nvSpPr>
        <p:spPr>
          <a:xfrm>
            <a:off x="822960" y="2971800"/>
            <a:ext cx="3474720" cy="23774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3E4750"/>
                </a:solidFill>
                <a:latin typeface="Calibri" pitchFamily="34" charset="0"/>
                <a:ea typeface="Calibri" pitchFamily="34" charset="-122"/>
                <a:cs typeface="Calibri" pitchFamily="34" charset="-120"/>
              </a:rPr>
              <a:t>On the pack, customer-facing</a:t>
            </a:r>
            <a:endParaRPr lang="en-US" sz="1400" dirty="0"/>
          </a:p>
          <a:p>
            <a:pPr marL="342900" indent="-342900">
              <a:spcAft>
                <a:spcPts val="800"/>
              </a:spcAft>
              <a:buSzPct val="100000"/>
              <a:buChar char="•"/>
            </a:pPr>
            <a:r>
              <a:rPr lang="en-US" sz="1400" dirty="0">
                <a:solidFill>
                  <a:srgbClr val="3E4750"/>
                </a:solidFill>
                <a:latin typeface="Calibri" pitchFamily="34" charset="0"/>
                <a:ea typeface="Calibri" pitchFamily="34" charset="-122"/>
                <a:cs typeface="Calibri" pitchFamily="34" charset="-120"/>
              </a:rPr>
              <a:t>Follows the plant's coding convention</a:t>
            </a:r>
            <a:endParaRPr lang="en-US" sz="1400" dirty="0"/>
          </a:p>
          <a:p>
            <a:pPr marL="342900" indent="-342900">
              <a:spcAft>
                <a:spcPts val="800"/>
              </a:spcAft>
              <a:buSzPct val="100000"/>
              <a:buChar char="•"/>
            </a:pPr>
            <a:r>
              <a:rPr lang="en-US" sz="1400" dirty="0">
                <a:solidFill>
                  <a:srgbClr val="3E4750"/>
                </a:solidFill>
                <a:latin typeface="Calibri" pitchFamily="34" charset="0"/>
                <a:ea typeface="Calibri" pitchFamily="34" charset="-122"/>
                <a:cs typeface="Calibri" pitchFamily="34" charset="-120"/>
              </a:rPr>
              <a:t>Can repeat across products, colours and dates</a:t>
            </a:r>
            <a:endParaRPr lang="en-US" sz="1400" dirty="0"/>
          </a:p>
          <a:p>
            <a:pPr marL="342900" indent="-342900">
              <a:spcAft>
                <a:spcPts val="800"/>
              </a:spcAft>
              <a:buSzPct val="100000"/>
              <a:buChar char="•"/>
            </a:pPr>
            <a:r>
              <a:rPr lang="en-US" sz="1400" b="1" dirty="0">
                <a:solidFill>
                  <a:srgbClr val="3E4750"/>
                </a:solidFill>
                <a:latin typeface="Calibri" pitchFamily="34" charset="0"/>
                <a:ea typeface="Calibri" pitchFamily="34" charset="-122"/>
                <a:cs typeface="Calibri" pitchFamily="34" charset="-120"/>
              </a:rPr>
              <a:t>Stays as it is</a:t>
            </a:r>
            <a:endParaRPr lang="en-US" sz="1400" dirty="0"/>
          </a:p>
        </p:txBody>
      </p:sp>
      <p:sp>
        <p:nvSpPr>
          <p:cNvPr id="8" name="Shape 6"/>
          <p:cNvSpPr/>
          <p:nvPr/>
        </p:nvSpPr>
        <p:spPr>
          <a:xfrm flipH="1">
            <a:off x="8229600" y="2103120"/>
            <a:ext cx="914" cy="1645920"/>
          </a:xfrm>
          <a:prstGeom prst="line">
            <a:avLst/>
          </a:prstGeom>
          <a:noFill/>
          <a:ln w="19050">
            <a:solidFill>
              <a:srgbClr val="B9BEC2"/>
            </a:solidFill>
            <a:prstDash val="solid"/>
          </a:ln>
        </p:spPr>
      </p:sp>
      <p:sp>
        <p:nvSpPr>
          <p:cNvPr id="9" name="Shape 7"/>
          <p:cNvSpPr/>
          <p:nvPr/>
        </p:nvSpPr>
        <p:spPr>
          <a:xfrm>
            <a:off x="7498080" y="1847088"/>
            <a:ext cx="1463040" cy="512064"/>
          </a:xfrm>
          <a:prstGeom prst="roundRect">
            <a:avLst>
              <a:gd name="adj" fmla="val 50000"/>
            </a:avLst>
          </a:prstGeom>
          <a:solidFill>
            <a:srgbClr val="FFFFFF"/>
          </a:solidFill>
          <a:ln w="12700">
            <a:solidFill>
              <a:srgbClr val="3E4750"/>
            </a:solidFill>
            <a:prstDash val="solid"/>
          </a:ln>
        </p:spPr>
      </p:sp>
      <p:sp>
        <p:nvSpPr>
          <p:cNvPr id="10" name="Text 8"/>
          <p:cNvSpPr txBox="1"/>
          <p:nvPr/>
        </p:nvSpPr>
        <p:spPr>
          <a:xfrm>
            <a:off x="7498080" y="1847088"/>
            <a:ext cx="1463040" cy="512064"/>
          </a:xfrm>
          <a:prstGeom prst="rect">
            <a:avLst/>
          </a:prstGeom>
          <a:noFill/>
          <a:ln/>
        </p:spPr>
        <p:txBody>
          <a:bodyPr wrap="square" lIns="0" tIns="0" rIns="0" bIns="0" rtlCol="0" anchor="ctr"/>
          <a:lstStyle/>
          <a:p>
            <a:pPr algn="ctr" indent="0" marL="0">
              <a:buNone/>
            </a:pPr>
            <a:r>
              <a:rPr lang="en-US" sz="1300" b="1" dirty="0">
                <a:solidFill>
                  <a:srgbClr val="1A1D21"/>
                </a:solidFill>
                <a:latin typeface="Calibri" pitchFamily="34" charset="0"/>
                <a:ea typeface="Calibri" pitchFamily="34" charset="-122"/>
                <a:cs typeface="Calibri" pitchFamily="34" charset="-120"/>
              </a:rPr>
              <a:t>Production</a:t>
            </a:r>
            <a:endParaRPr lang="en-US" sz="1300" dirty="0"/>
          </a:p>
        </p:txBody>
      </p:sp>
      <p:sp>
        <p:nvSpPr>
          <p:cNvPr id="11" name="Shape 9"/>
          <p:cNvSpPr/>
          <p:nvPr/>
        </p:nvSpPr>
        <p:spPr>
          <a:xfrm flipH="1">
            <a:off x="8229600" y="3240423"/>
            <a:ext cx="1739292" cy="508617"/>
          </a:xfrm>
          <a:prstGeom prst="line">
            <a:avLst/>
          </a:prstGeom>
          <a:noFill/>
          <a:ln w="19050">
            <a:solidFill>
              <a:srgbClr val="B9BEC2"/>
            </a:solidFill>
            <a:prstDash val="solid"/>
          </a:ln>
        </p:spPr>
      </p:sp>
      <p:sp>
        <p:nvSpPr>
          <p:cNvPr id="12" name="Shape 10"/>
          <p:cNvSpPr/>
          <p:nvPr/>
        </p:nvSpPr>
        <p:spPr>
          <a:xfrm>
            <a:off x="9237372" y="2984391"/>
            <a:ext cx="1463040" cy="512064"/>
          </a:xfrm>
          <a:prstGeom prst="roundRect">
            <a:avLst>
              <a:gd name="adj" fmla="val 50000"/>
            </a:avLst>
          </a:prstGeom>
          <a:solidFill>
            <a:srgbClr val="FFFFFF"/>
          </a:solidFill>
          <a:ln w="12700">
            <a:solidFill>
              <a:srgbClr val="3E4750"/>
            </a:solidFill>
            <a:prstDash val="solid"/>
          </a:ln>
        </p:spPr>
      </p:sp>
      <p:sp>
        <p:nvSpPr>
          <p:cNvPr id="13" name="Text 11"/>
          <p:cNvSpPr txBox="1"/>
          <p:nvPr/>
        </p:nvSpPr>
        <p:spPr>
          <a:xfrm>
            <a:off x="9237372" y="2984391"/>
            <a:ext cx="1463040" cy="512064"/>
          </a:xfrm>
          <a:prstGeom prst="rect">
            <a:avLst/>
          </a:prstGeom>
          <a:noFill/>
          <a:ln/>
        </p:spPr>
        <p:txBody>
          <a:bodyPr wrap="square" lIns="0" tIns="0" rIns="0" bIns="0" rtlCol="0" anchor="ctr"/>
          <a:lstStyle/>
          <a:p>
            <a:pPr algn="ctr" indent="0" marL="0">
              <a:buNone/>
            </a:pPr>
            <a:r>
              <a:rPr lang="en-US" sz="1300" b="1" dirty="0">
                <a:solidFill>
                  <a:srgbClr val="1A1D21"/>
                </a:solidFill>
                <a:latin typeface="Calibri" pitchFamily="34" charset="0"/>
                <a:ea typeface="Calibri" pitchFamily="34" charset="-122"/>
                <a:cs typeface="Calibri" pitchFamily="34" charset="-120"/>
              </a:rPr>
              <a:t>Quality</a:t>
            </a:r>
            <a:endParaRPr lang="en-US" sz="1300" dirty="0"/>
          </a:p>
        </p:txBody>
      </p:sp>
      <p:sp>
        <p:nvSpPr>
          <p:cNvPr id="14" name="Shape 12"/>
          <p:cNvSpPr/>
          <p:nvPr/>
        </p:nvSpPr>
        <p:spPr>
          <a:xfrm>
            <a:off x="8229600" y="3749040"/>
            <a:ext cx="1074942" cy="1331577"/>
          </a:xfrm>
          <a:prstGeom prst="line">
            <a:avLst/>
          </a:prstGeom>
          <a:noFill/>
          <a:ln w="19050">
            <a:solidFill>
              <a:srgbClr val="B9BEC2"/>
            </a:solidFill>
            <a:prstDash val="solid"/>
          </a:ln>
        </p:spPr>
      </p:sp>
      <p:sp>
        <p:nvSpPr>
          <p:cNvPr id="15" name="Shape 13"/>
          <p:cNvSpPr/>
          <p:nvPr/>
        </p:nvSpPr>
        <p:spPr>
          <a:xfrm>
            <a:off x="8573022" y="4824585"/>
            <a:ext cx="1463040" cy="512064"/>
          </a:xfrm>
          <a:prstGeom prst="roundRect">
            <a:avLst>
              <a:gd name="adj" fmla="val 50000"/>
            </a:avLst>
          </a:prstGeom>
          <a:solidFill>
            <a:srgbClr val="FFFFFF"/>
          </a:solidFill>
          <a:ln w="12700">
            <a:solidFill>
              <a:srgbClr val="3E4750"/>
            </a:solidFill>
            <a:prstDash val="solid"/>
          </a:ln>
        </p:spPr>
      </p:sp>
      <p:sp>
        <p:nvSpPr>
          <p:cNvPr id="16" name="Text 14"/>
          <p:cNvSpPr txBox="1"/>
          <p:nvPr/>
        </p:nvSpPr>
        <p:spPr>
          <a:xfrm>
            <a:off x="8573022" y="4824585"/>
            <a:ext cx="1463040" cy="512064"/>
          </a:xfrm>
          <a:prstGeom prst="rect">
            <a:avLst/>
          </a:prstGeom>
          <a:noFill/>
          <a:ln/>
        </p:spPr>
        <p:txBody>
          <a:bodyPr wrap="square" lIns="0" tIns="0" rIns="0" bIns="0" rtlCol="0" anchor="ctr"/>
          <a:lstStyle/>
          <a:p>
            <a:pPr algn="ctr" indent="0" marL="0">
              <a:buNone/>
            </a:pPr>
            <a:r>
              <a:rPr lang="en-US" sz="1300" b="1" dirty="0">
                <a:solidFill>
                  <a:srgbClr val="1A1D21"/>
                </a:solidFill>
                <a:latin typeface="Calibri" pitchFamily="34" charset="0"/>
                <a:ea typeface="Calibri" pitchFamily="34" charset="-122"/>
                <a:cs typeface="Calibri" pitchFamily="34" charset="-120"/>
              </a:rPr>
              <a:t>Dispatch</a:t>
            </a:r>
            <a:endParaRPr lang="en-US" sz="1300" dirty="0"/>
          </a:p>
        </p:txBody>
      </p:sp>
      <p:sp>
        <p:nvSpPr>
          <p:cNvPr id="17" name="Shape 15"/>
          <p:cNvSpPr/>
          <p:nvPr/>
        </p:nvSpPr>
        <p:spPr>
          <a:xfrm flipH="1">
            <a:off x="7154658" y="3749040"/>
            <a:ext cx="1074942" cy="1331577"/>
          </a:xfrm>
          <a:prstGeom prst="line">
            <a:avLst/>
          </a:prstGeom>
          <a:noFill/>
          <a:ln w="19050">
            <a:solidFill>
              <a:srgbClr val="B9BEC2"/>
            </a:solidFill>
            <a:prstDash val="solid"/>
          </a:ln>
        </p:spPr>
      </p:sp>
      <p:sp>
        <p:nvSpPr>
          <p:cNvPr id="18" name="Shape 16"/>
          <p:cNvSpPr/>
          <p:nvPr/>
        </p:nvSpPr>
        <p:spPr>
          <a:xfrm>
            <a:off x="6423138" y="4824585"/>
            <a:ext cx="1463040" cy="512064"/>
          </a:xfrm>
          <a:prstGeom prst="roundRect">
            <a:avLst>
              <a:gd name="adj" fmla="val 50000"/>
            </a:avLst>
          </a:prstGeom>
          <a:solidFill>
            <a:srgbClr val="FFFFFF"/>
          </a:solidFill>
          <a:ln w="12700">
            <a:solidFill>
              <a:srgbClr val="3E4750"/>
            </a:solidFill>
            <a:prstDash val="solid"/>
          </a:ln>
        </p:spPr>
      </p:sp>
      <p:sp>
        <p:nvSpPr>
          <p:cNvPr id="19" name="Text 17"/>
          <p:cNvSpPr txBox="1"/>
          <p:nvPr/>
        </p:nvSpPr>
        <p:spPr>
          <a:xfrm>
            <a:off x="6423138" y="4824585"/>
            <a:ext cx="1463040" cy="512064"/>
          </a:xfrm>
          <a:prstGeom prst="rect">
            <a:avLst/>
          </a:prstGeom>
          <a:noFill/>
          <a:ln/>
        </p:spPr>
        <p:txBody>
          <a:bodyPr wrap="square" lIns="0" tIns="0" rIns="0" bIns="0" rtlCol="0" anchor="ctr"/>
          <a:lstStyle/>
          <a:p>
            <a:pPr algn="ctr" indent="0" marL="0">
              <a:buNone/>
            </a:pPr>
            <a:r>
              <a:rPr lang="en-US" sz="1300" b="1" dirty="0">
                <a:solidFill>
                  <a:srgbClr val="1A1D21"/>
                </a:solidFill>
                <a:latin typeface="Calibri" pitchFamily="34" charset="0"/>
                <a:ea typeface="Calibri" pitchFamily="34" charset="-122"/>
                <a:cs typeface="Calibri" pitchFamily="34" charset="-120"/>
              </a:rPr>
              <a:t>Downtime</a:t>
            </a:r>
            <a:endParaRPr lang="en-US" sz="1300" dirty="0"/>
          </a:p>
        </p:txBody>
      </p:sp>
      <p:sp>
        <p:nvSpPr>
          <p:cNvPr id="20" name="Shape 18"/>
          <p:cNvSpPr/>
          <p:nvPr/>
        </p:nvSpPr>
        <p:spPr>
          <a:xfrm>
            <a:off x="6490308" y="3240423"/>
            <a:ext cx="1739292" cy="508617"/>
          </a:xfrm>
          <a:prstGeom prst="line">
            <a:avLst/>
          </a:prstGeom>
          <a:noFill/>
          <a:ln w="19050">
            <a:solidFill>
              <a:srgbClr val="B9BEC2"/>
            </a:solidFill>
            <a:prstDash val="solid"/>
          </a:ln>
        </p:spPr>
      </p:sp>
      <p:sp>
        <p:nvSpPr>
          <p:cNvPr id="21" name="Shape 19"/>
          <p:cNvSpPr/>
          <p:nvPr/>
        </p:nvSpPr>
        <p:spPr>
          <a:xfrm>
            <a:off x="5758788" y="2984391"/>
            <a:ext cx="1463040" cy="512064"/>
          </a:xfrm>
          <a:prstGeom prst="roundRect">
            <a:avLst>
              <a:gd name="adj" fmla="val 50000"/>
            </a:avLst>
          </a:prstGeom>
          <a:solidFill>
            <a:srgbClr val="FFFFFF"/>
          </a:solidFill>
          <a:ln w="12700">
            <a:solidFill>
              <a:srgbClr val="3E4750"/>
            </a:solidFill>
            <a:prstDash val="solid"/>
          </a:ln>
        </p:spPr>
      </p:sp>
      <p:sp>
        <p:nvSpPr>
          <p:cNvPr id="22" name="Text 20"/>
          <p:cNvSpPr txBox="1"/>
          <p:nvPr/>
        </p:nvSpPr>
        <p:spPr>
          <a:xfrm>
            <a:off x="5758788" y="2984391"/>
            <a:ext cx="1463040" cy="512064"/>
          </a:xfrm>
          <a:prstGeom prst="rect">
            <a:avLst/>
          </a:prstGeom>
          <a:noFill/>
          <a:ln/>
        </p:spPr>
        <p:txBody>
          <a:bodyPr wrap="square" lIns="0" tIns="0" rIns="0" bIns="0" rtlCol="0" anchor="ctr"/>
          <a:lstStyle/>
          <a:p>
            <a:pPr algn="ctr" indent="0" marL="0">
              <a:buNone/>
            </a:pPr>
            <a:r>
              <a:rPr lang="en-US" sz="1300" b="1" dirty="0">
                <a:solidFill>
                  <a:srgbClr val="1A1D21"/>
                </a:solidFill>
                <a:latin typeface="Calibri" pitchFamily="34" charset="0"/>
                <a:ea typeface="Calibri" pitchFamily="34" charset="-122"/>
                <a:cs typeface="Calibri" pitchFamily="34" charset="-120"/>
              </a:rPr>
              <a:t>Material</a:t>
            </a:r>
            <a:endParaRPr lang="en-US" sz="1300" dirty="0"/>
          </a:p>
        </p:txBody>
      </p:sp>
      <p:sp>
        <p:nvSpPr>
          <p:cNvPr id="23" name="Shape 21"/>
          <p:cNvSpPr/>
          <p:nvPr/>
        </p:nvSpPr>
        <p:spPr>
          <a:xfrm>
            <a:off x="7360920" y="2880360"/>
            <a:ext cx="1737360" cy="1737360"/>
          </a:xfrm>
          <a:prstGeom prst="ellipse">
            <a:avLst/>
          </a:prstGeom>
          <a:solidFill>
            <a:srgbClr val="E0561F"/>
          </a:solidFill>
          <a:ln w="38100">
            <a:solidFill>
              <a:srgbClr val="FFFFFF"/>
            </a:solidFill>
            <a:prstDash val="solid"/>
          </a:ln>
        </p:spPr>
      </p:sp>
      <p:sp>
        <p:nvSpPr>
          <p:cNvPr id="24" name="Text 22"/>
          <p:cNvSpPr txBox="1"/>
          <p:nvPr/>
        </p:nvSpPr>
        <p:spPr>
          <a:xfrm>
            <a:off x="7360920" y="2880360"/>
            <a:ext cx="1737360" cy="173736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Production</a:t>
            </a:r>
            <a:endParaRPr lang="en-US" sz="1700" dirty="0"/>
          </a:p>
          <a:p>
            <a:pPr algn="ctr" indent="0" marL="0">
              <a:buNone/>
            </a:pPr>
            <a:r>
              <a:rPr lang="en-US" sz="1700" b="1" dirty="0">
                <a:solidFill>
                  <a:srgbClr val="FFFFFF"/>
                </a:solidFill>
                <a:latin typeface="Cambria" pitchFamily="34" charset="0"/>
                <a:ea typeface="Cambria" pitchFamily="34" charset="-122"/>
                <a:cs typeface="Cambria" pitchFamily="34" charset="-120"/>
              </a:rPr>
              <a:t>Run ID</a:t>
            </a:r>
            <a:endParaRPr lang="en-US" sz="1700" dirty="0"/>
          </a:p>
        </p:txBody>
      </p:sp>
      <p:sp>
        <p:nvSpPr>
          <p:cNvPr id="25" name="Text 23"/>
          <p:cNvSpPr txBox="1"/>
          <p:nvPr/>
        </p:nvSpPr>
        <p:spPr>
          <a:xfrm>
            <a:off x="4937760" y="5897880"/>
            <a:ext cx="6766560" cy="411480"/>
          </a:xfrm>
          <a:prstGeom prst="rect">
            <a:avLst/>
          </a:prstGeom>
          <a:noFill/>
          <a:ln/>
        </p:spPr>
        <p:txBody>
          <a:bodyPr wrap="square" lIns="0" tIns="0" rIns="0" bIns="0" rtlCol="0" anchor="ctr"/>
          <a:lstStyle/>
          <a:p>
            <a:pPr algn="ctr" indent="0" marL="0">
              <a:buNone/>
            </a:pPr>
            <a:r>
              <a:rPr lang="en-US" sz="1800" i="1" dirty="0">
                <a:solidFill>
                  <a:srgbClr val="1A1D21"/>
                </a:solidFill>
                <a:latin typeface="Cambria" pitchFamily="34" charset="0"/>
                <a:ea typeface="Cambria" pitchFamily="34" charset="-122"/>
                <a:cs typeface="Cambria" pitchFamily="34" charset="-120"/>
              </a:rPr>
              <a:t>Production Run ID = the internal system key</a:t>
            </a:r>
            <a:endParaRPr lang="en-US" sz="1800" dirty="0"/>
          </a:p>
        </p:txBody>
      </p:sp>
      <p:sp>
        <p:nvSpPr>
          <p:cNvPr id="26" name="Text 24"/>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21518"/>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08</a:t>
            </a:r>
            <a:pPr indent="0" marL="0">
              <a:buNone/>
            </a:pPr>
            <a:r>
              <a:rPr lang="en-US" sz="1050" spc="300" kern="0" dirty="0">
                <a:solidFill>
                  <a:srgbClr val="9AA1A7"/>
                </a:solidFill>
                <a:latin typeface="Calibri" pitchFamily="34" charset="0"/>
                <a:ea typeface="Calibri" pitchFamily="34" charset="-122"/>
                <a:cs typeface="Calibri" pitchFamily="34" charset="-120"/>
              </a:rPr>
              <a:t>   THE REVEAL</a:t>
            </a:r>
            <a:endParaRPr lang="en-US" sz="1050" dirty="0"/>
          </a:p>
        </p:txBody>
      </p:sp>
      <p:sp>
        <p:nvSpPr>
          <p:cNvPr id="3" name="Text 1"/>
          <p:cNvSpPr txBox="1"/>
          <p:nvPr/>
        </p:nvSpPr>
        <p:spPr>
          <a:xfrm>
            <a:off x="548640" y="731520"/>
            <a:ext cx="10972800" cy="731520"/>
          </a:xfrm>
          <a:prstGeom prst="rect">
            <a:avLst/>
          </a:prstGeom>
          <a:noFill/>
          <a:ln/>
        </p:spPr>
        <p:txBody>
          <a:bodyPr wrap="square" lIns="0" tIns="0" rIns="0" bIns="0" rtlCol="0" anchor="ctr"/>
          <a:lstStyle/>
          <a:p>
            <a:pPr indent="0" marL="0">
              <a:buNone/>
            </a:pPr>
            <a:r>
              <a:rPr lang="en-US" sz="3600" dirty="0">
                <a:solidFill>
                  <a:srgbClr val="FFFFFF"/>
                </a:solidFill>
                <a:latin typeface="Cambria" pitchFamily="34" charset="0"/>
                <a:ea typeface="Cambria" pitchFamily="34" charset="-122"/>
                <a:cs typeface="Cambria" pitchFamily="34" charset="-120"/>
              </a:rPr>
              <a:t>Before I show you the system…</a:t>
            </a:r>
            <a:endParaRPr lang="en-US" sz="3600" dirty="0"/>
          </a:p>
        </p:txBody>
      </p:sp>
      <p:sp>
        <p:nvSpPr>
          <p:cNvPr id="4" name="Text 2"/>
          <p:cNvSpPr txBox="1"/>
          <p:nvPr/>
        </p:nvSpPr>
        <p:spPr>
          <a:xfrm>
            <a:off x="548640" y="1463040"/>
            <a:ext cx="10972800" cy="411480"/>
          </a:xfrm>
          <a:prstGeom prst="rect">
            <a:avLst/>
          </a:prstGeom>
          <a:noFill/>
          <a:ln/>
        </p:spPr>
        <p:txBody>
          <a:bodyPr wrap="square" lIns="0" tIns="0" rIns="0" bIns="0" rtlCol="0" anchor="ctr"/>
          <a:lstStyle/>
          <a:p>
            <a:pPr indent="0" marL="0">
              <a:buNone/>
            </a:pPr>
            <a:r>
              <a:rPr lang="en-US" sz="1700" dirty="0">
                <a:solidFill>
                  <a:srgbClr val="AEB4B9"/>
                </a:solidFill>
                <a:latin typeface="Calibri" pitchFamily="34" charset="0"/>
                <a:ea typeface="Calibri" pitchFamily="34" charset="-122"/>
                <a:cs typeface="Calibri" pitchFamily="34" charset="-120"/>
              </a:rPr>
              <a:t>May I take approximately 40 seconds to show you the workflow?</a:t>
            </a:r>
            <a:endParaRPr lang="en-US" sz="1700" dirty="0"/>
          </a:p>
        </p:txBody>
      </p:sp>
      <p:sp>
        <p:nvSpPr>
          <p:cNvPr id="5" name="Shape 3"/>
          <p:cNvSpPr/>
          <p:nvPr/>
        </p:nvSpPr>
        <p:spPr>
          <a:xfrm>
            <a:off x="2212848" y="2148840"/>
            <a:ext cx="7772400" cy="4370832"/>
          </a:xfrm>
          <a:prstGeom prst="rect">
            <a:avLst/>
          </a:prstGeom>
          <a:solidFill>
            <a:srgbClr val="0B0D0F"/>
          </a:solidFill>
          <a:ln w="12700">
            <a:solidFill>
              <a:srgbClr val="3A4148"/>
            </a:solidFill>
            <a:prstDash val="solid"/>
          </a:ln>
        </p:spPr>
      </p:sp>
      <p:sp>
        <p:nvSpPr>
          <p:cNvPr id="6" name="Shape 4"/>
          <p:cNvSpPr/>
          <p:nvPr/>
        </p:nvSpPr>
        <p:spPr>
          <a:xfrm>
            <a:off x="5596128" y="3648456"/>
            <a:ext cx="1005840" cy="1005840"/>
          </a:xfrm>
          <a:prstGeom prst="ellipse">
            <a:avLst/>
          </a:prstGeom>
          <a:solidFill>
            <a:srgbClr val="E0561F"/>
          </a:solidFill>
          <a:ln/>
        </p:spPr>
      </p:sp>
      <p:sp>
        <p:nvSpPr>
          <p:cNvPr id="7" name="Shape 5"/>
          <p:cNvSpPr/>
          <p:nvPr/>
        </p:nvSpPr>
        <p:spPr>
          <a:xfrm rot="5400000">
            <a:off x="5952744" y="3904488"/>
            <a:ext cx="438912" cy="493776"/>
          </a:xfrm>
          <a:prstGeom prst="triangle">
            <a:avLst/>
          </a:prstGeom>
          <a:solidFill>
            <a:srgbClr val="FFFFFF"/>
          </a:solidFill>
          <a:ln/>
        </p:spPr>
      </p:sp>
      <p:sp>
        <p:nvSpPr>
          <p:cNvPr id="8" name="Text 6"/>
          <p:cNvSpPr txBox="1"/>
          <p:nvPr/>
        </p:nvSpPr>
        <p:spPr>
          <a:xfrm>
            <a:off x="2212848" y="4837176"/>
            <a:ext cx="7772400" cy="320040"/>
          </a:xfrm>
          <a:prstGeom prst="rect">
            <a:avLst/>
          </a:prstGeom>
          <a:noFill/>
          <a:ln/>
        </p:spPr>
        <p:txBody>
          <a:bodyPr wrap="square" lIns="0" tIns="0" rIns="0" bIns="0" rtlCol="0" anchor="ctr"/>
          <a:lstStyle/>
          <a:p>
            <a:pPr algn="ctr" indent="0" marL="0">
              <a:buNone/>
            </a:pPr>
            <a:r>
              <a:rPr lang="en-US" sz="1300" dirty="0">
                <a:solidFill>
                  <a:srgbClr val="AEB4B9"/>
                </a:solidFill>
                <a:latin typeface="Calibri" pitchFamily="34" charset="0"/>
                <a:ea typeface="Calibri" pitchFamily="34" charset="-122"/>
                <a:cs typeface="Calibri" pitchFamily="34" charset="-120"/>
              </a:rPr>
              <a:t>MES workflow  ·  approx. 40 s</a:t>
            </a:r>
            <a:endParaRPr lang="en-US" sz="1300" dirty="0"/>
          </a:p>
        </p:txBody>
      </p:sp>
      <p:sp>
        <p:nvSpPr>
          <p:cNvPr id="9" name="Text 7"/>
          <p:cNvSpPr txBox="1"/>
          <p:nvPr/>
        </p:nvSpPr>
        <p:spPr>
          <a:xfrm>
            <a:off x="2212848" y="6062472"/>
            <a:ext cx="7772400" cy="274320"/>
          </a:xfrm>
          <a:prstGeom prst="rect">
            <a:avLst/>
          </a:prstGeom>
          <a:noFill/>
          <a:ln/>
        </p:spPr>
        <p:txBody>
          <a:bodyPr wrap="square" lIns="0" tIns="0" rIns="0" bIns="0" rtlCol="0" anchor="ctr"/>
          <a:lstStyle/>
          <a:p>
            <a:pPr algn="ctr" indent="0" marL="0">
              <a:buNone/>
            </a:pPr>
            <a:r>
              <a:rPr lang="en-US" sz="1000" i="1" dirty="0">
                <a:solidFill>
                  <a:srgbClr val="5E666C"/>
                </a:solidFill>
                <a:latin typeface="Calibri" pitchFamily="34" charset="0"/>
                <a:ea typeface="Calibri" pitchFamily="34" charset="-122"/>
                <a:cs typeface="Calibri" pitchFamily="34" charset="-120"/>
              </a:rPr>
              <a:t>Insert &gt; Video &gt; This Device, then size it to this frame</a:t>
            </a:r>
            <a:endParaRPr lang="en-US" sz="1000" dirty="0"/>
          </a:p>
        </p:txBody>
      </p:sp>
      <p:sp>
        <p:nvSpPr>
          <p:cNvPr id="10" name="Text 8"/>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7D85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4F1"/>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09</a:t>
            </a:r>
            <a:pPr indent="0" marL="0">
              <a:buNone/>
            </a:pPr>
            <a:r>
              <a:rPr lang="en-US" sz="1050" spc="300" kern="0" dirty="0">
                <a:solidFill>
                  <a:srgbClr val="6B7278"/>
                </a:solidFill>
                <a:latin typeface="Calibri" pitchFamily="34" charset="0"/>
                <a:ea typeface="Calibri" pitchFamily="34" charset="-122"/>
                <a:cs typeface="Calibri" pitchFamily="34" charset="-120"/>
              </a:rPr>
              <a:t>   THE SYSTEM COMES ALIVE  ·  DASHBOARD</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indent="0" marL="0">
              <a:buNone/>
            </a:pPr>
            <a:r>
              <a:rPr lang="en-US" sz="2800" dirty="0">
                <a:solidFill>
                  <a:srgbClr val="1A1D21"/>
                </a:solidFill>
                <a:latin typeface="Cambria" pitchFamily="34" charset="0"/>
                <a:ea typeface="Cambria" pitchFamily="34" charset="-122"/>
                <a:cs typeface="Cambria" pitchFamily="34" charset="-120"/>
              </a:rPr>
              <a:t>Can management see the overall picture?</a:t>
            </a:r>
            <a:endParaRPr lang="en-US" sz="2800" dirty="0"/>
          </a:p>
        </p:txBody>
      </p:sp>
      <p:sp>
        <p:nvSpPr>
          <p:cNvPr id="4" name="Shape 2"/>
          <p:cNvSpPr/>
          <p:nvPr/>
        </p:nvSpPr>
        <p:spPr>
          <a:xfrm>
            <a:off x="493776" y="1401721"/>
            <a:ext cx="11201400" cy="3185877"/>
          </a:xfrm>
          <a:prstGeom prst="rect">
            <a:avLst/>
          </a:prstGeom>
          <a:solidFill>
            <a:srgbClr val="FFFFFF"/>
          </a:solidFill>
          <a:ln w="9525">
            <a:solidFill>
              <a:srgbClr val="D6D8D6"/>
            </a:solidFill>
            <a:prstDash val="solid"/>
          </a:ln>
          <a:effectLst>
            <a:outerShdw sx="100000" sy="100000" kx="0" ky="0" algn="bl" rotWithShape="0" blurRad="101600" dist="25400" dir="5400000">
              <a:srgbClr val="000000">
                <a:alpha val="18000"/>
              </a:srgbClr>
            </a:outerShdw>
          </a:effectLst>
        </p:spPr>
      </p:sp>
      <p:pic>
        <p:nvPicPr>
          <p:cNvPr id="5" name="Image 0" descr="/home/user/master-executive-system/sip-presentation/source/crops/dash_top.png">    </p:cNvPr>
          <p:cNvPicPr>
            <a:picLocks noChangeAspect="1"/>
          </p:cNvPicPr>
          <p:nvPr/>
        </p:nvPicPr>
        <p:blipFill>
          <a:blip r:embed="rId1"/>
          <a:stretch>
            <a:fillRect/>
          </a:stretch>
        </p:blipFill>
        <p:spPr>
          <a:xfrm>
            <a:off x="548640" y="1456585"/>
            <a:ext cx="11091672" cy="3076149"/>
          </a:xfrm>
          <a:prstGeom prst="rect">
            <a:avLst/>
          </a:prstGeom>
        </p:spPr>
      </p:pic>
      <p:sp>
        <p:nvSpPr>
          <p:cNvPr id="6" name="Shape 3"/>
          <p:cNvSpPr/>
          <p:nvPr/>
        </p:nvSpPr>
        <p:spPr>
          <a:xfrm>
            <a:off x="2158716" y="2322503"/>
            <a:ext cx="329184" cy="329184"/>
          </a:xfrm>
          <a:prstGeom prst="ellipse">
            <a:avLst/>
          </a:prstGeom>
          <a:solidFill>
            <a:srgbClr val="E0561F"/>
          </a:solidFill>
          <a:ln w="19050">
            <a:solidFill>
              <a:srgbClr val="FFFFFF"/>
            </a:solidFill>
            <a:prstDash val="solid"/>
          </a:ln>
        </p:spPr>
      </p:sp>
      <p:sp>
        <p:nvSpPr>
          <p:cNvPr id="7" name="Text 4"/>
          <p:cNvSpPr txBox="1"/>
          <p:nvPr/>
        </p:nvSpPr>
        <p:spPr>
          <a:xfrm>
            <a:off x="2158716" y="2322503"/>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2269632" y="3168444"/>
            <a:ext cx="329184" cy="329184"/>
          </a:xfrm>
          <a:prstGeom prst="ellipse">
            <a:avLst/>
          </a:prstGeom>
          <a:solidFill>
            <a:srgbClr val="E0561F"/>
          </a:solidFill>
          <a:ln w="19050">
            <a:solidFill>
              <a:srgbClr val="FFFFFF"/>
            </a:solidFill>
            <a:prstDash val="solid"/>
          </a:ln>
        </p:spPr>
      </p:sp>
      <p:sp>
        <p:nvSpPr>
          <p:cNvPr id="9" name="Text 6"/>
          <p:cNvSpPr txBox="1"/>
          <p:nvPr/>
        </p:nvSpPr>
        <p:spPr>
          <a:xfrm>
            <a:off x="2269632" y="316844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Shape 7"/>
          <p:cNvSpPr/>
          <p:nvPr/>
        </p:nvSpPr>
        <p:spPr>
          <a:xfrm>
            <a:off x="6262634" y="3168444"/>
            <a:ext cx="329184" cy="329184"/>
          </a:xfrm>
          <a:prstGeom prst="ellipse">
            <a:avLst/>
          </a:prstGeom>
          <a:solidFill>
            <a:srgbClr val="E0561F"/>
          </a:solidFill>
          <a:ln w="19050">
            <a:solidFill>
              <a:srgbClr val="FFFFFF"/>
            </a:solidFill>
            <a:prstDash val="solid"/>
          </a:ln>
        </p:spPr>
      </p:sp>
      <p:sp>
        <p:nvSpPr>
          <p:cNvPr id="11" name="Text 8"/>
          <p:cNvSpPr txBox="1"/>
          <p:nvPr/>
        </p:nvSpPr>
        <p:spPr>
          <a:xfrm>
            <a:off x="6262634" y="316844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Shape 9"/>
          <p:cNvSpPr/>
          <p:nvPr/>
        </p:nvSpPr>
        <p:spPr>
          <a:xfrm>
            <a:off x="7870927" y="3168444"/>
            <a:ext cx="329184" cy="329184"/>
          </a:xfrm>
          <a:prstGeom prst="ellipse">
            <a:avLst/>
          </a:prstGeom>
          <a:solidFill>
            <a:srgbClr val="E0561F"/>
          </a:solidFill>
          <a:ln w="19050">
            <a:solidFill>
              <a:srgbClr val="FFFFFF"/>
            </a:solidFill>
            <a:prstDash val="solid"/>
          </a:ln>
        </p:spPr>
      </p:sp>
      <p:sp>
        <p:nvSpPr>
          <p:cNvPr id="13" name="Text 10"/>
          <p:cNvSpPr txBox="1"/>
          <p:nvPr/>
        </p:nvSpPr>
        <p:spPr>
          <a:xfrm>
            <a:off x="7870927" y="316844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4" name="Shape 11"/>
          <p:cNvSpPr/>
          <p:nvPr/>
        </p:nvSpPr>
        <p:spPr>
          <a:xfrm>
            <a:off x="9479219" y="3168444"/>
            <a:ext cx="329184" cy="329184"/>
          </a:xfrm>
          <a:prstGeom prst="ellipse">
            <a:avLst/>
          </a:prstGeom>
          <a:solidFill>
            <a:srgbClr val="E0561F"/>
          </a:solidFill>
          <a:ln w="19050">
            <a:solidFill>
              <a:srgbClr val="FFFFFF"/>
            </a:solidFill>
            <a:prstDash val="solid"/>
          </a:ln>
        </p:spPr>
      </p:sp>
      <p:sp>
        <p:nvSpPr>
          <p:cNvPr id="15" name="Text 12"/>
          <p:cNvSpPr txBox="1"/>
          <p:nvPr/>
        </p:nvSpPr>
        <p:spPr>
          <a:xfrm>
            <a:off x="9479219" y="316844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6" name="Shape 13"/>
          <p:cNvSpPr/>
          <p:nvPr/>
        </p:nvSpPr>
        <p:spPr>
          <a:xfrm>
            <a:off x="10921136" y="3168444"/>
            <a:ext cx="329184" cy="329184"/>
          </a:xfrm>
          <a:prstGeom prst="ellipse">
            <a:avLst/>
          </a:prstGeom>
          <a:solidFill>
            <a:srgbClr val="E0561F"/>
          </a:solidFill>
          <a:ln w="19050">
            <a:solidFill>
              <a:srgbClr val="FFFFFF"/>
            </a:solidFill>
            <a:prstDash val="solid"/>
          </a:ln>
        </p:spPr>
      </p:sp>
      <p:sp>
        <p:nvSpPr>
          <p:cNvPr id="17" name="Text 14"/>
          <p:cNvSpPr txBox="1"/>
          <p:nvPr/>
        </p:nvSpPr>
        <p:spPr>
          <a:xfrm>
            <a:off x="10921136" y="316844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8" name="Shape 15"/>
          <p:cNvSpPr/>
          <p:nvPr/>
        </p:nvSpPr>
        <p:spPr>
          <a:xfrm>
            <a:off x="9590136" y="4045147"/>
            <a:ext cx="329184" cy="329184"/>
          </a:xfrm>
          <a:prstGeom prst="ellipse">
            <a:avLst/>
          </a:prstGeom>
          <a:solidFill>
            <a:srgbClr val="E0561F"/>
          </a:solidFill>
          <a:ln w="19050">
            <a:solidFill>
              <a:srgbClr val="FFFFFF"/>
            </a:solidFill>
            <a:prstDash val="solid"/>
          </a:ln>
        </p:spPr>
      </p:sp>
      <p:sp>
        <p:nvSpPr>
          <p:cNvPr id="19" name="Text 16"/>
          <p:cNvSpPr txBox="1"/>
          <p:nvPr/>
        </p:nvSpPr>
        <p:spPr>
          <a:xfrm>
            <a:off x="9590136" y="4045147"/>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0" name="Shape 17"/>
          <p:cNvSpPr/>
          <p:nvPr/>
        </p:nvSpPr>
        <p:spPr>
          <a:xfrm>
            <a:off x="10699303" y="4045147"/>
            <a:ext cx="329184" cy="329184"/>
          </a:xfrm>
          <a:prstGeom prst="ellipse">
            <a:avLst/>
          </a:prstGeom>
          <a:solidFill>
            <a:srgbClr val="E0561F"/>
          </a:solidFill>
          <a:ln w="19050">
            <a:solidFill>
              <a:srgbClr val="FFFFFF"/>
            </a:solidFill>
            <a:prstDash val="solid"/>
          </a:ln>
        </p:spPr>
      </p:sp>
      <p:sp>
        <p:nvSpPr>
          <p:cNvPr id="21" name="Text 18"/>
          <p:cNvSpPr txBox="1"/>
          <p:nvPr/>
        </p:nvSpPr>
        <p:spPr>
          <a:xfrm>
            <a:off x="10699303" y="4045147"/>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2" name="Shape 19"/>
          <p:cNvSpPr/>
          <p:nvPr/>
        </p:nvSpPr>
        <p:spPr>
          <a:xfrm>
            <a:off x="548640" y="4855464"/>
            <a:ext cx="292608" cy="292608"/>
          </a:xfrm>
          <a:prstGeom prst="ellipse">
            <a:avLst/>
          </a:prstGeom>
          <a:solidFill>
            <a:srgbClr val="E0561F"/>
          </a:solidFill>
          <a:ln w="19050">
            <a:solidFill>
              <a:srgbClr val="FFFFFF"/>
            </a:solidFill>
            <a:prstDash val="solid"/>
          </a:ln>
        </p:spPr>
      </p:sp>
      <p:sp>
        <p:nvSpPr>
          <p:cNvPr id="23" name="Text 20"/>
          <p:cNvSpPr txBox="1"/>
          <p:nvPr/>
        </p:nvSpPr>
        <p:spPr>
          <a:xfrm>
            <a:off x="548640" y="485546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4" name="Text 21"/>
          <p:cNvSpPr txBox="1"/>
          <p:nvPr/>
        </p:nvSpPr>
        <p:spPr>
          <a:xfrm>
            <a:off x="960120" y="4828032"/>
            <a:ext cx="2331720" cy="640080"/>
          </a:xfrm>
          <a:prstGeom prst="rect">
            <a:avLst/>
          </a:prstGeom>
          <a:noFill/>
          <a:ln/>
        </p:spPr>
        <p:txBody>
          <a:bodyPr wrap="square" lIns="0" tIns="0" rIns="0" bIns="0" rtlCol="0" anchor="t"/>
          <a:lstStyle/>
          <a:p>
            <a:pPr indent="0" marL="0">
              <a:buNone/>
            </a:pPr>
            <a:r>
              <a:rPr lang="en-US" sz="1150" b="1" dirty="0">
                <a:solidFill>
                  <a:srgbClr val="1A1D21"/>
                </a:solidFill>
                <a:latin typeface="Calibri" pitchFamily="34" charset="0"/>
                <a:ea typeface="Calibri" pitchFamily="34" charset="-122"/>
                <a:cs typeface="Calibri" pitchFamily="34" charset="-120"/>
              </a:rPr>
              <a:t>Filters</a:t>
            </a:r>
            <a:endParaRPr lang="en-US" sz="1150" dirty="0"/>
          </a:p>
          <a:p>
            <a:pPr indent="0" marL="0">
              <a:buNone/>
            </a:pPr>
            <a:r>
              <a:rPr lang="en-US" sz="1150" dirty="0">
                <a:solidFill>
                  <a:srgbClr val="6B7278"/>
                </a:solidFill>
                <a:latin typeface="Calibri" pitchFamily="34" charset="0"/>
                <a:ea typeface="Calibri" pitchFamily="34" charset="-122"/>
                <a:cs typeface="Calibri" pitchFamily="34" charset="-120"/>
              </a:rPr>
              <a:t>Brand, plant, shift, period. One block re-drives ten pages.</a:t>
            </a:r>
            <a:endParaRPr lang="en-US" sz="1150" dirty="0"/>
          </a:p>
        </p:txBody>
      </p:sp>
      <p:sp>
        <p:nvSpPr>
          <p:cNvPr id="25" name="Shape 22"/>
          <p:cNvSpPr/>
          <p:nvPr/>
        </p:nvSpPr>
        <p:spPr>
          <a:xfrm>
            <a:off x="3355848" y="4855464"/>
            <a:ext cx="292608" cy="292608"/>
          </a:xfrm>
          <a:prstGeom prst="ellipse">
            <a:avLst/>
          </a:prstGeom>
          <a:solidFill>
            <a:srgbClr val="E0561F"/>
          </a:solidFill>
          <a:ln w="19050">
            <a:solidFill>
              <a:srgbClr val="FFFFFF"/>
            </a:solidFill>
            <a:prstDash val="solid"/>
          </a:ln>
        </p:spPr>
      </p:sp>
      <p:sp>
        <p:nvSpPr>
          <p:cNvPr id="26" name="Text 23"/>
          <p:cNvSpPr txBox="1"/>
          <p:nvPr/>
        </p:nvSpPr>
        <p:spPr>
          <a:xfrm>
            <a:off x="3355848" y="485546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7" name="Text 24"/>
          <p:cNvSpPr txBox="1"/>
          <p:nvPr/>
        </p:nvSpPr>
        <p:spPr>
          <a:xfrm>
            <a:off x="3767328" y="4828032"/>
            <a:ext cx="2331720" cy="640080"/>
          </a:xfrm>
          <a:prstGeom prst="rect">
            <a:avLst/>
          </a:prstGeom>
          <a:noFill/>
          <a:ln/>
        </p:spPr>
        <p:txBody>
          <a:bodyPr wrap="square" lIns="0" tIns="0" rIns="0" bIns="0" rtlCol="0" anchor="t"/>
          <a:lstStyle/>
          <a:p>
            <a:pPr indent="0" marL="0">
              <a:buNone/>
            </a:pPr>
            <a:r>
              <a:rPr lang="en-US" sz="1150" b="1" dirty="0">
                <a:solidFill>
                  <a:srgbClr val="1A1D21"/>
                </a:solidFill>
                <a:latin typeface="Calibri" pitchFamily="34" charset="0"/>
                <a:ea typeface="Calibri" pitchFamily="34" charset="-122"/>
                <a:cs typeface="Calibri" pitchFamily="34" charset="-120"/>
              </a:rPr>
              <a:t>Actual vs planned</a:t>
            </a:r>
            <a:endParaRPr lang="en-US" sz="1150" dirty="0"/>
          </a:p>
          <a:p>
            <a:pPr indent="0" marL="0">
              <a:buNone/>
            </a:pPr>
            <a:r>
              <a:rPr lang="en-US" sz="1150" dirty="0">
                <a:solidFill>
                  <a:srgbClr val="6B7278"/>
                </a:solidFill>
                <a:latin typeface="Calibri" pitchFamily="34" charset="0"/>
                <a:ea typeface="Calibri" pitchFamily="34" charset="-122"/>
                <a:cs typeface="Calibri" pitchFamily="34" charset="-120"/>
              </a:rPr>
              <a:t>Units produced against the schedule.</a:t>
            </a:r>
            <a:endParaRPr lang="en-US" sz="1150" dirty="0"/>
          </a:p>
        </p:txBody>
      </p:sp>
      <p:sp>
        <p:nvSpPr>
          <p:cNvPr id="28" name="Shape 25"/>
          <p:cNvSpPr/>
          <p:nvPr/>
        </p:nvSpPr>
        <p:spPr>
          <a:xfrm>
            <a:off x="6163056" y="4855464"/>
            <a:ext cx="292608" cy="292608"/>
          </a:xfrm>
          <a:prstGeom prst="ellipse">
            <a:avLst/>
          </a:prstGeom>
          <a:solidFill>
            <a:srgbClr val="E0561F"/>
          </a:solidFill>
          <a:ln w="19050">
            <a:solidFill>
              <a:srgbClr val="FFFFFF"/>
            </a:solidFill>
            <a:prstDash val="solid"/>
          </a:ln>
        </p:spPr>
      </p:sp>
      <p:sp>
        <p:nvSpPr>
          <p:cNvPr id="29" name="Text 26"/>
          <p:cNvSpPr txBox="1"/>
          <p:nvPr/>
        </p:nvSpPr>
        <p:spPr>
          <a:xfrm>
            <a:off x="6163056" y="485546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0" name="Text 27"/>
          <p:cNvSpPr txBox="1"/>
          <p:nvPr/>
        </p:nvSpPr>
        <p:spPr>
          <a:xfrm>
            <a:off x="6574536" y="4828032"/>
            <a:ext cx="2331720" cy="640080"/>
          </a:xfrm>
          <a:prstGeom prst="rect">
            <a:avLst/>
          </a:prstGeom>
          <a:noFill/>
          <a:ln/>
        </p:spPr>
        <p:txBody>
          <a:bodyPr wrap="square" lIns="0" tIns="0" rIns="0" bIns="0" rtlCol="0" anchor="t"/>
          <a:lstStyle/>
          <a:p>
            <a:pPr indent="0" marL="0">
              <a:buNone/>
            </a:pPr>
            <a:r>
              <a:rPr lang="en-US" sz="1150" b="1" dirty="0">
                <a:solidFill>
                  <a:srgbClr val="1A1D21"/>
                </a:solidFill>
                <a:latin typeface="Calibri" pitchFamily="34" charset="0"/>
                <a:ea typeface="Calibri" pitchFamily="34" charset="-122"/>
                <a:cs typeface="Calibri" pitchFamily="34" charset="-120"/>
              </a:rPr>
              <a:t>Production efficiency</a:t>
            </a:r>
            <a:endParaRPr lang="en-US" sz="1150" dirty="0"/>
          </a:p>
          <a:p>
            <a:pPr indent="0" marL="0">
              <a:buNone/>
            </a:pPr>
            <a:r>
              <a:rPr lang="en-US" sz="1150" dirty="0">
                <a:solidFill>
                  <a:srgbClr val="6B7278"/>
                </a:solidFill>
                <a:latin typeface="Calibri" pitchFamily="34" charset="0"/>
                <a:ea typeface="Calibri" pitchFamily="34" charset="-122"/>
                <a:cs typeface="Calibri" pitchFamily="34" charset="-120"/>
              </a:rPr>
              <a:t>Actual ÷ planned.</a:t>
            </a:r>
            <a:endParaRPr lang="en-US" sz="1150" dirty="0"/>
          </a:p>
        </p:txBody>
      </p:sp>
      <p:sp>
        <p:nvSpPr>
          <p:cNvPr id="31" name="Shape 28"/>
          <p:cNvSpPr/>
          <p:nvPr/>
        </p:nvSpPr>
        <p:spPr>
          <a:xfrm>
            <a:off x="8970264" y="4855464"/>
            <a:ext cx="292608" cy="292608"/>
          </a:xfrm>
          <a:prstGeom prst="ellipse">
            <a:avLst/>
          </a:prstGeom>
          <a:solidFill>
            <a:srgbClr val="E0561F"/>
          </a:solidFill>
          <a:ln w="19050">
            <a:solidFill>
              <a:srgbClr val="FFFFFF"/>
            </a:solidFill>
            <a:prstDash val="solid"/>
          </a:ln>
        </p:spPr>
      </p:sp>
      <p:sp>
        <p:nvSpPr>
          <p:cNvPr id="32" name="Text 29"/>
          <p:cNvSpPr txBox="1"/>
          <p:nvPr/>
        </p:nvSpPr>
        <p:spPr>
          <a:xfrm>
            <a:off x="8970264" y="485546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3" name="Text 30"/>
          <p:cNvSpPr txBox="1"/>
          <p:nvPr/>
        </p:nvSpPr>
        <p:spPr>
          <a:xfrm>
            <a:off x="9381744" y="4828032"/>
            <a:ext cx="2331720" cy="640080"/>
          </a:xfrm>
          <a:prstGeom prst="rect">
            <a:avLst/>
          </a:prstGeom>
          <a:noFill/>
          <a:ln/>
        </p:spPr>
        <p:txBody>
          <a:bodyPr wrap="square" lIns="0" tIns="0" rIns="0" bIns="0" rtlCol="0" anchor="t"/>
          <a:lstStyle/>
          <a:p>
            <a:pPr indent="0" marL="0">
              <a:buNone/>
            </a:pPr>
            <a:r>
              <a:rPr lang="en-US" sz="1150" b="1" dirty="0">
                <a:solidFill>
                  <a:srgbClr val="1A1D21"/>
                </a:solidFill>
                <a:latin typeface="Calibri" pitchFamily="34" charset="0"/>
                <a:ea typeface="Calibri" pitchFamily="34" charset="-122"/>
                <a:cs typeface="Calibri" pitchFamily="34" charset="-120"/>
              </a:rPr>
              <a:t>OEE</a:t>
            </a:r>
            <a:endParaRPr lang="en-US" sz="1150" dirty="0"/>
          </a:p>
          <a:p>
            <a:pPr indent="0" marL="0">
              <a:buNone/>
            </a:pPr>
            <a:r>
              <a:rPr lang="en-US" sz="1150" dirty="0">
                <a:solidFill>
                  <a:srgbClr val="6B7278"/>
                </a:solidFill>
                <a:latin typeface="Calibri" pitchFamily="34" charset="0"/>
                <a:ea typeface="Calibri" pitchFamily="34" charset="-122"/>
                <a:cs typeface="Calibri" pitchFamily="34" charset="-120"/>
              </a:rPr>
              <a:t>Availability × performance × quality.</a:t>
            </a:r>
            <a:endParaRPr lang="en-US" sz="1150" dirty="0"/>
          </a:p>
        </p:txBody>
      </p:sp>
      <p:sp>
        <p:nvSpPr>
          <p:cNvPr id="34" name="Shape 31"/>
          <p:cNvSpPr/>
          <p:nvPr/>
        </p:nvSpPr>
        <p:spPr>
          <a:xfrm>
            <a:off x="548640" y="5541264"/>
            <a:ext cx="292608" cy="292608"/>
          </a:xfrm>
          <a:prstGeom prst="ellipse">
            <a:avLst/>
          </a:prstGeom>
          <a:solidFill>
            <a:srgbClr val="E0561F"/>
          </a:solidFill>
          <a:ln w="19050">
            <a:solidFill>
              <a:srgbClr val="FFFFFF"/>
            </a:solidFill>
            <a:prstDash val="solid"/>
          </a:ln>
        </p:spPr>
      </p:sp>
      <p:sp>
        <p:nvSpPr>
          <p:cNvPr id="35" name="Text 32"/>
          <p:cNvSpPr txBox="1"/>
          <p:nvPr/>
        </p:nvSpPr>
        <p:spPr>
          <a:xfrm>
            <a:off x="548640" y="554126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6" name="Text 33"/>
          <p:cNvSpPr txBox="1"/>
          <p:nvPr/>
        </p:nvSpPr>
        <p:spPr>
          <a:xfrm>
            <a:off x="960120" y="5513832"/>
            <a:ext cx="2331720" cy="640080"/>
          </a:xfrm>
          <a:prstGeom prst="rect">
            <a:avLst/>
          </a:prstGeom>
          <a:noFill/>
          <a:ln/>
        </p:spPr>
        <p:txBody>
          <a:bodyPr wrap="square" lIns="0" tIns="0" rIns="0" bIns="0" rtlCol="0" anchor="t"/>
          <a:lstStyle/>
          <a:p>
            <a:pPr indent="0" marL="0">
              <a:buNone/>
            </a:pPr>
            <a:r>
              <a:rPr lang="en-US" sz="1150" b="1" dirty="0">
                <a:solidFill>
                  <a:srgbClr val="1A1D21"/>
                </a:solidFill>
                <a:latin typeface="Calibri" pitchFamily="34" charset="0"/>
                <a:ea typeface="Calibri" pitchFamily="34" charset="-122"/>
                <a:cs typeface="Calibri" pitchFamily="34" charset="-120"/>
              </a:rPr>
              <a:t>Yield</a:t>
            </a:r>
            <a:endParaRPr lang="en-US" sz="1150" dirty="0"/>
          </a:p>
          <a:p>
            <a:pPr indent="0" marL="0">
              <a:buNone/>
            </a:pPr>
            <a:r>
              <a:rPr lang="en-US" sz="1150" dirty="0">
                <a:solidFill>
                  <a:srgbClr val="6B7278"/>
                </a:solidFill>
                <a:latin typeface="Calibri" pitchFamily="34" charset="0"/>
                <a:ea typeface="Calibri" pitchFamily="34" charset="-122"/>
                <a:cs typeface="Calibri" pitchFamily="34" charset="-120"/>
              </a:rPr>
              <a:t>Good ÷ total produced.</a:t>
            </a:r>
            <a:endParaRPr lang="en-US" sz="1150" dirty="0"/>
          </a:p>
        </p:txBody>
      </p:sp>
      <p:sp>
        <p:nvSpPr>
          <p:cNvPr id="37" name="Shape 34"/>
          <p:cNvSpPr/>
          <p:nvPr/>
        </p:nvSpPr>
        <p:spPr>
          <a:xfrm>
            <a:off x="3355848" y="5541264"/>
            <a:ext cx="292608" cy="292608"/>
          </a:xfrm>
          <a:prstGeom prst="ellipse">
            <a:avLst/>
          </a:prstGeom>
          <a:solidFill>
            <a:srgbClr val="E0561F"/>
          </a:solidFill>
          <a:ln w="19050">
            <a:solidFill>
              <a:srgbClr val="FFFFFF"/>
            </a:solidFill>
            <a:prstDash val="solid"/>
          </a:ln>
        </p:spPr>
      </p:sp>
      <p:sp>
        <p:nvSpPr>
          <p:cNvPr id="38" name="Text 35"/>
          <p:cNvSpPr txBox="1"/>
          <p:nvPr/>
        </p:nvSpPr>
        <p:spPr>
          <a:xfrm>
            <a:off x="3355848" y="554126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9" name="Text 36"/>
          <p:cNvSpPr txBox="1"/>
          <p:nvPr/>
        </p:nvSpPr>
        <p:spPr>
          <a:xfrm>
            <a:off x="3767328" y="5513832"/>
            <a:ext cx="2331720" cy="640080"/>
          </a:xfrm>
          <a:prstGeom prst="rect">
            <a:avLst/>
          </a:prstGeom>
          <a:noFill/>
          <a:ln/>
        </p:spPr>
        <p:txBody>
          <a:bodyPr wrap="square" lIns="0" tIns="0" rIns="0" bIns="0" rtlCol="0" anchor="t"/>
          <a:lstStyle/>
          <a:p>
            <a:pPr indent="0" marL="0">
              <a:buNone/>
            </a:pPr>
            <a:r>
              <a:rPr lang="en-US" sz="1150" b="1" dirty="0">
                <a:solidFill>
                  <a:srgbClr val="1A1D21"/>
                </a:solidFill>
                <a:latin typeface="Calibri" pitchFamily="34" charset="0"/>
                <a:ea typeface="Calibri" pitchFamily="34" charset="-122"/>
                <a:cs typeface="Calibri" pitchFamily="34" charset="-120"/>
              </a:rPr>
              <a:t>Rejection rate</a:t>
            </a:r>
            <a:endParaRPr lang="en-US" sz="1150" dirty="0"/>
          </a:p>
          <a:p>
            <a:pPr indent="0" marL="0">
              <a:buNone/>
            </a:pPr>
            <a:r>
              <a:rPr lang="en-US" sz="1150" dirty="0">
                <a:solidFill>
                  <a:srgbClr val="6B7278"/>
                </a:solidFill>
                <a:latin typeface="Calibri" pitchFamily="34" charset="0"/>
                <a:ea typeface="Calibri" pitchFamily="34" charset="-122"/>
                <a:cs typeface="Calibri" pitchFamily="34" charset="-120"/>
              </a:rPr>
              <a:t>Rejected ÷ produced.</a:t>
            </a:r>
            <a:endParaRPr lang="en-US" sz="1150" dirty="0"/>
          </a:p>
        </p:txBody>
      </p:sp>
      <p:sp>
        <p:nvSpPr>
          <p:cNvPr id="40" name="Shape 37"/>
          <p:cNvSpPr/>
          <p:nvPr/>
        </p:nvSpPr>
        <p:spPr>
          <a:xfrm>
            <a:off x="6163056" y="5541264"/>
            <a:ext cx="292608" cy="292608"/>
          </a:xfrm>
          <a:prstGeom prst="ellipse">
            <a:avLst/>
          </a:prstGeom>
          <a:solidFill>
            <a:srgbClr val="E0561F"/>
          </a:solidFill>
          <a:ln w="19050">
            <a:solidFill>
              <a:srgbClr val="FFFFFF"/>
            </a:solidFill>
            <a:prstDash val="solid"/>
          </a:ln>
        </p:spPr>
      </p:sp>
      <p:sp>
        <p:nvSpPr>
          <p:cNvPr id="41" name="Text 38"/>
          <p:cNvSpPr txBox="1"/>
          <p:nvPr/>
        </p:nvSpPr>
        <p:spPr>
          <a:xfrm>
            <a:off x="6163056" y="554126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2" name="Text 39"/>
          <p:cNvSpPr txBox="1"/>
          <p:nvPr/>
        </p:nvSpPr>
        <p:spPr>
          <a:xfrm>
            <a:off x="6574536" y="5513832"/>
            <a:ext cx="2331720" cy="640080"/>
          </a:xfrm>
          <a:prstGeom prst="rect">
            <a:avLst/>
          </a:prstGeom>
          <a:noFill/>
          <a:ln/>
        </p:spPr>
        <p:txBody>
          <a:bodyPr wrap="square" lIns="0" tIns="0" rIns="0" bIns="0" rtlCol="0" anchor="t"/>
          <a:lstStyle/>
          <a:p>
            <a:pPr indent="0" marL="0">
              <a:buNone/>
            </a:pPr>
            <a:r>
              <a:rPr lang="en-US" sz="1150" b="1" dirty="0">
                <a:solidFill>
                  <a:srgbClr val="1A1D21"/>
                </a:solidFill>
                <a:latin typeface="Calibri" pitchFamily="34" charset="0"/>
                <a:ea typeface="Calibri" pitchFamily="34" charset="-122"/>
                <a:cs typeface="Calibri" pitchFamily="34" charset="-120"/>
              </a:rPr>
              <a:t>Downtime</a:t>
            </a:r>
            <a:endParaRPr lang="en-US" sz="1150" dirty="0"/>
          </a:p>
          <a:p>
            <a:pPr indent="0" marL="0">
              <a:buNone/>
            </a:pPr>
            <a:r>
              <a:rPr lang="en-US" sz="1150" dirty="0">
                <a:solidFill>
                  <a:srgbClr val="6B7278"/>
                </a:solidFill>
                <a:latin typeface="Calibri" pitchFamily="34" charset="0"/>
                <a:ea typeface="Calibri" pitchFamily="34" charset="-122"/>
                <a:cs typeface="Calibri" pitchFamily="34" charset="-120"/>
              </a:rPr>
              <a:t>Minutes lost, from the downtime log.</a:t>
            </a:r>
            <a:endParaRPr lang="en-US" sz="1150" dirty="0"/>
          </a:p>
        </p:txBody>
      </p:sp>
      <p:sp>
        <p:nvSpPr>
          <p:cNvPr id="43" name="Shape 40"/>
          <p:cNvSpPr/>
          <p:nvPr/>
        </p:nvSpPr>
        <p:spPr>
          <a:xfrm>
            <a:off x="8970264" y="5541264"/>
            <a:ext cx="292608" cy="292608"/>
          </a:xfrm>
          <a:prstGeom prst="ellipse">
            <a:avLst/>
          </a:prstGeom>
          <a:solidFill>
            <a:srgbClr val="E0561F"/>
          </a:solidFill>
          <a:ln w="19050">
            <a:solidFill>
              <a:srgbClr val="FFFFFF"/>
            </a:solidFill>
            <a:prstDash val="solid"/>
          </a:ln>
        </p:spPr>
      </p:sp>
      <p:sp>
        <p:nvSpPr>
          <p:cNvPr id="44" name="Text 41"/>
          <p:cNvSpPr txBox="1"/>
          <p:nvPr/>
        </p:nvSpPr>
        <p:spPr>
          <a:xfrm>
            <a:off x="8970264" y="554126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5" name="Text 42"/>
          <p:cNvSpPr txBox="1"/>
          <p:nvPr/>
        </p:nvSpPr>
        <p:spPr>
          <a:xfrm>
            <a:off x="9381744" y="5513832"/>
            <a:ext cx="2331720" cy="640080"/>
          </a:xfrm>
          <a:prstGeom prst="rect">
            <a:avLst/>
          </a:prstGeom>
          <a:noFill/>
          <a:ln/>
        </p:spPr>
        <p:txBody>
          <a:bodyPr wrap="square" lIns="0" tIns="0" rIns="0" bIns="0" rtlCol="0" anchor="t"/>
          <a:lstStyle/>
          <a:p>
            <a:pPr indent="0" marL="0">
              <a:buNone/>
            </a:pPr>
            <a:r>
              <a:rPr lang="en-US" sz="1150" b="1" dirty="0">
                <a:solidFill>
                  <a:srgbClr val="1A1D21"/>
                </a:solidFill>
                <a:latin typeface="Calibri" pitchFamily="34" charset="0"/>
                <a:ea typeface="Calibri" pitchFamily="34" charset="-122"/>
                <a:cs typeface="Calibri" pitchFamily="34" charset="-120"/>
              </a:rPr>
              <a:t>Alerts</a:t>
            </a:r>
            <a:endParaRPr lang="en-US" sz="1150" dirty="0"/>
          </a:p>
          <a:p>
            <a:pPr indent="0" marL="0">
              <a:buNone/>
            </a:pPr>
            <a:r>
              <a:rPr lang="en-US" sz="1150" dirty="0">
                <a:solidFill>
                  <a:srgbClr val="6B7278"/>
                </a:solidFill>
                <a:latin typeface="Calibri" pitchFamily="34" charset="0"/>
                <a:ea typeface="Calibri" pitchFamily="34" charset="-122"/>
                <a:cs typeface="Calibri" pitchFamily="34" charset="-120"/>
              </a:rPr>
              <a:t>Open critical exceptions needing action today.</a:t>
            </a:r>
            <a:endParaRPr lang="en-US" sz="1150" dirty="0"/>
          </a:p>
        </p:txBody>
      </p:sp>
      <p:sp>
        <p:nvSpPr>
          <p:cNvPr id="46" name="Text 43"/>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i="1" dirty="0">
                <a:solidFill>
                  <a:srgbClr val="6B7278"/>
                </a:solidFill>
                <a:latin typeface="Calibri" pitchFamily="34" charset="0"/>
                <a:ea typeface="Calibri" pitchFamily="34" charset="-122"/>
                <a:cs typeface="Calibri" pitchFamily="34" charset="-120"/>
              </a:rPr>
              <a:t>Demonstration dataset: fictional operational data modelled on client brand accounts. Not the company's production records.</a:t>
            </a:r>
            <a:endParaRPr lang="en-US" sz="900" dirty="0"/>
          </a:p>
        </p:txBody>
      </p:sp>
      <p:sp>
        <p:nvSpPr>
          <p:cNvPr id="47" name="Text 44"/>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09</a:t>
            </a:r>
            <a:pPr indent="0" marL="0">
              <a:buNone/>
            </a:pPr>
            <a:r>
              <a:rPr lang="en-US" sz="1050" spc="300" kern="0" dirty="0">
                <a:solidFill>
                  <a:srgbClr val="6B7278"/>
                </a:solidFill>
                <a:latin typeface="Calibri" pitchFamily="34" charset="0"/>
                <a:ea typeface="Calibri" pitchFamily="34" charset="-122"/>
                <a:cs typeface="Calibri" pitchFamily="34" charset="-120"/>
              </a:rPr>
              <a:t>   THE SYSTEM COMES ALIVE  ·  DRILL-DOWN</a:t>
            </a:r>
            <a:endParaRPr lang="en-US" sz="1050" dirty="0"/>
          </a:p>
        </p:txBody>
      </p:sp>
      <p:sp>
        <p:nvSpPr>
          <p:cNvPr id="3" name="Text 1"/>
          <p:cNvSpPr txBox="1"/>
          <p:nvPr/>
        </p:nvSpPr>
        <p:spPr>
          <a:xfrm>
            <a:off x="548640" y="713232"/>
            <a:ext cx="11155680" cy="822960"/>
          </a:xfrm>
          <a:prstGeom prst="rect">
            <a:avLst/>
          </a:prstGeom>
          <a:noFill/>
          <a:ln/>
        </p:spPr>
        <p:txBody>
          <a:bodyPr wrap="square" lIns="0" tIns="0" rIns="0" bIns="0" rtlCol="0" anchor="t"/>
          <a:lstStyle/>
          <a:p>
            <a:pPr indent="0" marL="0">
              <a:buNone/>
            </a:pPr>
            <a:r>
              <a:rPr lang="en-US" sz="2800" dirty="0">
                <a:solidFill>
                  <a:srgbClr val="1A1D21"/>
                </a:solidFill>
                <a:latin typeface="Cambria" pitchFamily="34" charset="0"/>
                <a:ea typeface="Cambria" pitchFamily="34" charset="-122"/>
                <a:cs typeface="Cambria" pitchFamily="34" charset="-120"/>
              </a:rPr>
              <a:t>Can we drill from a KPI to the records behind it?</a:t>
            </a:r>
            <a:endParaRPr lang="en-US" sz="2800" dirty="0"/>
          </a:p>
        </p:txBody>
      </p:sp>
      <p:sp>
        <p:nvSpPr>
          <p:cNvPr id="4" name="Text 2"/>
          <p:cNvSpPr txBox="1"/>
          <p:nvPr/>
        </p:nvSpPr>
        <p:spPr>
          <a:xfrm>
            <a:off x="548640" y="1371600"/>
            <a:ext cx="5486400" cy="256032"/>
          </a:xfrm>
          <a:prstGeom prst="rect">
            <a:avLst/>
          </a:prstGeom>
          <a:noFill/>
          <a:ln/>
        </p:spPr>
        <p:txBody>
          <a:bodyPr wrap="square" lIns="0" tIns="0" rIns="0" bIns="0" rtlCol="0" anchor="ctr"/>
          <a:lstStyle/>
          <a:p>
            <a:pPr indent="0" marL="0">
              <a:buNone/>
            </a:pPr>
            <a:r>
              <a:rPr lang="en-US" sz="1000" b="1" spc="200" kern="0" dirty="0">
                <a:solidFill>
                  <a:srgbClr val="E0561F"/>
                </a:solidFill>
                <a:latin typeface="Calibri" pitchFamily="34" charset="0"/>
                <a:ea typeface="Calibri" pitchFamily="34" charset="-122"/>
                <a:cs typeface="Calibri" pitchFamily="34" charset="-120"/>
              </a:rPr>
              <a:t>PRODUCTION</a:t>
            </a:r>
            <a:endParaRPr lang="en-US" sz="1000" dirty="0"/>
          </a:p>
        </p:txBody>
      </p:sp>
      <p:sp>
        <p:nvSpPr>
          <p:cNvPr id="5" name="Text 3"/>
          <p:cNvSpPr txBox="1"/>
          <p:nvPr/>
        </p:nvSpPr>
        <p:spPr>
          <a:xfrm>
            <a:off x="6291072" y="1371600"/>
            <a:ext cx="5486400" cy="256032"/>
          </a:xfrm>
          <a:prstGeom prst="rect">
            <a:avLst/>
          </a:prstGeom>
          <a:noFill/>
          <a:ln/>
        </p:spPr>
        <p:txBody>
          <a:bodyPr wrap="square" lIns="0" tIns="0" rIns="0" bIns="0" rtlCol="0" anchor="ctr"/>
          <a:lstStyle/>
          <a:p>
            <a:pPr indent="0" marL="0">
              <a:buNone/>
            </a:pPr>
            <a:r>
              <a:rPr lang="en-US" sz="1000" b="1" spc="200" kern="0" dirty="0">
                <a:solidFill>
                  <a:srgbClr val="E0561F"/>
                </a:solidFill>
                <a:latin typeface="Calibri" pitchFamily="34" charset="0"/>
                <a:ea typeface="Calibri" pitchFamily="34" charset="-122"/>
                <a:cs typeface="Calibri" pitchFamily="34" charset="-120"/>
              </a:rPr>
              <a:t>QUALITY</a:t>
            </a:r>
            <a:endParaRPr lang="en-US" sz="1000" dirty="0"/>
          </a:p>
        </p:txBody>
      </p:sp>
      <p:sp>
        <p:nvSpPr>
          <p:cNvPr id="6" name="Shape 4"/>
          <p:cNvSpPr/>
          <p:nvPr/>
        </p:nvSpPr>
        <p:spPr>
          <a:xfrm>
            <a:off x="493776" y="1663381"/>
            <a:ext cx="5458968" cy="2159638"/>
          </a:xfrm>
          <a:prstGeom prst="rect">
            <a:avLst/>
          </a:prstGeom>
          <a:solidFill>
            <a:srgbClr val="FFFFFF"/>
          </a:solidFill>
          <a:ln w="9525">
            <a:solidFill>
              <a:srgbClr val="D6D8D6"/>
            </a:solidFill>
            <a:prstDash val="solid"/>
          </a:ln>
          <a:effectLst>
            <a:outerShdw sx="100000" sy="100000" kx="0" ky="0" algn="bl" rotWithShape="0" blurRad="101600" dist="25400" dir="5400000">
              <a:srgbClr val="000000">
                <a:alpha val="18000"/>
              </a:srgbClr>
            </a:outerShdw>
          </a:effectLst>
        </p:spPr>
      </p:sp>
      <p:pic>
        <p:nvPicPr>
          <p:cNvPr id="7" name="Image 0" descr="/home/user/master-executive-system/sip-presentation/source/crops/prod_full.png">    </p:cNvPr>
          <p:cNvPicPr>
            <a:picLocks noChangeAspect="1"/>
          </p:cNvPicPr>
          <p:nvPr/>
        </p:nvPicPr>
        <p:blipFill>
          <a:blip r:embed="rId1"/>
          <a:stretch>
            <a:fillRect/>
          </a:stretch>
        </p:blipFill>
        <p:spPr>
          <a:xfrm>
            <a:off x="548640" y="1718245"/>
            <a:ext cx="5349240" cy="2049910"/>
          </a:xfrm>
          <a:prstGeom prst="rect">
            <a:avLst/>
          </a:prstGeom>
        </p:spPr>
      </p:pic>
      <p:sp>
        <p:nvSpPr>
          <p:cNvPr id="8" name="Shape 5"/>
          <p:cNvSpPr/>
          <p:nvPr/>
        </p:nvSpPr>
        <p:spPr>
          <a:xfrm>
            <a:off x="548640" y="3296676"/>
            <a:ext cx="1952473" cy="471479"/>
          </a:xfrm>
          <a:prstGeom prst="rect">
            <a:avLst/>
          </a:prstGeom>
          <a:ln w="25400">
            <a:solidFill>
              <a:srgbClr val="E0561F"/>
            </a:solidFill>
            <a:prstDash val="solid"/>
          </a:ln>
        </p:spPr>
      </p:sp>
      <p:sp>
        <p:nvSpPr>
          <p:cNvPr id="9" name="Shape 6"/>
          <p:cNvSpPr/>
          <p:nvPr/>
        </p:nvSpPr>
        <p:spPr>
          <a:xfrm>
            <a:off x="6236208" y="1654385"/>
            <a:ext cx="5458968" cy="2406229"/>
          </a:xfrm>
          <a:prstGeom prst="rect">
            <a:avLst/>
          </a:prstGeom>
          <a:solidFill>
            <a:srgbClr val="FFFFFF"/>
          </a:solidFill>
          <a:ln w="9525">
            <a:solidFill>
              <a:srgbClr val="D6D8D6"/>
            </a:solidFill>
            <a:prstDash val="solid"/>
          </a:ln>
          <a:effectLst>
            <a:outerShdw sx="100000" sy="100000" kx="0" ky="0" algn="bl" rotWithShape="0" blurRad="101600" dist="25400" dir="5400000">
              <a:srgbClr val="000000">
                <a:alpha val="18000"/>
              </a:srgbClr>
            </a:outerShdw>
          </a:effectLst>
        </p:spPr>
      </p:sp>
      <p:pic>
        <p:nvPicPr>
          <p:cNvPr id="10" name="Image 1" descr="/home/user/master-executive-system/sip-presentation/source/crops/qual_full.png">    </p:cNvPr>
          <p:cNvPicPr>
            <a:picLocks noChangeAspect="1"/>
          </p:cNvPicPr>
          <p:nvPr/>
        </p:nvPicPr>
        <p:blipFill>
          <a:blip r:embed="rId2"/>
          <a:stretch>
            <a:fillRect/>
          </a:stretch>
        </p:blipFill>
        <p:spPr>
          <a:xfrm>
            <a:off x="6291072" y="1709249"/>
            <a:ext cx="5349240" cy="2296501"/>
          </a:xfrm>
          <a:prstGeom prst="rect">
            <a:avLst/>
          </a:prstGeom>
        </p:spPr>
      </p:pic>
      <p:sp>
        <p:nvSpPr>
          <p:cNvPr id="11" name="Shape 7"/>
          <p:cNvSpPr/>
          <p:nvPr/>
        </p:nvSpPr>
        <p:spPr>
          <a:xfrm>
            <a:off x="6317818" y="3087150"/>
            <a:ext cx="1995267" cy="895635"/>
          </a:xfrm>
          <a:prstGeom prst="rect">
            <a:avLst/>
          </a:prstGeom>
          <a:ln w="25400">
            <a:solidFill>
              <a:srgbClr val="E0561F"/>
            </a:solidFill>
            <a:prstDash val="solid"/>
          </a:ln>
        </p:spPr>
      </p:sp>
      <p:sp>
        <p:nvSpPr>
          <p:cNvPr id="12" name="Text 8"/>
          <p:cNvSpPr txBox="1"/>
          <p:nvPr/>
        </p:nvSpPr>
        <p:spPr>
          <a:xfrm>
            <a:off x="548640" y="3859595"/>
            <a:ext cx="1828800" cy="228600"/>
          </a:xfrm>
          <a:prstGeom prst="rect">
            <a:avLst/>
          </a:prstGeom>
          <a:noFill/>
          <a:ln/>
        </p:spPr>
        <p:txBody>
          <a:bodyPr wrap="square" lIns="0" tIns="0" rIns="0" bIns="0" rtlCol="0" anchor="ctr"/>
          <a:lstStyle/>
          <a:p>
            <a:pPr indent="0" marL="0">
              <a:buNone/>
            </a:pPr>
            <a:r>
              <a:rPr lang="en-US" sz="1000" b="1" dirty="0">
                <a:solidFill>
                  <a:srgbClr val="E0561F"/>
                </a:solidFill>
                <a:latin typeface="Calibri" pitchFamily="34" charset="0"/>
                <a:ea typeface="Calibri" pitchFamily="34" charset="-122"/>
                <a:cs typeface="Calibri" pitchFamily="34" charset="-120"/>
              </a:rPr>
              <a:t>↓  zoom</a:t>
            </a:r>
            <a:endParaRPr lang="en-US" sz="1000" dirty="0"/>
          </a:p>
        </p:txBody>
      </p:sp>
      <p:sp>
        <p:nvSpPr>
          <p:cNvPr id="13" name="Shape 9"/>
          <p:cNvSpPr/>
          <p:nvPr/>
        </p:nvSpPr>
        <p:spPr>
          <a:xfrm>
            <a:off x="493776" y="4224440"/>
            <a:ext cx="5458968" cy="824791"/>
          </a:xfrm>
          <a:prstGeom prst="rect">
            <a:avLst/>
          </a:prstGeom>
          <a:solidFill>
            <a:srgbClr val="FFFFFF"/>
          </a:solidFill>
          <a:ln w="9525">
            <a:solidFill>
              <a:srgbClr val="D6D8D6"/>
            </a:solidFill>
            <a:prstDash val="solid"/>
          </a:ln>
          <a:effectLst>
            <a:outerShdw sx="100000" sy="100000" kx="0" ky="0" algn="bl" rotWithShape="0" blurRad="101600" dist="25400" dir="5400000">
              <a:srgbClr val="000000">
                <a:alpha val="18000"/>
              </a:srgbClr>
            </a:outerShdw>
          </a:effectLst>
        </p:spPr>
      </p:sp>
      <p:pic>
        <p:nvPicPr>
          <p:cNvPr id="14" name="Image 2" descr="/home/user/master-executive-system/sip-presentation/source/crops/prod_zoom.png">    </p:cNvPr>
          <p:cNvPicPr>
            <a:picLocks noChangeAspect="1"/>
          </p:cNvPicPr>
          <p:nvPr/>
        </p:nvPicPr>
        <p:blipFill>
          <a:blip r:embed="rId3"/>
          <a:stretch>
            <a:fillRect/>
          </a:stretch>
        </p:blipFill>
        <p:spPr>
          <a:xfrm>
            <a:off x="548640" y="4279304"/>
            <a:ext cx="5349240" cy="715063"/>
          </a:xfrm>
          <a:prstGeom prst="rect">
            <a:avLst/>
          </a:prstGeom>
        </p:spPr>
      </p:pic>
      <p:sp>
        <p:nvSpPr>
          <p:cNvPr id="15" name="Text 10"/>
          <p:cNvSpPr txBox="1"/>
          <p:nvPr/>
        </p:nvSpPr>
        <p:spPr>
          <a:xfrm>
            <a:off x="548640" y="5158958"/>
            <a:ext cx="5349240" cy="640080"/>
          </a:xfrm>
          <a:prstGeom prst="rect">
            <a:avLst/>
          </a:prstGeom>
          <a:noFill/>
          <a:ln/>
        </p:spPr>
        <p:txBody>
          <a:bodyPr wrap="square" lIns="0" tIns="0" rIns="0" bIns="0" rtlCol="0" anchor="t"/>
          <a:lstStyle/>
          <a:p>
            <a:pPr indent="0" marL="0">
              <a:buNone/>
            </a:pPr>
            <a:r>
              <a:rPr lang="en-US" sz="1250" b="1" dirty="0">
                <a:solidFill>
                  <a:srgbClr val="1A1D21"/>
                </a:solidFill>
                <a:latin typeface="Calibri" pitchFamily="34" charset="0"/>
                <a:ea typeface="Calibri" pitchFamily="34" charset="-122"/>
                <a:cs typeface="Calibri" pitchFamily="34" charset="-120"/>
              </a:rPr>
              <a:t>Order drill-down.  </a:t>
            </a:r>
            <a:pPr indent="0" marL="0">
              <a:buNone/>
            </a:pPr>
            <a:r>
              <a:rPr lang="en-US" sz="1250" dirty="0">
                <a:solidFill>
                  <a:srgbClr val="3E4750"/>
                </a:solidFill>
                <a:latin typeface="Calibri" pitchFamily="34" charset="0"/>
                <a:ea typeface="Calibri" pitchFamily="34" charset="-122"/>
                <a:cs typeface="Calibri" pitchFamily="34" charset="-120"/>
              </a:rPr>
              <a:t>Pick a production order and see every run that fulfilled it, each with its own Production Run ID.</a:t>
            </a:r>
            <a:endParaRPr lang="en-US" sz="1250" dirty="0"/>
          </a:p>
        </p:txBody>
      </p:sp>
      <p:sp>
        <p:nvSpPr>
          <p:cNvPr id="16" name="Text 11"/>
          <p:cNvSpPr txBox="1"/>
          <p:nvPr/>
        </p:nvSpPr>
        <p:spPr>
          <a:xfrm>
            <a:off x="6291072" y="4097191"/>
            <a:ext cx="1828800" cy="228600"/>
          </a:xfrm>
          <a:prstGeom prst="rect">
            <a:avLst/>
          </a:prstGeom>
          <a:noFill/>
          <a:ln/>
        </p:spPr>
        <p:txBody>
          <a:bodyPr wrap="square" lIns="0" tIns="0" rIns="0" bIns="0" rtlCol="0" anchor="ctr"/>
          <a:lstStyle/>
          <a:p>
            <a:pPr indent="0" marL="0">
              <a:buNone/>
            </a:pPr>
            <a:r>
              <a:rPr lang="en-US" sz="1000" b="1" dirty="0">
                <a:solidFill>
                  <a:srgbClr val="E0561F"/>
                </a:solidFill>
                <a:latin typeface="Calibri" pitchFamily="34" charset="0"/>
                <a:ea typeface="Calibri" pitchFamily="34" charset="-122"/>
                <a:cs typeface="Calibri" pitchFamily="34" charset="-120"/>
              </a:rPr>
              <a:t>↓  zoom</a:t>
            </a:r>
            <a:endParaRPr lang="en-US" sz="1000" dirty="0"/>
          </a:p>
        </p:txBody>
      </p:sp>
      <p:sp>
        <p:nvSpPr>
          <p:cNvPr id="17" name="Shape 12"/>
          <p:cNvSpPr/>
          <p:nvPr/>
        </p:nvSpPr>
        <p:spPr>
          <a:xfrm>
            <a:off x="6236208" y="4633652"/>
            <a:ext cx="3218688" cy="1505007"/>
          </a:xfrm>
          <a:prstGeom prst="rect">
            <a:avLst/>
          </a:prstGeom>
          <a:solidFill>
            <a:srgbClr val="FFFFFF"/>
          </a:solidFill>
          <a:ln w="9525">
            <a:solidFill>
              <a:srgbClr val="D6D8D6"/>
            </a:solidFill>
            <a:prstDash val="solid"/>
          </a:ln>
          <a:effectLst>
            <a:outerShdw sx="100000" sy="100000" kx="0" ky="0" algn="bl" rotWithShape="0" blurRad="101600" dist="25400" dir="5400000">
              <a:srgbClr val="000000">
                <a:alpha val="18000"/>
              </a:srgbClr>
            </a:outerShdw>
          </a:effectLst>
        </p:spPr>
      </p:sp>
      <p:pic>
        <p:nvPicPr>
          <p:cNvPr id="18" name="Image 3" descr="/home/user/master-executive-system/sip-presentation/source/crops/qual_pareto.png">    </p:cNvPr>
          <p:cNvPicPr>
            <a:picLocks noChangeAspect="1"/>
          </p:cNvPicPr>
          <p:nvPr/>
        </p:nvPicPr>
        <p:blipFill>
          <a:blip r:embed="rId4"/>
          <a:stretch>
            <a:fillRect/>
          </a:stretch>
        </p:blipFill>
        <p:spPr>
          <a:xfrm>
            <a:off x="6291072" y="4688516"/>
            <a:ext cx="3108960" cy="1395279"/>
          </a:xfrm>
          <a:prstGeom prst="rect">
            <a:avLst/>
          </a:prstGeom>
        </p:spPr>
      </p:pic>
      <p:sp>
        <p:nvSpPr>
          <p:cNvPr id="19" name="Text 13"/>
          <p:cNvSpPr txBox="1"/>
          <p:nvPr/>
        </p:nvSpPr>
        <p:spPr>
          <a:xfrm>
            <a:off x="9674352" y="4688516"/>
            <a:ext cx="1965960" cy="1463040"/>
          </a:xfrm>
          <a:prstGeom prst="rect">
            <a:avLst/>
          </a:prstGeom>
          <a:noFill/>
          <a:ln/>
        </p:spPr>
        <p:txBody>
          <a:bodyPr wrap="square" lIns="0" tIns="0" rIns="0" bIns="0" rtlCol="0" anchor="t"/>
          <a:lstStyle/>
          <a:p>
            <a:pPr indent="0" marL="0">
              <a:buNone/>
            </a:pPr>
            <a:r>
              <a:rPr lang="en-US" sz="1250" b="1" dirty="0">
                <a:solidFill>
                  <a:srgbClr val="1A1D21"/>
                </a:solidFill>
                <a:latin typeface="Calibri" pitchFamily="34" charset="0"/>
                <a:ea typeface="Calibri" pitchFamily="34" charset="-122"/>
                <a:cs typeface="Calibri" pitchFamily="34" charset="-120"/>
              </a:rPr>
              <a:t>Defect Pareto.  </a:t>
            </a:r>
            <a:pPr indent="0" marL="0">
              <a:buNone/>
            </a:pPr>
            <a:r>
              <a:rPr lang="en-US" sz="1250" dirty="0">
                <a:solidFill>
                  <a:srgbClr val="3E4750"/>
                </a:solidFill>
                <a:latin typeface="Calibri" pitchFamily="34" charset="0"/>
                <a:ea typeface="Calibri" pitchFamily="34" charset="-122"/>
                <a:cs typeface="Calibri" pitchFamily="34" charset="-120"/>
              </a:rPr>
              <a:t>Defects ranked by batches affected, so attention goes where most of the loss is. Each bar drills down to its batches.</a:t>
            </a:r>
            <a:endParaRPr lang="en-US" sz="1250" dirty="0"/>
          </a:p>
        </p:txBody>
      </p:sp>
      <p:sp>
        <p:nvSpPr>
          <p:cNvPr id="20" name="Text 14"/>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4F1"/>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09</a:t>
            </a:r>
            <a:pPr indent="0" marL="0">
              <a:buNone/>
            </a:pPr>
            <a:r>
              <a:rPr lang="en-US" sz="1050" spc="300" kern="0" dirty="0">
                <a:solidFill>
                  <a:srgbClr val="6B7278"/>
                </a:solidFill>
                <a:latin typeface="Calibri" pitchFamily="34" charset="0"/>
                <a:ea typeface="Calibri" pitchFamily="34" charset="-122"/>
                <a:cs typeface="Calibri" pitchFamily="34" charset="-120"/>
              </a:rPr>
              <a:t>   THE SYSTEM COMES ALIVE  ·  TRACE REPORT</a:t>
            </a:r>
            <a:endParaRPr lang="en-US" sz="1050" dirty="0"/>
          </a:p>
        </p:txBody>
      </p:sp>
      <p:sp>
        <p:nvSpPr>
          <p:cNvPr id="3" name="Text 1"/>
          <p:cNvSpPr txBox="1"/>
          <p:nvPr/>
        </p:nvSpPr>
        <p:spPr>
          <a:xfrm>
            <a:off x="548640" y="713232"/>
            <a:ext cx="11155680" cy="822960"/>
          </a:xfrm>
          <a:prstGeom prst="rect">
            <a:avLst/>
          </a:prstGeom>
          <a:noFill/>
          <a:ln/>
        </p:spPr>
        <p:txBody>
          <a:bodyPr wrap="square" lIns="0" tIns="0" rIns="0" bIns="0" rtlCol="0" anchor="t"/>
          <a:lstStyle/>
          <a:p>
            <a:pPr indent="0" marL="0">
              <a:buNone/>
            </a:pPr>
            <a:r>
              <a:rPr lang="en-US" sz="2800" dirty="0">
                <a:solidFill>
                  <a:srgbClr val="1A1D21"/>
                </a:solidFill>
                <a:latin typeface="Cambria" pitchFamily="34" charset="0"/>
                <a:ea typeface="Cambria" pitchFamily="34" charset="-122"/>
                <a:cs typeface="Cambria" pitchFamily="34" charset="-120"/>
              </a:rPr>
              <a:t>Which manufacturing occurrence are we investigating?</a:t>
            </a:r>
            <a:endParaRPr lang="en-US" sz="2800" dirty="0"/>
          </a:p>
        </p:txBody>
      </p:sp>
      <p:sp>
        <p:nvSpPr>
          <p:cNvPr id="4" name="Text 2"/>
          <p:cNvSpPr txBox="1"/>
          <p:nvPr/>
        </p:nvSpPr>
        <p:spPr>
          <a:xfrm>
            <a:off x="548640" y="1371600"/>
            <a:ext cx="5486400" cy="256032"/>
          </a:xfrm>
          <a:prstGeom prst="rect">
            <a:avLst/>
          </a:prstGeom>
          <a:noFill/>
          <a:ln/>
        </p:spPr>
        <p:txBody>
          <a:bodyPr wrap="square" lIns="0" tIns="0" rIns="0" bIns="0" rtlCol="0" anchor="ctr"/>
          <a:lstStyle/>
          <a:p>
            <a:pPr indent="0" marL="0">
              <a:buNone/>
            </a:pPr>
            <a:r>
              <a:rPr lang="en-US" sz="1000" b="1" spc="200" kern="0" dirty="0">
                <a:solidFill>
                  <a:srgbClr val="E0561F"/>
                </a:solidFill>
                <a:latin typeface="Calibri" pitchFamily="34" charset="0"/>
                <a:ea typeface="Calibri" pitchFamily="34" charset="-122"/>
                <a:cs typeface="Calibri" pitchFamily="34" charset="-120"/>
              </a:rPr>
              <a:t>STEP 1  ·  SEARCH ON THE BATCH NUMBER ONLY</a:t>
            </a:r>
            <a:endParaRPr lang="en-US" sz="1000" dirty="0"/>
          </a:p>
        </p:txBody>
      </p:sp>
      <p:sp>
        <p:nvSpPr>
          <p:cNvPr id="5" name="Shape 3"/>
          <p:cNvSpPr/>
          <p:nvPr/>
        </p:nvSpPr>
        <p:spPr>
          <a:xfrm>
            <a:off x="493776" y="1653660"/>
            <a:ext cx="11201400" cy="487440"/>
          </a:xfrm>
          <a:prstGeom prst="rect">
            <a:avLst/>
          </a:prstGeom>
          <a:solidFill>
            <a:srgbClr val="FFFFFF"/>
          </a:solidFill>
          <a:ln w="9525">
            <a:solidFill>
              <a:srgbClr val="D6D8D6"/>
            </a:solidFill>
            <a:prstDash val="solid"/>
          </a:ln>
          <a:effectLst>
            <a:outerShdw sx="100000" sy="100000" kx="0" ky="0" algn="bl" rotWithShape="0" blurRad="101600" dist="25400" dir="5400000">
              <a:srgbClr val="000000">
                <a:alpha val="18000"/>
              </a:srgbClr>
            </a:outerShdw>
          </a:effectLst>
        </p:spPr>
      </p:sp>
      <p:pic>
        <p:nvPicPr>
          <p:cNvPr id="6" name="Image 0" descr="/home/user/master-executive-system/sip-presentation/source/crops/t6_search.png">    </p:cNvPr>
          <p:cNvPicPr>
            <a:picLocks noChangeAspect="1"/>
          </p:cNvPicPr>
          <p:nvPr/>
        </p:nvPicPr>
        <p:blipFill>
          <a:blip r:embed="rId1"/>
          <a:stretch>
            <a:fillRect/>
          </a:stretch>
        </p:blipFill>
        <p:spPr>
          <a:xfrm>
            <a:off x="548640" y="1708524"/>
            <a:ext cx="11091672" cy="377712"/>
          </a:xfrm>
          <a:prstGeom prst="rect">
            <a:avLst/>
          </a:prstGeom>
        </p:spPr>
      </p:pic>
      <p:sp>
        <p:nvSpPr>
          <p:cNvPr id="7" name="Shape 4"/>
          <p:cNvSpPr/>
          <p:nvPr/>
        </p:nvSpPr>
        <p:spPr>
          <a:xfrm>
            <a:off x="570823" y="1833169"/>
            <a:ext cx="1109167" cy="241736"/>
          </a:xfrm>
          <a:prstGeom prst="rect">
            <a:avLst/>
          </a:prstGeom>
          <a:ln w="25400">
            <a:solidFill>
              <a:srgbClr val="E0561F"/>
            </a:solidFill>
            <a:prstDash val="solid"/>
          </a:ln>
        </p:spPr>
      </p:sp>
      <p:sp>
        <p:nvSpPr>
          <p:cNvPr id="8" name="Shape 5"/>
          <p:cNvSpPr/>
          <p:nvPr/>
        </p:nvSpPr>
        <p:spPr>
          <a:xfrm>
            <a:off x="9799094" y="1833169"/>
            <a:ext cx="1819034" cy="241736"/>
          </a:xfrm>
          <a:prstGeom prst="rect">
            <a:avLst/>
          </a:prstGeom>
          <a:ln w="25400">
            <a:solidFill>
              <a:srgbClr val="E0561F"/>
            </a:solidFill>
            <a:prstDash val="solid"/>
          </a:ln>
        </p:spPr>
      </p:sp>
      <p:sp>
        <p:nvSpPr>
          <p:cNvPr id="9" name="Text 6"/>
          <p:cNvSpPr txBox="1"/>
          <p:nvPr/>
        </p:nvSpPr>
        <p:spPr>
          <a:xfrm>
            <a:off x="548640" y="2395728"/>
            <a:ext cx="5486400" cy="256032"/>
          </a:xfrm>
          <a:prstGeom prst="rect">
            <a:avLst/>
          </a:prstGeom>
          <a:noFill/>
          <a:ln/>
        </p:spPr>
        <p:txBody>
          <a:bodyPr wrap="square" lIns="0" tIns="0" rIns="0" bIns="0" rtlCol="0" anchor="ctr"/>
          <a:lstStyle/>
          <a:p>
            <a:pPr indent="0" marL="0">
              <a:buNone/>
            </a:pPr>
            <a:r>
              <a:rPr lang="en-US" sz="1000" b="1" spc="200" kern="0" dirty="0">
                <a:solidFill>
                  <a:srgbClr val="E0561F"/>
                </a:solidFill>
                <a:latin typeface="Calibri" pitchFamily="34" charset="0"/>
                <a:ea typeface="Calibri" pitchFamily="34" charset="-122"/>
                <a:cs typeface="Calibri" pitchFamily="34" charset="-120"/>
              </a:rPr>
              <a:t>STEP 2  ·  WHAT COMES BACK</a:t>
            </a:r>
            <a:endParaRPr lang="en-US" sz="1000" dirty="0"/>
          </a:p>
        </p:txBody>
      </p:sp>
      <p:sp>
        <p:nvSpPr>
          <p:cNvPr id="10" name="Shape 7"/>
          <p:cNvSpPr/>
          <p:nvPr/>
        </p:nvSpPr>
        <p:spPr>
          <a:xfrm>
            <a:off x="493776" y="2719776"/>
            <a:ext cx="6876288" cy="1363584"/>
          </a:xfrm>
          <a:prstGeom prst="rect">
            <a:avLst/>
          </a:prstGeom>
          <a:solidFill>
            <a:srgbClr val="FFFFFF"/>
          </a:solidFill>
          <a:ln w="9525">
            <a:solidFill>
              <a:srgbClr val="D6D8D6"/>
            </a:solidFill>
            <a:prstDash val="solid"/>
          </a:ln>
          <a:effectLst>
            <a:outerShdw sx="100000" sy="100000" kx="0" ky="0" algn="bl" rotWithShape="0" blurRad="101600" dist="25400" dir="5400000">
              <a:srgbClr val="000000">
                <a:alpha val="18000"/>
              </a:srgbClr>
            </a:outerShdw>
          </a:effectLst>
        </p:spPr>
      </p:sp>
      <p:pic>
        <p:nvPicPr>
          <p:cNvPr id="11" name="Image 1" descr="/home/user/master-executive-system/sip-presentation/source/crops/t6_table.png">    </p:cNvPr>
          <p:cNvPicPr>
            <a:picLocks noChangeAspect="1"/>
          </p:cNvPicPr>
          <p:nvPr/>
        </p:nvPicPr>
        <p:blipFill>
          <a:blip r:embed="rId2"/>
          <a:stretch>
            <a:fillRect/>
          </a:stretch>
        </p:blipFill>
        <p:spPr>
          <a:xfrm>
            <a:off x="548640" y="2774640"/>
            <a:ext cx="6766560" cy="1253856"/>
          </a:xfrm>
          <a:prstGeom prst="rect">
            <a:avLst/>
          </a:prstGeom>
        </p:spPr>
      </p:pic>
      <p:sp>
        <p:nvSpPr>
          <p:cNvPr id="12" name="Shape 8"/>
          <p:cNvSpPr/>
          <p:nvPr/>
        </p:nvSpPr>
        <p:spPr>
          <a:xfrm>
            <a:off x="548640" y="3389029"/>
            <a:ext cx="6766560" cy="156732"/>
          </a:xfrm>
          <a:prstGeom prst="rect">
            <a:avLst/>
          </a:prstGeom>
          <a:ln w="25400">
            <a:solidFill>
              <a:srgbClr val="E0561F"/>
            </a:solidFill>
            <a:prstDash val="solid"/>
          </a:ln>
        </p:spPr>
      </p:sp>
      <p:sp>
        <p:nvSpPr>
          <p:cNvPr id="13" name="Text 9"/>
          <p:cNvSpPr txBox="1"/>
          <p:nvPr/>
        </p:nvSpPr>
        <p:spPr>
          <a:xfrm>
            <a:off x="7818120" y="2286000"/>
            <a:ext cx="1463040" cy="1554480"/>
          </a:xfrm>
          <a:prstGeom prst="rect">
            <a:avLst/>
          </a:prstGeom>
          <a:noFill/>
          <a:ln/>
        </p:spPr>
        <p:txBody>
          <a:bodyPr wrap="square" lIns="0" tIns="0" rIns="0" bIns="0" rtlCol="0" anchor="t"/>
          <a:lstStyle/>
          <a:p>
            <a:pPr indent="0" marL="0">
              <a:buNone/>
            </a:pPr>
            <a:r>
              <a:rPr lang="en-US" sz="11000" dirty="0">
                <a:solidFill>
                  <a:srgbClr val="E0561F"/>
                </a:solidFill>
                <a:latin typeface="Cambria" pitchFamily="34" charset="0"/>
                <a:ea typeface="Cambria" pitchFamily="34" charset="-122"/>
                <a:cs typeface="Cambria" pitchFamily="34" charset="-120"/>
              </a:rPr>
              <a:t>6</a:t>
            </a:r>
            <a:endParaRPr lang="en-US" sz="11000" dirty="0"/>
          </a:p>
        </p:txBody>
      </p:sp>
      <p:sp>
        <p:nvSpPr>
          <p:cNvPr id="14" name="Text 10"/>
          <p:cNvSpPr txBox="1"/>
          <p:nvPr/>
        </p:nvSpPr>
        <p:spPr>
          <a:xfrm>
            <a:off x="9144000" y="2697480"/>
            <a:ext cx="2560320" cy="731520"/>
          </a:xfrm>
          <a:prstGeom prst="rect">
            <a:avLst/>
          </a:prstGeom>
          <a:noFill/>
          <a:ln/>
        </p:spPr>
        <p:txBody>
          <a:bodyPr wrap="square" lIns="0" tIns="0" rIns="0" bIns="0" rtlCol="0" anchor="t"/>
          <a:lstStyle/>
          <a:p>
            <a:pPr indent="0" marL="0">
              <a:buNone/>
            </a:pPr>
            <a:r>
              <a:rPr lang="en-US" sz="1700" dirty="0">
                <a:solidFill>
                  <a:srgbClr val="1A1D21"/>
                </a:solidFill>
                <a:latin typeface="Cambria" pitchFamily="34" charset="0"/>
                <a:ea typeface="Cambria" pitchFamily="34" charset="-122"/>
                <a:cs typeface="Cambria" pitchFamily="34" charset="-120"/>
              </a:rPr>
              <a:t>records for one printed batch number</a:t>
            </a:r>
            <a:endParaRPr lang="en-US" sz="1700" dirty="0"/>
          </a:p>
        </p:txBody>
      </p:sp>
      <p:sp>
        <p:nvSpPr>
          <p:cNvPr id="15" name="Text 11"/>
          <p:cNvSpPr txBox="1"/>
          <p:nvPr/>
        </p:nvSpPr>
        <p:spPr>
          <a:xfrm>
            <a:off x="7863840" y="3840480"/>
            <a:ext cx="3840480" cy="320040"/>
          </a:xfrm>
          <a:prstGeom prst="rect">
            <a:avLst/>
          </a:prstGeom>
          <a:noFill/>
          <a:ln/>
        </p:spPr>
        <p:txBody>
          <a:bodyPr wrap="square" lIns="0" tIns="0" rIns="0" bIns="0" rtlCol="0" anchor="ctr"/>
          <a:lstStyle/>
          <a:p>
            <a:pPr indent="0" marL="0">
              <a:buNone/>
            </a:pPr>
            <a:r>
              <a:rPr lang="en-US" sz="1300" dirty="0">
                <a:solidFill>
                  <a:srgbClr val="3E4750"/>
                </a:solidFill>
                <a:latin typeface="Calibri" pitchFamily="34" charset="0"/>
                <a:ea typeface="Calibri" pitchFamily="34" charset="-122"/>
                <a:cs typeface="Calibri" pitchFamily="34" charset="-120"/>
              </a:rPr>
              <a:t>3 products  ·  4 colours  ·  6 dates, June to September</a:t>
            </a:r>
            <a:endParaRPr lang="en-US" sz="1300" dirty="0"/>
          </a:p>
        </p:txBody>
      </p:sp>
      <p:sp>
        <p:nvSpPr>
          <p:cNvPr id="16" name="Text 12"/>
          <p:cNvSpPr txBox="1"/>
          <p:nvPr/>
        </p:nvSpPr>
        <p:spPr>
          <a:xfrm>
            <a:off x="548640" y="4663440"/>
            <a:ext cx="11064240" cy="914400"/>
          </a:xfrm>
          <a:prstGeom prst="rect">
            <a:avLst/>
          </a:prstGeom>
          <a:noFill/>
          <a:ln/>
        </p:spPr>
        <p:txBody>
          <a:bodyPr wrap="square" lIns="0" tIns="0" rIns="0" bIns="0" rtlCol="0" anchor="t"/>
          <a:lstStyle/>
          <a:p>
            <a:pPr indent="0" marL="0">
              <a:buNone/>
            </a:pPr>
            <a:r>
              <a:rPr lang="en-US" sz="1450" b="1" dirty="0">
                <a:solidFill>
                  <a:srgbClr val="1A1D21"/>
                </a:solidFill>
                <a:latin typeface="Calibri" pitchFamily="34" charset="0"/>
                <a:ea typeface="Calibri" pitchFamily="34" charset="-122"/>
                <a:cs typeface="Calibri" pitchFamily="34" charset="-120"/>
              </a:rPr>
              <a:t>The report shows every match instead of picking one. </a:t>
            </a:r>
            <a:pPr indent="0" marL="0">
              <a:buNone/>
            </a:pPr>
            <a:r>
              <a:rPr lang="en-US" sz="1450" dirty="0">
                <a:solidFill>
                  <a:srgbClr val="3E4750"/>
                </a:solidFill>
                <a:latin typeface="Calibri" pitchFamily="34" charset="0"/>
                <a:ea typeface="Calibri" pitchFamily="34" charset="-122"/>
                <a:cs typeface="Calibri" pitchFamily="34" charset="-120"/>
              </a:rPr>
              <a:t>Silently choosing the first match would send the investigation to the wrong run, the wrong machine and the wrong material lot. Only product, colour and date tell these six apart. The customer's pack is record 3.</a:t>
            </a:r>
            <a:endParaRPr lang="en-US" sz="1450" dirty="0"/>
          </a:p>
        </p:txBody>
      </p:sp>
      <p:sp>
        <p:nvSpPr>
          <p:cNvPr id="17" name="Text 13"/>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i="1" dirty="0">
                <a:solidFill>
                  <a:srgbClr val="6B7278"/>
                </a:solidFill>
                <a:latin typeface="Calibri" pitchFamily="34" charset="0"/>
                <a:ea typeface="Calibri" pitchFamily="34" charset="-122"/>
                <a:cs typeface="Calibri" pitchFamily="34" charset="-120"/>
              </a:rPr>
              <a:t>Demonstration dataset: fictional operational data modelled on client brand accounts. Not the company's production records.</a:t>
            </a:r>
            <a:endParaRPr lang="en-US" sz="900" dirty="0"/>
          </a:p>
        </p:txBody>
      </p:sp>
      <p:sp>
        <p:nvSpPr>
          <p:cNvPr id="18" name="Text 14"/>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21518"/>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09</a:t>
            </a:r>
            <a:pPr indent="0" marL="0">
              <a:buNone/>
            </a:pPr>
            <a:r>
              <a:rPr lang="en-US" sz="1050" spc="300" kern="0" dirty="0">
                <a:solidFill>
                  <a:srgbClr val="9AA1A7"/>
                </a:solidFill>
                <a:latin typeface="Calibri" pitchFamily="34" charset="0"/>
                <a:ea typeface="Calibri" pitchFamily="34" charset="-122"/>
                <a:cs typeface="Calibri" pitchFamily="34" charset="-120"/>
              </a:rPr>
              <a:t>   THE SYSTEM COMES ALIVE  ·  TRACE REPORT</a:t>
            </a:r>
            <a:endParaRPr lang="en-US" sz="1050" dirty="0"/>
          </a:p>
        </p:txBody>
      </p:sp>
      <p:sp>
        <p:nvSpPr>
          <p:cNvPr id="3" name="Text 1"/>
          <p:cNvSpPr txBox="1"/>
          <p:nvPr/>
        </p:nvSpPr>
        <p:spPr>
          <a:xfrm>
            <a:off x="548640" y="713232"/>
            <a:ext cx="11155680" cy="548640"/>
          </a:xfrm>
          <a:prstGeom prst="rect">
            <a:avLst/>
          </a:prstGeom>
          <a:noFill/>
          <a:ln/>
        </p:spPr>
        <p:txBody>
          <a:bodyPr wrap="square" lIns="0" tIns="0" rIns="0" bIns="0" rtlCol="0" anchor="ctr"/>
          <a:lstStyle/>
          <a:p>
            <a:pPr indent="0" marL="0">
              <a:buNone/>
            </a:pPr>
            <a:r>
              <a:rPr lang="en-US" sz="2800" dirty="0">
                <a:solidFill>
                  <a:srgbClr val="FFFFFF"/>
                </a:solidFill>
                <a:latin typeface="Cambria" pitchFamily="34" charset="0"/>
                <a:ea typeface="Cambria" pitchFamily="34" charset="-122"/>
                <a:cs typeface="Cambria" pitchFamily="34" charset="-120"/>
              </a:rPr>
              <a:t>Add product, colour and date. One record. One key.</a:t>
            </a:r>
            <a:endParaRPr lang="en-US" sz="2800" dirty="0"/>
          </a:p>
        </p:txBody>
      </p:sp>
      <p:sp>
        <p:nvSpPr>
          <p:cNvPr id="4" name="Text 2"/>
          <p:cNvSpPr txBox="1"/>
          <p:nvPr/>
        </p:nvSpPr>
        <p:spPr>
          <a:xfrm>
            <a:off x="548640" y="1481328"/>
            <a:ext cx="5486400" cy="256032"/>
          </a:xfrm>
          <a:prstGeom prst="rect">
            <a:avLst/>
          </a:prstGeom>
          <a:noFill/>
          <a:ln/>
        </p:spPr>
        <p:txBody>
          <a:bodyPr wrap="square" lIns="0" tIns="0" rIns="0" bIns="0" rtlCol="0" anchor="ctr"/>
          <a:lstStyle/>
          <a:p>
            <a:pPr indent="0" marL="0">
              <a:buNone/>
            </a:pPr>
            <a:r>
              <a:rPr lang="en-US" sz="1000" b="1" spc="200" kern="0" dirty="0">
                <a:solidFill>
                  <a:srgbClr val="E0561F"/>
                </a:solidFill>
                <a:latin typeface="Calibri" pitchFamily="34" charset="0"/>
                <a:ea typeface="Calibri" pitchFamily="34" charset="-122"/>
                <a:cs typeface="Calibri" pitchFamily="34" charset="-120"/>
              </a:rPr>
              <a:t>ALL FOUR FIELDS FROM THE PACK</a:t>
            </a:r>
            <a:endParaRPr lang="en-US" sz="1000" dirty="0"/>
          </a:p>
        </p:txBody>
      </p:sp>
      <p:sp>
        <p:nvSpPr>
          <p:cNvPr id="5" name="Shape 3"/>
          <p:cNvSpPr/>
          <p:nvPr/>
        </p:nvSpPr>
        <p:spPr>
          <a:xfrm>
            <a:off x="493776" y="1763388"/>
            <a:ext cx="11201400" cy="487440"/>
          </a:xfrm>
          <a:prstGeom prst="rect">
            <a:avLst/>
          </a:prstGeom>
          <a:solidFill>
            <a:srgbClr val="FFFFFF"/>
          </a:solidFill>
          <a:ln w="9525">
            <a:solidFill>
              <a:srgbClr val="D6D8D6"/>
            </a:solidFill>
            <a:prstDash val="solid"/>
          </a:ln>
          <a:effectLst>
            <a:outerShdw sx="100000" sy="100000" kx="0" ky="0" algn="bl" rotWithShape="0" blurRad="101600" dist="25400" dir="5400000">
              <a:srgbClr val="000000">
                <a:alpha val="18000"/>
              </a:srgbClr>
            </a:outerShdw>
          </a:effectLst>
        </p:spPr>
      </p:sp>
      <p:pic>
        <p:nvPicPr>
          <p:cNvPr id="6" name="Image 0" descr="/home/user/master-executive-system/sip-presentation/source/crops/t1_search.png">    </p:cNvPr>
          <p:cNvPicPr>
            <a:picLocks noChangeAspect="1"/>
          </p:cNvPicPr>
          <p:nvPr/>
        </p:nvPicPr>
        <p:blipFill>
          <a:blip r:embed="rId1"/>
          <a:stretch>
            <a:fillRect/>
          </a:stretch>
        </p:blipFill>
        <p:spPr>
          <a:xfrm>
            <a:off x="548640" y="1818252"/>
            <a:ext cx="11091672" cy="377712"/>
          </a:xfrm>
          <a:prstGeom prst="rect">
            <a:avLst/>
          </a:prstGeom>
        </p:spPr>
      </p:pic>
      <p:sp>
        <p:nvSpPr>
          <p:cNvPr id="7" name="Shape 4"/>
          <p:cNvSpPr/>
          <p:nvPr/>
        </p:nvSpPr>
        <p:spPr>
          <a:xfrm>
            <a:off x="570823" y="1942897"/>
            <a:ext cx="9206088" cy="241736"/>
          </a:xfrm>
          <a:prstGeom prst="rect">
            <a:avLst/>
          </a:prstGeom>
          <a:ln w="25400">
            <a:solidFill>
              <a:srgbClr val="E0561F"/>
            </a:solidFill>
            <a:prstDash val="solid"/>
          </a:ln>
        </p:spPr>
      </p:sp>
      <p:sp>
        <p:nvSpPr>
          <p:cNvPr id="8" name="Text 5"/>
          <p:cNvSpPr txBox="1"/>
          <p:nvPr/>
        </p:nvSpPr>
        <p:spPr>
          <a:xfrm>
            <a:off x="548640" y="2514600"/>
            <a:ext cx="5486400" cy="256032"/>
          </a:xfrm>
          <a:prstGeom prst="rect">
            <a:avLst/>
          </a:prstGeom>
          <a:noFill/>
          <a:ln/>
        </p:spPr>
        <p:txBody>
          <a:bodyPr wrap="square" lIns="0" tIns="0" rIns="0" bIns="0" rtlCol="0" anchor="ctr"/>
          <a:lstStyle/>
          <a:p>
            <a:pPr indent="0" marL="0">
              <a:buNone/>
            </a:pPr>
            <a:r>
              <a:rPr lang="en-US" sz="1000" b="1" spc="200" kern="0" dirty="0">
                <a:solidFill>
                  <a:srgbClr val="E0561F"/>
                </a:solidFill>
                <a:latin typeface="Calibri" pitchFamily="34" charset="0"/>
                <a:ea typeface="Calibri" pitchFamily="34" charset="-122"/>
                <a:cs typeface="Calibri" pitchFamily="34" charset="-120"/>
              </a:rPr>
              <a:t>MATCHING PRODUCTION RECORD</a:t>
            </a:r>
            <a:endParaRPr lang="en-US" sz="1000" dirty="0"/>
          </a:p>
        </p:txBody>
      </p:sp>
      <p:sp>
        <p:nvSpPr>
          <p:cNvPr id="9" name="Shape 6"/>
          <p:cNvSpPr/>
          <p:nvPr/>
        </p:nvSpPr>
        <p:spPr>
          <a:xfrm>
            <a:off x="493776" y="2824400"/>
            <a:ext cx="6876288" cy="569119"/>
          </a:xfrm>
          <a:prstGeom prst="rect">
            <a:avLst/>
          </a:prstGeom>
          <a:solidFill>
            <a:srgbClr val="FFFFFF"/>
          </a:solidFill>
          <a:ln w="9525">
            <a:solidFill>
              <a:srgbClr val="D6D8D6"/>
            </a:solidFill>
            <a:prstDash val="solid"/>
          </a:ln>
          <a:effectLst>
            <a:outerShdw sx="100000" sy="100000" kx="0" ky="0" algn="bl" rotWithShape="0" blurRad="101600" dist="25400" dir="5400000">
              <a:srgbClr val="000000">
                <a:alpha val="18000"/>
              </a:srgbClr>
            </a:outerShdw>
          </a:effectLst>
        </p:spPr>
      </p:sp>
      <p:pic>
        <p:nvPicPr>
          <p:cNvPr id="10" name="Image 1" descr="/home/user/master-executive-system/sip-presentation/source/crops/t1_row.png">    </p:cNvPr>
          <p:cNvPicPr>
            <a:picLocks noChangeAspect="1"/>
          </p:cNvPicPr>
          <p:nvPr/>
        </p:nvPicPr>
        <p:blipFill>
          <a:blip r:embed="rId2"/>
          <a:stretch>
            <a:fillRect/>
          </a:stretch>
        </p:blipFill>
        <p:spPr>
          <a:xfrm>
            <a:off x="548640" y="2879264"/>
            <a:ext cx="6766560" cy="459391"/>
          </a:xfrm>
          <a:prstGeom prst="rect">
            <a:avLst/>
          </a:prstGeom>
        </p:spPr>
      </p:pic>
      <p:sp>
        <p:nvSpPr>
          <p:cNvPr id="11" name="Text 7"/>
          <p:cNvSpPr txBox="1"/>
          <p:nvPr/>
        </p:nvSpPr>
        <p:spPr>
          <a:xfrm>
            <a:off x="548640" y="3703320"/>
            <a:ext cx="5486400" cy="256032"/>
          </a:xfrm>
          <a:prstGeom prst="rect">
            <a:avLst/>
          </a:prstGeom>
          <a:noFill/>
          <a:ln/>
        </p:spPr>
        <p:txBody>
          <a:bodyPr wrap="square" lIns="0" tIns="0" rIns="0" bIns="0" rtlCol="0" anchor="ctr"/>
          <a:lstStyle/>
          <a:p>
            <a:pPr indent="0" marL="0">
              <a:buNone/>
            </a:pPr>
            <a:r>
              <a:rPr lang="en-US" sz="1000" b="1" spc="200" kern="0" dirty="0">
                <a:solidFill>
                  <a:srgbClr val="E0561F"/>
                </a:solidFill>
                <a:latin typeface="Calibri" pitchFamily="34" charset="0"/>
                <a:ea typeface="Calibri" pitchFamily="34" charset="-122"/>
                <a:cs typeface="Calibri" pitchFamily="34" charset="-120"/>
              </a:rPr>
              <a:t>STEP 3  ·  OPEN THE RECORD</a:t>
            </a:r>
            <a:endParaRPr lang="en-US" sz="1000" dirty="0"/>
          </a:p>
        </p:txBody>
      </p:sp>
      <p:sp>
        <p:nvSpPr>
          <p:cNvPr id="12" name="Shape 8"/>
          <p:cNvSpPr/>
          <p:nvPr/>
        </p:nvSpPr>
        <p:spPr>
          <a:xfrm>
            <a:off x="493776" y="3991023"/>
            <a:ext cx="6876288" cy="430433"/>
          </a:xfrm>
          <a:prstGeom prst="rect">
            <a:avLst/>
          </a:prstGeom>
          <a:solidFill>
            <a:srgbClr val="FFFFFF"/>
          </a:solidFill>
          <a:ln w="9525">
            <a:solidFill>
              <a:srgbClr val="D6D8D6"/>
            </a:solidFill>
            <a:prstDash val="solid"/>
          </a:ln>
          <a:effectLst>
            <a:outerShdw sx="100000" sy="100000" kx="0" ky="0" algn="bl" rotWithShape="0" blurRad="101600" dist="25400" dir="5400000">
              <a:srgbClr val="000000">
                <a:alpha val="18000"/>
              </a:srgbClr>
            </a:outerShdw>
          </a:effectLst>
        </p:spPr>
      </p:sp>
      <p:pic>
        <p:nvPicPr>
          <p:cNvPr id="13" name="Image 2" descr="/home/user/master-executive-system/sip-presentation/source/crops/t1_key.png">    </p:cNvPr>
          <p:cNvPicPr>
            <a:picLocks noChangeAspect="1"/>
          </p:cNvPicPr>
          <p:nvPr/>
        </p:nvPicPr>
        <p:blipFill>
          <a:blip r:embed="rId3"/>
          <a:stretch>
            <a:fillRect/>
          </a:stretch>
        </p:blipFill>
        <p:spPr>
          <a:xfrm>
            <a:off x="548640" y="4045887"/>
            <a:ext cx="6766560" cy="320705"/>
          </a:xfrm>
          <a:prstGeom prst="rect">
            <a:avLst/>
          </a:prstGeom>
        </p:spPr>
      </p:pic>
      <p:sp>
        <p:nvSpPr>
          <p:cNvPr id="14" name="Shape 9"/>
          <p:cNvSpPr/>
          <p:nvPr/>
        </p:nvSpPr>
        <p:spPr>
          <a:xfrm>
            <a:off x="2071116" y="4061923"/>
            <a:ext cx="2435962" cy="288635"/>
          </a:xfrm>
          <a:prstGeom prst="rect">
            <a:avLst/>
          </a:prstGeom>
          <a:ln w="25400">
            <a:solidFill>
              <a:srgbClr val="E0561F"/>
            </a:solidFill>
            <a:prstDash val="solid"/>
          </a:ln>
        </p:spPr>
      </p:sp>
      <p:sp>
        <p:nvSpPr>
          <p:cNvPr id="15" name="Text 10"/>
          <p:cNvSpPr txBox="1"/>
          <p:nvPr/>
        </p:nvSpPr>
        <p:spPr>
          <a:xfrm>
            <a:off x="7498080" y="3566160"/>
            <a:ext cx="548640" cy="731520"/>
          </a:xfrm>
          <a:prstGeom prst="rect">
            <a:avLst/>
          </a:prstGeom>
          <a:noFill/>
          <a:ln/>
        </p:spPr>
        <p:txBody>
          <a:bodyPr wrap="square" lIns="0" tIns="0" rIns="0" bIns="0" rtlCol="0" anchor="ctr"/>
          <a:lstStyle/>
          <a:p>
            <a:pPr algn="ctr" indent="0" marL="0">
              <a:buNone/>
            </a:pPr>
            <a:r>
              <a:rPr lang="en-US" sz="3600" dirty="0">
                <a:solidFill>
                  <a:srgbClr val="E0561F"/>
                </a:solidFill>
                <a:latin typeface="Cambria" pitchFamily="34" charset="0"/>
                <a:ea typeface="Cambria" pitchFamily="34" charset="-122"/>
                <a:cs typeface="Cambria" pitchFamily="34" charset="-120"/>
              </a:rPr>
              <a:t>→</a:t>
            </a:r>
            <a:endParaRPr lang="en-US" sz="3600" dirty="0"/>
          </a:p>
        </p:txBody>
      </p:sp>
      <p:sp>
        <p:nvSpPr>
          <p:cNvPr id="16" name="Text 11"/>
          <p:cNvSpPr txBox="1"/>
          <p:nvPr/>
        </p:nvSpPr>
        <p:spPr>
          <a:xfrm>
            <a:off x="8183880" y="3246120"/>
            <a:ext cx="3566160" cy="274320"/>
          </a:xfrm>
          <a:prstGeom prst="rect">
            <a:avLst/>
          </a:prstGeom>
          <a:noFill/>
          <a:ln/>
        </p:spPr>
        <p:txBody>
          <a:bodyPr wrap="square" lIns="0" tIns="0" rIns="0" bIns="0" rtlCol="0" anchor="ctr"/>
          <a:lstStyle/>
          <a:p>
            <a:pPr indent="0" marL="0">
              <a:buNone/>
            </a:pPr>
            <a:r>
              <a:rPr lang="en-US" sz="1050" b="1" spc="300" kern="0" dirty="0">
                <a:solidFill>
                  <a:srgbClr val="AEB4B9"/>
                </a:solidFill>
                <a:latin typeface="Calibri" pitchFamily="34" charset="0"/>
                <a:ea typeface="Calibri" pitchFamily="34" charset="-122"/>
                <a:cs typeface="Calibri" pitchFamily="34" charset="-120"/>
              </a:rPr>
              <a:t>PRODUCTION RUN ID</a:t>
            </a:r>
            <a:endParaRPr lang="en-US" sz="1050" dirty="0"/>
          </a:p>
        </p:txBody>
      </p:sp>
      <p:sp>
        <p:nvSpPr>
          <p:cNvPr id="17" name="Text 12"/>
          <p:cNvSpPr txBox="1"/>
          <p:nvPr/>
        </p:nvSpPr>
        <p:spPr>
          <a:xfrm>
            <a:off x="8183880" y="3520440"/>
            <a:ext cx="3566160" cy="731520"/>
          </a:xfrm>
          <a:prstGeom prst="rect">
            <a:avLst/>
          </a:prstGeom>
          <a:noFill/>
          <a:ln/>
        </p:spPr>
        <p:txBody>
          <a:bodyPr wrap="square" lIns="0" tIns="0" rIns="0" bIns="0" rtlCol="0" anchor="ctr"/>
          <a:lstStyle/>
          <a:p>
            <a:pPr indent="0" marL="0">
              <a:buNone/>
            </a:pPr>
            <a:r>
              <a:rPr lang="en-US" sz="3600" dirty="0">
                <a:solidFill>
                  <a:srgbClr val="E0561F"/>
                </a:solidFill>
                <a:latin typeface="Cambria" pitchFamily="34" charset="0"/>
                <a:ea typeface="Cambria" pitchFamily="34" charset="-122"/>
                <a:cs typeface="Cambria" pitchFamily="34" charset="-120"/>
              </a:rPr>
              <a:t>PR-2026-00630</a:t>
            </a:r>
            <a:endParaRPr lang="en-US" sz="3600" dirty="0"/>
          </a:p>
        </p:txBody>
      </p:sp>
      <p:sp>
        <p:nvSpPr>
          <p:cNvPr id="18" name="Text 13"/>
          <p:cNvSpPr txBox="1"/>
          <p:nvPr/>
        </p:nvSpPr>
        <p:spPr>
          <a:xfrm>
            <a:off x="8183880" y="4297680"/>
            <a:ext cx="3474720" cy="731520"/>
          </a:xfrm>
          <a:prstGeom prst="rect">
            <a:avLst/>
          </a:prstGeom>
          <a:noFill/>
          <a:ln/>
        </p:spPr>
        <p:txBody>
          <a:bodyPr wrap="square" lIns="0" tIns="0" rIns="0" bIns="0" rtlCol="0" anchor="t"/>
          <a:lstStyle/>
          <a:p>
            <a:pPr indent="0" marL="0">
              <a:buNone/>
            </a:pPr>
            <a:r>
              <a:rPr lang="en-US" sz="1300" dirty="0">
                <a:solidFill>
                  <a:srgbClr val="D5D9DC"/>
                </a:solidFill>
                <a:latin typeface="Calibri" pitchFamily="34" charset="0"/>
                <a:ea typeface="Calibri" pitchFamily="34" charset="-122"/>
                <a:cs typeface="Calibri" pitchFamily="34" charset="-120"/>
              </a:rPr>
              <a:t>Printed identifier in, internal key out. Everything downstream is joined on this.</a:t>
            </a:r>
            <a:endParaRPr lang="en-US" sz="1300" dirty="0"/>
          </a:p>
        </p:txBody>
      </p:sp>
      <p:sp>
        <p:nvSpPr>
          <p:cNvPr id="19" name="Text 14"/>
          <p:cNvSpPr txBox="1"/>
          <p:nvPr/>
        </p:nvSpPr>
        <p:spPr>
          <a:xfrm>
            <a:off x="548640" y="5394960"/>
            <a:ext cx="110642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Batch No. + Product + Colour + Manufacturing Date  →  matching production record  →  Production Run ID</a:t>
            </a:r>
            <a:endParaRPr lang="en-US" sz="1400" dirty="0"/>
          </a:p>
        </p:txBody>
      </p:sp>
      <p:sp>
        <p:nvSpPr>
          <p:cNvPr id="20" name="Text 15"/>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i="1" dirty="0">
                <a:solidFill>
                  <a:srgbClr val="6F777D"/>
                </a:solidFill>
                <a:latin typeface="Calibri" pitchFamily="34" charset="0"/>
                <a:ea typeface="Calibri" pitchFamily="34" charset="-122"/>
                <a:cs typeface="Calibri" pitchFamily="34" charset="-120"/>
              </a:rPr>
              <a:t>Demonstration dataset: fictional operational data modelled on client brand accounts. Not the company's production records.</a:t>
            </a:r>
            <a:endParaRPr lang="en-US" sz="900" dirty="0"/>
          </a:p>
        </p:txBody>
      </p:sp>
      <p:sp>
        <p:nvSpPr>
          <p:cNvPr id="21" name="Text 16"/>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7D85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09</a:t>
            </a:r>
            <a:pPr indent="0" marL="0">
              <a:buNone/>
            </a:pPr>
            <a:r>
              <a:rPr lang="en-US" sz="1050" spc="300" kern="0" dirty="0">
                <a:solidFill>
                  <a:srgbClr val="6B7278"/>
                </a:solidFill>
                <a:latin typeface="Calibri" pitchFamily="34" charset="0"/>
                <a:ea typeface="Calibri" pitchFamily="34" charset="-122"/>
                <a:cs typeface="Calibri" pitchFamily="34" charset="-120"/>
              </a:rPr>
              <a:t>   THE SYSTEM COMES ALIVE  ·  MANUFACTURING RECORD</a:t>
            </a:r>
            <a:endParaRPr lang="en-US" sz="1050" dirty="0"/>
          </a:p>
        </p:txBody>
      </p:sp>
      <p:sp>
        <p:nvSpPr>
          <p:cNvPr id="3" name="Text 1"/>
          <p:cNvSpPr txBox="1"/>
          <p:nvPr/>
        </p:nvSpPr>
        <p:spPr>
          <a:xfrm>
            <a:off x="548640" y="713232"/>
            <a:ext cx="11155680" cy="822960"/>
          </a:xfrm>
          <a:prstGeom prst="rect">
            <a:avLst/>
          </a:prstGeom>
          <a:noFill/>
          <a:ln/>
        </p:spPr>
        <p:txBody>
          <a:bodyPr wrap="square" lIns="0" tIns="0" rIns="0" bIns="0" rtlCol="0" anchor="t"/>
          <a:lstStyle/>
          <a:p>
            <a:pPr indent="0" marL="0">
              <a:buNone/>
            </a:pPr>
            <a:r>
              <a:rPr lang="en-US" sz="2800" dirty="0">
                <a:solidFill>
                  <a:srgbClr val="1A1D21"/>
                </a:solidFill>
                <a:latin typeface="Cambria" pitchFamily="34" charset="0"/>
                <a:ea typeface="Cambria" pitchFamily="34" charset="-122"/>
                <a:cs typeface="Cambria" pitchFamily="34" charset="-120"/>
              </a:rPr>
              <a:t>Once we find the right record, what can we see?</a:t>
            </a:r>
            <a:endParaRPr lang="en-US" sz="2800" dirty="0"/>
          </a:p>
        </p:txBody>
      </p:sp>
      <p:sp>
        <p:nvSpPr>
          <p:cNvPr id="4" name="Shape 2"/>
          <p:cNvSpPr/>
          <p:nvPr/>
        </p:nvSpPr>
        <p:spPr>
          <a:xfrm>
            <a:off x="493776" y="1387386"/>
            <a:ext cx="11201400" cy="2757347"/>
          </a:xfrm>
          <a:prstGeom prst="rect">
            <a:avLst/>
          </a:prstGeom>
          <a:solidFill>
            <a:srgbClr val="FFFFFF"/>
          </a:solidFill>
          <a:ln w="9525">
            <a:solidFill>
              <a:srgbClr val="D6D8D6"/>
            </a:solidFill>
            <a:prstDash val="solid"/>
          </a:ln>
          <a:effectLst>
            <a:outerShdw sx="100000" sy="100000" kx="0" ky="0" algn="bl" rotWithShape="0" blurRad="101600" dist="25400" dir="5400000">
              <a:srgbClr val="000000">
                <a:alpha val="18000"/>
              </a:srgbClr>
            </a:outerShdw>
          </a:effectLst>
        </p:spPr>
      </p:sp>
      <p:pic>
        <p:nvPicPr>
          <p:cNvPr id="5" name="Image 0" descr="/home/user/master-executive-system/sip-presentation/source/crops/t1_record.png">    </p:cNvPr>
          <p:cNvPicPr>
            <a:picLocks noChangeAspect="1"/>
          </p:cNvPicPr>
          <p:nvPr/>
        </p:nvPicPr>
        <p:blipFill>
          <a:blip r:embed="rId1"/>
          <a:stretch>
            <a:fillRect/>
          </a:stretch>
        </p:blipFill>
        <p:spPr>
          <a:xfrm>
            <a:off x="548640" y="1442250"/>
            <a:ext cx="11091672" cy="2647619"/>
          </a:xfrm>
          <a:prstGeom prst="rect">
            <a:avLst/>
          </a:prstGeom>
        </p:spPr>
      </p:pic>
      <p:sp>
        <p:nvSpPr>
          <p:cNvPr id="6" name="Shape 3"/>
          <p:cNvSpPr/>
          <p:nvPr/>
        </p:nvSpPr>
        <p:spPr>
          <a:xfrm>
            <a:off x="4044300" y="1370325"/>
            <a:ext cx="329184" cy="329184"/>
          </a:xfrm>
          <a:prstGeom prst="ellipse">
            <a:avLst/>
          </a:prstGeom>
          <a:solidFill>
            <a:srgbClr val="E0561F"/>
          </a:solidFill>
          <a:ln w="19050">
            <a:solidFill>
              <a:srgbClr val="FFFFFF"/>
            </a:solidFill>
            <a:prstDash val="solid"/>
          </a:ln>
        </p:spPr>
      </p:sp>
      <p:sp>
        <p:nvSpPr>
          <p:cNvPr id="7" name="Text 4"/>
          <p:cNvSpPr txBox="1"/>
          <p:nvPr/>
        </p:nvSpPr>
        <p:spPr>
          <a:xfrm>
            <a:off x="4044300" y="1370325"/>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7926385" y="1370325"/>
            <a:ext cx="329184" cy="329184"/>
          </a:xfrm>
          <a:prstGeom prst="ellipse">
            <a:avLst/>
          </a:prstGeom>
          <a:solidFill>
            <a:srgbClr val="E0561F"/>
          </a:solidFill>
          <a:ln w="19050">
            <a:solidFill>
              <a:srgbClr val="FFFFFF"/>
            </a:solidFill>
            <a:prstDash val="solid"/>
          </a:ln>
        </p:spPr>
      </p:sp>
      <p:sp>
        <p:nvSpPr>
          <p:cNvPr id="9" name="Text 6"/>
          <p:cNvSpPr txBox="1"/>
          <p:nvPr/>
        </p:nvSpPr>
        <p:spPr>
          <a:xfrm>
            <a:off x="7926385" y="1370325"/>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Shape 7"/>
          <p:cNvSpPr/>
          <p:nvPr/>
        </p:nvSpPr>
        <p:spPr>
          <a:xfrm>
            <a:off x="11309345" y="1370325"/>
            <a:ext cx="329184" cy="329184"/>
          </a:xfrm>
          <a:prstGeom prst="ellipse">
            <a:avLst/>
          </a:prstGeom>
          <a:solidFill>
            <a:srgbClr val="E0561F"/>
          </a:solidFill>
          <a:ln w="19050">
            <a:solidFill>
              <a:srgbClr val="FFFFFF"/>
            </a:solidFill>
            <a:prstDash val="solid"/>
          </a:ln>
        </p:spPr>
      </p:sp>
      <p:sp>
        <p:nvSpPr>
          <p:cNvPr id="11" name="Text 8"/>
          <p:cNvSpPr txBox="1"/>
          <p:nvPr/>
        </p:nvSpPr>
        <p:spPr>
          <a:xfrm>
            <a:off x="11309345" y="1370325"/>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Shape 9"/>
          <p:cNvSpPr/>
          <p:nvPr/>
        </p:nvSpPr>
        <p:spPr>
          <a:xfrm>
            <a:off x="4044300" y="2567049"/>
            <a:ext cx="329184" cy="329184"/>
          </a:xfrm>
          <a:prstGeom prst="ellipse">
            <a:avLst/>
          </a:prstGeom>
          <a:solidFill>
            <a:srgbClr val="E0561F"/>
          </a:solidFill>
          <a:ln w="19050">
            <a:solidFill>
              <a:srgbClr val="FFFFFF"/>
            </a:solidFill>
            <a:prstDash val="solid"/>
          </a:ln>
        </p:spPr>
      </p:sp>
      <p:sp>
        <p:nvSpPr>
          <p:cNvPr id="13" name="Text 10"/>
          <p:cNvSpPr txBox="1"/>
          <p:nvPr/>
        </p:nvSpPr>
        <p:spPr>
          <a:xfrm>
            <a:off x="4044300" y="2567049"/>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4" name="Shape 11"/>
          <p:cNvSpPr/>
          <p:nvPr/>
        </p:nvSpPr>
        <p:spPr>
          <a:xfrm>
            <a:off x="7926385" y="2567049"/>
            <a:ext cx="329184" cy="329184"/>
          </a:xfrm>
          <a:prstGeom prst="ellipse">
            <a:avLst/>
          </a:prstGeom>
          <a:solidFill>
            <a:srgbClr val="E0561F"/>
          </a:solidFill>
          <a:ln w="19050">
            <a:solidFill>
              <a:srgbClr val="FFFFFF"/>
            </a:solidFill>
            <a:prstDash val="solid"/>
          </a:ln>
        </p:spPr>
      </p:sp>
      <p:sp>
        <p:nvSpPr>
          <p:cNvPr id="15" name="Text 12"/>
          <p:cNvSpPr txBox="1"/>
          <p:nvPr/>
        </p:nvSpPr>
        <p:spPr>
          <a:xfrm>
            <a:off x="7926385" y="2567049"/>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6" name="Shape 13"/>
          <p:cNvSpPr/>
          <p:nvPr/>
        </p:nvSpPr>
        <p:spPr>
          <a:xfrm>
            <a:off x="11309345" y="2567049"/>
            <a:ext cx="329184" cy="329184"/>
          </a:xfrm>
          <a:prstGeom prst="ellipse">
            <a:avLst/>
          </a:prstGeom>
          <a:solidFill>
            <a:srgbClr val="E0561F"/>
          </a:solidFill>
          <a:ln w="19050">
            <a:solidFill>
              <a:srgbClr val="FFFFFF"/>
            </a:solidFill>
            <a:prstDash val="solid"/>
          </a:ln>
        </p:spPr>
      </p:sp>
      <p:sp>
        <p:nvSpPr>
          <p:cNvPr id="17" name="Text 14"/>
          <p:cNvSpPr txBox="1"/>
          <p:nvPr/>
        </p:nvSpPr>
        <p:spPr>
          <a:xfrm>
            <a:off x="11309345" y="2567049"/>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8" name="Shape 15"/>
          <p:cNvSpPr/>
          <p:nvPr/>
        </p:nvSpPr>
        <p:spPr>
          <a:xfrm>
            <a:off x="548640" y="4443984"/>
            <a:ext cx="292608" cy="292608"/>
          </a:xfrm>
          <a:prstGeom prst="ellipse">
            <a:avLst/>
          </a:prstGeom>
          <a:solidFill>
            <a:srgbClr val="E0561F"/>
          </a:solidFill>
          <a:ln w="19050">
            <a:solidFill>
              <a:srgbClr val="FFFFFF"/>
            </a:solidFill>
            <a:prstDash val="solid"/>
          </a:ln>
        </p:spPr>
      </p:sp>
      <p:sp>
        <p:nvSpPr>
          <p:cNvPr id="19" name="Text 16"/>
          <p:cNvSpPr txBox="1"/>
          <p:nvPr/>
        </p:nvSpPr>
        <p:spPr>
          <a:xfrm>
            <a:off x="548640" y="444398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60120" y="4416552"/>
            <a:ext cx="3200400" cy="777240"/>
          </a:xfrm>
          <a:prstGeom prst="rect">
            <a:avLst/>
          </a:prstGeom>
          <a:noFill/>
          <a:ln/>
        </p:spPr>
        <p:txBody>
          <a:bodyPr wrap="square" lIns="0" tIns="0" rIns="0" bIns="0" rtlCol="0" anchor="t"/>
          <a:lstStyle/>
          <a:p>
            <a:pPr indent="0" marL="0">
              <a:buNone/>
            </a:pPr>
            <a:r>
              <a:rPr lang="en-US" sz="1200" b="1" dirty="0">
                <a:solidFill>
                  <a:srgbClr val="1A1D21"/>
                </a:solidFill>
                <a:latin typeface="Calibri" pitchFamily="34" charset="0"/>
                <a:ea typeface="Calibri" pitchFamily="34" charset="-122"/>
                <a:cs typeface="Calibri" pitchFamily="34" charset="-120"/>
              </a:rPr>
              <a:t>Product</a:t>
            </a:r>
            <a:endParaRPr lang="en-US" sz="1200" dirty="0"/>
          </a:p>
          <a:p>
            <a:pPr indent="0" marL="0">
              <a:buNone/>
            </a:pPr>
            <a:r>
              <a:rPr lang="en-US" sz="1200" dirty="0">
                <a:solidFill>
                  <a:srgbClr val="6B7278"/>
                </a:solidFill>
                <a:latin typeface="Calibri" pitchFamily="34" charset="0"/>
                <a:ea typeface="Calibri" pitchFamily="34" charset="-122"/>
                <a:cs typeface="Calibri" pitchFamily="34" charset="-120"/>
              </a:rPr>
              <a:t>SKU, colour, variant, batch, brand</a:t>
            </a:r>
            <a:endParaRPr lang="en-US" sz="1200" dirty="0"/>
          </a:p>
        </p:txBody>
      </p:sp>
      <p:sp>
        <p:nvSpPr>
          <p:cNvPr id="21" name="Shape 18"/>
          <p:cNvSpPr/>
          <p:nvPr/>
        </p:nvSpPr>
        <p:spPr>
          <a:xfrm>
            <a:off x="4297680" y="4443984"/>
            <a:ext cx="292608" cy="292608"/>
          </a:xfrm>
          <a:prstGeom prst="ellipse">
            <a:avLst/>
          </a:prstGeom>
          <a:solidFill>
            <a:srgbClr val="E0561F"/>
          </a:solidFill>
          <a:ln w="19050">
            <a:solidFill>
              <a:srgbClr val="FFFFFF"/>
            </a:solidFill>
            <a:prstDash val="solid"/>
          </a:ln>
        </p:spPr>
      </p:sp>
      <p:sp>
        <p:nvSpPr>
          <p:cNvPr id="22" name="Text 19"/>
          <p:cNvSpPr txBox="1"/>
          <p:nvPr/>
        </p:nvSpPr>
        <p:spPr>
          <a:xfrm>
            <a:off x="4297680" y="444398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3" name="Text 20"/>
          <p:cNvSpPr txBox="1"/>
          <p:nvPr/>
        </p:nvSpPr>
        <p:spPr>
          <a:xfrm>
            <a:off x="4709160" y="4416552"/>
            <a:ext cx="3200400" cy="777240"/>
          </a:xfrm>
          <a:prstGeom prst="rect">
            <a:avLst/>
          </a:prstGeom>
          <a:noFill/>
          <a:ln/>
        </p:spPr>
        <p:txBody>
          <a:bodyPr wrap="square" lIns="0" tIns="0" rIns="0" bIns="0" rtlCol="0" anchor="t"/>
          <a:lstStyle/>
          <a:p>
            <a:pPr indent="0" marL="0">
              <a:buNone/>
            </a:pPr>
            <a:r>
              <a:rPr lang="en-US" sz="1200" b="1" dirty="0">
                <a:solidFill>
                  <a:srgbClr val="1A1D21"/>
                </a:solidFill>
                <a:latin typeface="Calibri" pitchFamily="34" charset="0"/>
                <a:ea typeface="Calibri" pitchFamily="34" charset="-122"/>
                <a:cs typeface="Calibri" pitchFamily="34" charset="-120"/>
              </a:rPr>
              <a:t>Manufacturing</a:t>
            </a:r>
            <a:endParaRPr lang="en-US" sz="1200" dirty="0"/>
          </a:p>
          <a:p>
            <a:pPr indent="0" marL="0">
              <a:buNone/>
            </a:pPr>
            <a:r>
              <a:rPr lang="en-US" sz="1200" dirty="0">
                <a:solidFill>
                  <a:srgbClr val="6B7278"/>
                </a:solidFill>
                <a:latin typeface="Calibri" pitchFamily="34" charset="0"/>
                <a:ea typeface="Calibri" pitchFamily="34" charset="-122"/>
                <a:cs typeface="Calibri" pitchFamily="34" charset="-120"/>
              </a:rPr>
              <a:t>Date, plant, line, machine, shift, operator</a:t>
            </a:r>
            <a:endParaRPr lang="en-US" sz="1200" dirty="0"/>
          </a:p>
        </p:txBody>
      </p:sp>
      <p:sp>
        <p:nvSpPr>
          <p:cNvPr id="24" name="Shape 21"/>
          <p:cNvSpPr/>
          <p:nvPr/>
        </p:nvSpPr>
        <p:spPr>
          <a:xfrm>
            <a:off x="8046720" y="4443984"/>
            <a:ext cx="292608" cy="292608"/>
          </a:xfrm>
          <a:prstGeom prst="ellipse">
            <a:avLst/>
          </a:prstGeom>
          <a:solidFill>
            <a:srgbClr val="E0561F"/>
          </a:solidFill>
          <a:ln w="19050">
            <a:solidFill>
              <a:srgbClr val="FFFFFF"/>
            </a:solidFill>
            <a:prstDash val="solid"/>
          </a:ln>
        </p:spPr>
      </p:sp>
      <p:sp>
        <p:nvSpPr>
          <p:cNvPr id="25" name="Text 22"/>
          <p:cNvSpPr txBox="1"/>
          <p:nvPr/>
        </p:nvSpPr>
        <p:spPr>
          <a:xfrm>
            <a:off x="8046720" y="444398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Text 23"/>
          <p:cNvSpPr txBox="1"/>
          <p:nvPr/>
        </p:nvSpPr>
        <p:spPr>
          <a:xfrm>
            <a:off x="8458200" y="4416552"/>
            <a:ext cx="3200400" cy="777240"/>
          </a:xfrm>
          <a:prstGeom prst="rect">
            <a:avLst/>
          </a:prstGeom>
          <a:noFill/>
          <a:ln/>
        </p:spPr>
        <p:txBody>
          <a:bodyPr wrap="square" lIns="0" tIns="0" rIns="0" bIns="0" rtlCol="0" anchor="t"/>
          <a:lstStyle/>
          <a:p>
            <a:pPr indent="0" marL="0">
              <a:buNone/>
            </a:pPr>
            <a:r>
              <a:rPr lang="en-US" sz="1200" b="1" dirty="0">
                <a:solidFill>
                  <a:srgbClr val="1A1D21"/>
                </a:solidFill>
                <a:latin typeface="Calibri" pitchFamily="34" charset="0"/>
                <a:ea typeface="Calibri" pitchFamily="34" charset="-122"/>
                <a:cs typeface="Calibri" pitchFamily="34" charset="-120"/>
              </a:rPr>
              <a:t>Production</a:t>
            </a:r>
            <a:endParaRPr lang="en-US" sz="1200" dirty="0"/>
          </a:p>
          <a:p>
            <a:pPr indent="0" marL="0">
              <a:buNone/>
            </a:pPr>
            <a:r>
              <a:rPr lang="en-US" sz="1200" dirty="0">
                <a:solidFill>
                  <a:srgbClr val="6B7278"/>
                </a:solidFill>
                <a:latin typeface="Calibri" pitchFamily="34" charset="0"/>
                <a:ea typeface="Calibri" pitchFamily="34" charset="-122"/>
                <a:cs typeface="Calibri" pitchFamily="34" charset="-120"/>
              </a:rPr>
              <a:t>Planned, actual, good, rejected, efficiency, yield</a:t>
            </a:r>
            <a:endParaRPr lang="en-US" sz="1200" dirty="0"/>
          </a:p>
        </p:txBody>
      </p:sp>
      <p:sp>
        <p:nvSpPr>
          <p:cNvPr id="27" name="Shape 24"/>
          <p:cNvSpPr/>
          <p:nvPr/>
        </p:nvSpPr>
        <p:spPr>
          <a:xfrm>
            <a:off x="548640" y="5312664"/>
            <a:ext cx="292608" cy="292608"/>
          </a:xfrm>
          <a:prstGeom prst="ellipse">
            <a:avLst/>
          </a:prstGeom>
          <a:solidFill>
            <a:srgbClr val="E0561F"/>
          </a:solidFill>
          <a:ln w="19050">
            <a:solidFill>
              <a:srgbClr val="FFFFFF"/>
            </a:solidFill>
            <a:prstDash val="solid"/>
          </a:ln>
        </p:spPr>
      </p:sp>
      <p:sp>
        <p:nvSpPr>
          <p:cNvPr id="28" name="Text 25"/>
          <p:cNvSpPr txBox="1"/>
          <p:nvPr/>
        </p:nvSpPr>
        <p:spPr>
          <a:xfrm>
            <a:off x="548640" y="531266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9" name="Text 26"/>
          <p:cNvSpPr txBox="1"/>
          <p:nvPr/>
        </p:nvSpPr>
        <p:spPr>
          <a:xfrm>
            <a:off x="960120" y="5285232"/>
            <a:ext cx="3200400" cy="777240"/>
          </a:xfrm>
          <a:prstGeom prst="rect">
            <a:avLst/>
          </a:prstGeom>
          <a:noFill/>
          <a:ln/>
        </p:spPr>
        <p:txBody>
          <a:bodyPr wrap="square" lIns="0" tIns="0" rIns="0" bIns="0" rtlCol="0" anchor="t"/>
          <a:lstStyle/>
          <a:p>
            <a:pPr indent="0" marL="0">
              <a:buNone/>
            </a:pPr>
            <a:r>
              <a:rPr lang="en-US" sz="1200" b="1" dirty="0">
                <a:solidFill>
                  <a:srgbClr val="1A1D21"/>
                </a:solidFill>
                <a:latin typeface="Calibri" pitchFamily="34" charset="0"/>
                <a:ea typeface="Calibri" pitchFamily="34" charset="-122"/>
                <a:cs typeface="Calibri" pitchFamily="34" charset="-120"/>
              </a:rPr>
              <a:t>Quality</a:t>
            </a:r>
            <a:endParaRPr lang="en-US" sz="1200" dirty="0"/>
          </a:p>
          <a:p>
            <a:pPr indent="0" marL="0">
              <a:buNone/>
            </a:pPr>
            <a:r>
              <a:rPr lang="en-US" sz="1200" dirty="0">
                <a:solidFill>
                  <a:srgbClr val="6B7278"/>
                </a:solidFill>
                <a:latin typeface="Calibri" pitchFamily="34" charset="0"/>
                <a:ea typeface="Calibri" pitchFamily="34" charset="-122"/>
                <a:cs typeface="Calibri" pitchFamily="34" charset="-120"/>
              </a:rPr>
              <a:t>Inspection, defect, severity, decision, release</a:t>
            </a:r>
            <a:endParaRPr lang="en-US" sz="1200" dirty="0"/>
          </a:p>
        </p:txBody>
      </p:sp>
      <p:sp>
        <p:nvSpPr>
          <p:cNvPr id="30" name="Shape 27"/>
          <p:cNvSpPr/>
          <p:nvPr/>
        </p:nvSpPr>
        <p:spPr>
          <a:xfrm>
            <a:off x="4297680" y="5312664"/>
            <a:ext cx="292608" cy="292608"/>
          </a:xfrm>
          <a:prstGeom prst="ellipse">
            <a:avLst/>
          </a:prstGeom>
          <a:solidFill>
            <a:srgbClr val="E0561F"/>
          </a:solidFill>
          <a:ln w="19050">
            <a:solidFill>
              <a:srgbClr val="FFFFFF"/>
            </a:solidFill>
            <a:prstDash val="solid"/>
          </a:ln>
        </p:spPr>
      </p:sp>
      <p:sp>
        <p:nvSpPr>
          <p:cNvPr id="31" name="Text 28"/>
          <p:cNvSpPr txBox="1"/>
          <p:nvPr/>
        </p:nvSpPr>
        <p:spPr>
          <a:xfrm>
            <a:off x="4297680" y="531266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2" name="Text 29"/>
          <p:cNvSpPr txBox="1"/>
          <p:nvPr/>
        </p:nvSpPr>
        <p:spPr>
          <a:xfrm>
            <a:off x="4709160" y="5285232"/>
            <a:ext cx="3200400" cy="777240"/>
          </a:xfrm>
          <a:prstGeom prst="rect">
            <a:avLst/>
          </a:prstGeom>
          <a:noFill/>
          <a:ln/>
        </p:spPr>
        <p:txBody>
          <a:bodyPr wrap="square" lIns="0" tIns="0" rIns="0" bIns="0" rtlCol="0" anchor="t"/>
          <a:lstStyle/>
          <a:p>
            <a:pPr indent="0" marL="0">
              <a:buNone/>
            </a:pPr>
            <a:r>
              <a:rPr lang="en-US" sz="1200" b="1" dirty="0">
                <a:solidFill>
                  <a:srgbClr val="E0561F"/>
                </a:solidFill>
                <a:latin typeface="Calibri" pitchFamily="34" charset="0"/>
                <a:ea typeface="Calibri" pitchFamily="34" charset="-122"/>
                <a:cs typeface="Calibri" pitchFamily="34" charset="-120"/>
              </a:rPr>
              <a:t>Material genealogy</a:t>
            </a:r>
            <a:endParaRPr lang="en-US" sz="1200" dirty="0"/>
          </a:p>
          <a:p>
            <a:pPr indent="0" marL="0">
              <a:buNone/>
            </a:pPr>
            <a:r>
              <a:rPr lang="en-US" sz="1200" dirty="0">
                <a:solidFill>
                  <a:srgbClr val="6B7278"/>
                </a:solidFill>
                <a:latin typeface="Calibri" pitchFamily="34" charset="0"/>
                <a:ea typeface="Calibri" pitchFamily="34" charset="-122"/>
                <a:cs typeface="Calibri" pitchFamily="34" charset="-120"/>
              </a:rPr>
              <a:t>Handle lot, resin, masterbatch, mould, bristle supplier, filament</a:t>
            </a:r>
            <a:endParaRPr lang="en-US" sz="1200" dirty="0"/>
          </a:p>
        </p:txBody>
      </p:sp>
      <p:sp>
        <p:nvSpPr>
          <p:cNvPr id="33" name="Shape 30"/>
          <p:cNvSpPr/>
          <p:nvPr/>
        </p:nvSpPr>
        <p:spPr>
          <a:xfrm>
            <a:off x="8046720" y="5312664"/>
            <a:ext cx="292608" cy="292608"/>
          </a:xfrm>
          <a:prstGeom prst="ellipse">
            <a:avLst/>
          </a:prstGeom>
          <a:solidFill>
            <a:srgbClr val="E0561F"/>
          </a:solidFill>
          <a:ln w="19050">
            <a:solidFill>
              <a:srgbClr val="FFFFFF"/>
            </a:solidFill>
            <a:prstDash val="solid"/>
          </a:ln>
        </p:spPr>
      </p:sp>
      <p:sp>
        <p:nvSpPr>
          <p:cNvPr id="34" name="Text 31"/>
          <p:cNvSpPr txBox="1"/>
          <p:nvPr/>
        </p:nvSpPr>
        <p:spPr>
          <a:xfrm>
            <a:off x="8046720" y="5312664"/>
            <a:ext cx="292608"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8458200" y="5285232"/>
            <a:ext cx="3200400" cy="777240"/>
          </a:xfrm>
          <a:prstGeom prst="rect">
            <a:avLst/>
          </a:prstGeom>
          <a:noFill/>
          <a:ln/>
        </p:spPr>
        <p:txBody>
          <a:bodyPr wrap="square" lIns="0" tIns="0" rIns="0" bIns="0" rtlCol="0" anchor="t"/>
          <a:lstStyle/>
          <a:p>
            <a:pPr indent="0" marL="0">
              <a:buNone/>
            </a:pPr>
            <a:r>
              <a:rPr lang="en-US" sz="1200" b="1" dirty="0">
                <a:solidFill>
                  <a:srgbClr val="1A1D21"/>
                </a:solidFill>
                <a:latin typeface="Calibri" pitchFamily="34" charset="0"/>
                <a:ea typeface="Calibri" pitchFamily="34" charset="-122"/>
                <a:cs typeface="Calibri" pitchFamily="34" charset="-120"/>
              </a:rPr>
              <a:t>Machine &amp; dispatch</a:t>
            </a:r>
            <a:endParaRPr lang="en-US" sz="1200" dirty="0"/>
          </a:p>
          <a:p>
            <a:pPr indent="0" marL="0">
              <a:buNone/>
            </a:pPr>
            <a:r>
              <a:rPr lang="en-US" sz="1200" dirty="0">
                <a:solidFill>
                  <a:srgbClr val="6B7278"/>
                </a:solidFill>
                <a:latin typeface="Calibri" pitchFamily="34" charset="0"/>
                <a:ea typeface="Calibri" pitchFamily="34" charset="-122"/>
                <a:cs typeface="Calibri" pitchFamily="34" charset="-120"/>
              </a:rPr>
              <a:t>Downtime, OEE for the run, dispatch, customer, invoice</a:t>
            </a:r>
            <a:endParaRPr lang="en-US" sz="1200" dirty="0"/>
          </a:p>
        </p:txBody>
      </p:sp>
      <p:sp>
        <p:nvSpPr>
          <p:cNvPr id="36" name="Text 33"/>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i="1" dirty="0">
                <a:solidFill>
                  <a:srgbClr val="6B7278"/>
                </a:solidFill>
                <a:latin typeface="Calibri" pitchFamily="34" charset="0"/>
                <a:ea typeface="Calibri" pitchFamily="34" charset="-122"/>
                <a:cs typeface="Calibri" pitchFamily="34" charset="-120"/>
              </a:rPr>
              <a:t>Demonstration dataset: fictional operational data modelled on client brand accounts. Not the company's production records.</a:t>
            </a:r>
            <a:endParaRPr lang="en-US" sz="900" dirty="0"/>
          </a:p>
        </p:txBody>
      </p:sp>
      <p:sp>
        <p:nvSpPr>
          <p:cNvPr id="37" name="Text 34"/>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4F1"/>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09</a:t>
            </a:r>
            <a:pPr indent="0" marL="0">
              <a:buNone/>
            </a:pPr>
            <a:r>
              <a:rPr lang="en-US" sz="1050" spc="300" kern="0" dirty="0">
                <a:solidFill>
                  <a:srgbClr val="6B7278"/>
                </a:solidFill>
                <a:latin typeface="Calibri" pitchFamily="34" charset="0"/>
                <a:ea typeface="Calibri" pitchFamily="34" charset="-122"/>
                <a:cs typeface="Calibri" pitchFamily="34" charset="-120"/>
              </a:rPr>
              <a:t>   THE SYSTEM COMES ALIVE  ·  ZOOM</a:t>
            </a:r>
            <a:endParaRPr lang="en-US" sz="1050" dirty="0"/>
          </a:p>
        </p:txBody>
      </p:sp>
      <p:sp>
        <p:nvSpPr>
          <p:cNvPr id="3" name="Text 1"/>
          <p:cNvSpPr txBox="1"/>
          <p:nvPr/>
        </p:nvSpPr>
        <p:spPr>
          <a:xfrm>
            <a:off x="548640" y="713232"/>
            <a:ext cx="11155680" cy="822960"/>
          </a:xfrm>
          <a:prstGeom prst="rect">
            <a:avLst/>
          </a:prstGeom>
          <a:noFill/>
          <a:ln/>
        </p:spPr>
        <p:txBody>
          <a:bodyPr wrap="square" lIns="0" tIns="0" rIns="0" bIns="0" rtlCol="0" anchor="t"/>
          <a:lstStyle/>
          <a:p>
            <a:pPr indent="0" marL="0">
              <a:buNone/>
            </a:pPr>
            <a:r>
              <a:rPr lang="en-US" sz="2800" dirty="0">
                <a:solidFill>
                  <a:srgbClr val="1A1D21"/>
                </a:solidFill>
                <a:latin typeface="Cambria" pitchFamily="34" charset="0"/>
                <a:ea typeface="Cambria" pitchFamily="34" charset="-122"/>
                <a:cs typeface="Cambria" pitchFamily="34" charset="-120"/>
              </a:rPr>
              <a:t>For loose bristles, where would QA look first?</a:t>
            </a:r>
            <a:endParaRPr lang="en-US" sz="2800" dirty="0"/>
          </a:p>
        </p:txBody>
      </p:sp>
      <p:sp>
        <p:nvSpPr>
          <p:cNvPr id="4" name="Text 2"/>
          <p:cNvSpPr txBox="1"/>
          <p:nvPr/>
        </p:nvSpPr>
        <p:spPr>
          <a:xfrm>
            <a:off x="548640" y="1371600"/>
            <a:ext cx="5486400" cy="256032"/>
          </a:xfrm>
          <a:prstGeom prst="rect">
            <a:avLst/>
          </a:prstGeom>
          <a:noFill/>
          <a:ln/>
        </p:spPr>
        <p:txBody>
          <a:bodyPr wrap="square" lIns="0" tIns="0" rIns="0" bIns="0" rtlCol="0" anchor="ctr"/>
          <a:lstStyle/>
          <a:p>
            <a:pPr indent="0" marL="0">
              <a:buNone/>
            </a:pPr>
            <a:r>
              <a:rPr lang="en-US" sz="1000" b="1" spc="200" kern="0" dirty="0">
                <a:solidFill>
                  <a:srgbClr val="E0561F"/>
                </a:solidFill>
                <a:latin typeface="Calibri" pitchFamily="34" charset="0"/>
                <a:ea typeface="Calibri" pitchFamily="34" charset="-122"/>
                <a:cs typeface="Calibri" pitchFamily="34" charset="-120"/>
              </a:rPr>
              <a:t>WHERE AND WHEN IT WAS MADE</a:t>
            </a:r>
            <a:endParaRPr lang="en-US" sz="1000" dirty="0"/>
          </a:p>
        </p:txBody>
      </p:sp>
      <p:sp>
        <p:nvSpPr>
          <p:cNvPr id="5" name="Shape 3"/>
          <p:cNvSpPr/>
          <p:nvPr/>
        </p:nvSpPr>
        <p:spPr>
          <a:xfrm>
            <a:off x="493776" y="1754597"/>
            <a:ext cx="5504688" cy="1977207"/>
          </a:xfrm>
          <a:prstGeom prst="rect">
            <a:avLst/>
          </a:prstGeom>
          <a:solidFill>
            <a:srgbClr val="FFFFFF"/>
          </a:solidFill>
          <a:ln w="9525">
            <a:solidFill>
              <a:srgbClr val="D6D8D6"/>
            </a:solidFill>
            <a:prstDash val="solid"/>
          </a:ln>
          <a:effectLst>
            <a:outerShdw sx="100000" sy="100000" kx="0" ky="0" algn="bl" rotWithShape="0" blurRad="101600" dist="25400" dir="5400000">
              <a:srgbClr val="000000">
                <a:alpha val="18000"/>
              </a:srgbClr>
            </a:outerShdw>
          </a:effectLst>
        </p:spPr>
      </p:sp>
      <p:pic>
        <p:nvPicPr>
          <p:cNvPr id="6" name="Image 0" descr="/home/user/master-executive-system/sip-presentation/source/crops/t1_mfg.png">    </p:cNvPr>
          <p:cNvPicPr>
            <a:picLocks noChangeAspect="1"/>
          </p:cNvPicPr>
          <p:nvPr/>
        </p:nvPicPr>
        <p:blipFill>
          <a:blip r:embed="rId1"/>
          <a:stretch>
            <a:fillRect/>
          </a:stretch>
        </p:blipFill>
        <p:spPr>
          <a:xfrm>
            <a:off x="548640" y="1809461"/>
            <a:ext cx="5394960" cy="1867479"/>
          </a:xfrm>
          <a:prstGeom prst="rect">
            <a:avLst/>
          </a:prstGeom>
        </p:spPr>
      </p:pic>
      <p:sp>
        <p:nvSpPr>
          <p:cNvPr id="7" name="Shape 4"/>
          <p:cNvSpPr/>
          <p:nvPr/>
        </p:nvSpPr>
        <p:spPr>
          <a:xfrm>
            <a:off x="548640" y="2612476"/>
            <a:ext cx="5394960" cy="186748"/>
          </a:xfrm>
          <a:prstGeom prst="rect">
            <a:avLst/>
          </a:prstGeom>
          <a:ln w="25400">
            <a:solidFill>
              <a:srgbClr val="E0561F"/>
            </a:solidFill>
            <a:prstDash val="solid"/>
          </a:ln>
        </p:spPr>
      </p:sp>
      <p:sp>
        <p:nvSpPr>
          <p:cNvPr id="8" name="Shape 5"/>
          <p:cNvSpPr/>
          <p:nvPr/>
        </p:nvSpPr>
        <p:spPr>
          <a:xfrm>
            <a:off x="548640" y="2789887"/>
            <a:ext cx="5394960" cy="186748"/>
          </a:xfrm>
          <a:prstGeom prst="rect">
            <a:avLst/>
          </a:prstGeom>
          <a:ln w="25400">
            <a:solidFill>
              <a:srgbClr val="E0561F"/>
            </a:solidFill>
            <a:prstDash val="solid"/>
          </a:ln>
        </p:spPr>
      </p:sp>
      <p:sp>
        <p:nvSpPr>
          <p:cNvPr id="9" name="Shape 6"/>
          <p:cNvSpPr/>
          <p:nvPr/>
        </p:nvSpPr>
        <p:spPr>
          <a:xfrm>
            <a:off x="548640" y="2967297"/>
            <a:ext cx="5394960" cy="186748"/>
          </a:xfrm>
          <a:prstGeom prst="rect">
            <a:avLst/>
          </a:prstGeom>
          <a:ln w="25400">
            <a:solidFill>
              <a:srgbClr val="E0561F"/>
            </a:solidFill>
            <a:prstDash val="solid"/>
          </a:ln>
        </p:spPr>
      </p:sp>
      <p:sp>
        <p:nvSpPr>
          <p:cNvPr id="10" name="Text 7"/>
          <p:cNvSpPr txBox="1"/>
          <p:nvPr/>
        </p:nvSpPr>
        <p:spPr>
          <a:xfrm>
            <a:off x="6245352" y="1371600"/>
            <a:ext cx="5486400" cy="256032"/>
          </a:xfrm>
          <a:prstGeom prst="rect">
            <a:avLst/>
          </a:prstGeom>
          <a:noFill/>
          <a:ln/>
        </p:spPr>
        <p:txBody>
          <a:bodyPr wrap="square" lIns="0" tIns="0" rIns="0" bIns="0" rtlCol="0" anchor="ctr"/>
          <a:lstStyle/>
          <a:p>
            <a:pPr indent="0" marL="0">
              <a:buNone/>
            </a:pPr>
            <a:r>
              <a:rPr lang="en-US" sz="1000" b="1" spc="200" kern="0" dirty="0">
                <a:solidFill>
                  <a:srgbClr val="E0561F"/>
                </a:solidFill>
                <a:latin typeface="Calibri" pitchFamily="34" charset="0"/>
                <a:ea typeface="Calibri" pitchFamily="34" charset="-122"/>
                <a:cs typeface="Calibri" pitchFamily="34" charset="-120"/>
              </a:rPr>
              <a:t>WHAT WENT INTO IT</a:t>
            </a:r>
            <a:endParaRPr lang="en-US" sz="1000" dirty="0"/>
          </a:p>
        </p:txBody>
      </p:sp>
      <p:sp>
        <p:nvSpPr>
          <p:cNvPr id="11" name="Shape 8"/>
          <p:cNvSpPr/>
          <p:nvPr/>
        </p:nvSpPr>
        <p:spPr>
          <a:xfrm>
            <a:off x="6190488" y="1705606"/>
            <a:ext cx="5504688" cy="2349509"/>
          </a:xfrm>
          <a:prstGeom prst="rect">
            <a:avLst/>
          </a:prstGeom>
          <a:solidFill>
            <a:srgbClr val="FFFFFF"/>
          </a:solidFill>
          <a:ln w="9525">
            <a:solidFill>
              <a:srgbClr val="D6D8D6"/>
            </a:solidFill>
            <a:prstDash val="solid"/>
          </a:ln>
          <a:effectLst>
            <a:outerShdw sx="100000" sy="100000" kx="0" ky="0" algn="bl" rotWithShape="0" blurRad="101600" dist="25400" dir="5400000">
              <a:srgbClr val="000000">
                <a:alpha val="18000"/>
              </a:srgbClr>
            </a:outerShdw>
          </a:effectLst>
        </p:spPr>
      </p:sp>
      <p:pic>
        <p:nvPicPr>
          <p:cNvPr id="12" name="Image 1" descr="/home/user/master-executive-system/sip-presentation/source/crops/t1_mat.png">    </p:cNvPr>
          <p:cNvPicPr>
            <a:picLocks noChangeAspect="1"/>
          </p:cNvPicPr>
          <p:nvPr/>
        </p:nvPicPr>
        <p:blipFill>
          <a:blip r:embed="rId2"/>
          <a:stretch>
            <a:fillRect/>
          </a:stretch>
        </p:blipFill>
        <p:spPr>
          <a:xfrm>
            <a:off x="6245352" y="1760470"/>
            <a:ext cx="5394960" cy="2239781"/>
          </a:xfrm>
          <a:prstGeom prst="rect">
            <a:avLst/>
          </a:prstGeom>
        </p:spPr>
      </p:pic>
      <p:sp>
        <p:nvSpPr>
          <p:cNvPr id="13" name="Shape 9"/>
          <p:cNvSpPr/>
          <p:nvPr/>
        </p:nvSpPr>
        <p:spPr>
          <a:xfrm>
            <a:off x="6245352" y="2018044"/>
            <a:ext cx="5394960" cy="179182"/>
          </a:xfrm>
          <a:prstGeom prst="rect">
            <a:avLst/>
          </a:prstGeom>
          <a:ln w="25400">
            <a:solidFill>
              <a:srgbClr val="E0561F"/>
            </a:solidFill>
            <a:prstDash val="solid"/>
          </a:ln>
        </p:spPr>
      </p:sp>
      <p:sp>
        <p:nvSpPr>
          <p:cNvPr id="14" name="Shape 10"/>
          <p:cNvSpPr/>
          <p:nvPr/>
        </p:nvSpPr>
        <p:spPr>
          <a:xfrm>
            <a:off x="6245352" y="3451504"/>
            <a:ext cx="5394960" cy="179182"/>
          </a:xfrm>
          <a:prstGeom prst="rect">
            <a:avLst/>
          </a:prstGeom>
          <a:ln w="25400">
            <a:solidFill>
              <a:srgbClr val="E0561F"/>
            </a:solidFill>
            <a:prstDash val="solid"/>
          </a:ln>
        </p:spPr>
      </p:sp>
      <p:sp>
        <p:nvSpPr>
          <p:cNvPr id="15" name="Shape 11"/>
          <p:cNvSpPr/>
          <p:nvPr/>
        </p:nvSpPr>
        <p:spPr>
          <a:xfrm>
            <a:off x="6245352" y="3630687"/>
            <a:ext cx="5394960" cy="179182"/>
          </a:xfrm>
          <a:prstGeom prst="rect">
            <a:avLst/>
          </a:prstGeom>
          <a:ln w="25400">
            <a:solidFill>
              <a:srgbClr val="E0561F"/>
            </a:solidFill>
            <a:prstDash val="solid"/>
          </a:ln>
        </p:spPr>
      </p:sp>
      <p:sp>
        <p:nvSpPr>
          <p:cNvPr id="16" name="Shape 12"/>
          <p:cNvSpPr/>
          <p:nvPr/>
        </p:nvSpPr>
        <p:spPr>
          <a:xfrm>
            <a:off x="548640" y="4411730"/>
            <a:ext cx="11091672" cy="0"/>
          </a:xfrm>
          <a:prstGeom prst="line">
            <a:avLst/>
          </a:prstGeom>
          <a:noFill/>
          <a:ln w="9525">
            <a:solidFill>
              <a:srgbClr val="D6D8D6"/>
            </a:solidFill>
            <a:prstDash val="solid"/>
          </a:ln>
        </p:spPr>
      </p:sp>
      <p:sp>
        <p:nvSpPr>
          <p:cNvPr id="17" name="Text 13"/>
          <p:cNvSpPr txBox="1"/>
          <p:nvPr/>
        </p:nvSpPr>
        <p:spPr>
          <a:xfrm>
            <a:off x="548640" y="4686050"/>
            <a:ext cx="3520440" cy="1188720"/>
          </a:xfrm>
          <a:prstGeom prst="rect">
            <a:avLst/>
          </a:prstGeom>
          <a:noFill/>
          <a:ln/>
        </p:spPr>
        <p:txBody>
          <a:bodyPr wrap="square" lIns="0" tIns="0" rIns="0" bIns="0" rtlCol="0" anchor="t"/>
          <a:lstStyle/>
          <a:p>
            <a:pPr indent="0" marL="0">
              <a:buNone/>
            </a:pPr>
            <a:r>
              <a:rPr lang="en-US" sz="1250" b="1" dirty="0">
                <a:solidFill>
                  <a:srgbClr val="1A1D21"/>
                </a:solidFill>
                <a:latin typeface="Calibri" pitchFamily="34" charset="0"/>
                <a:ea typeface="Calibri" pitchFamily="34" charset="-122"/>
                <a:cs typeface="Calibri" pitchFamily="34" charset="-120"/>
              </a:rPr>
              <a:t>Tufting machine DBR-TUF-11, shift A</a:t>
            </a:r>
            <a:endParaRPr lang="en-US" sz="1250" dirty="0"/>
          </a:p>
          <a:p>
            <a:pPr indent="0" marL="0">
              <a:buNone/>
            </a:pPr>
            <a:r>
              <a:rPr lang="en-US" sz="1250" dirty="0">
                <a:solidFill>
                  <a:srgbClr val="3E4750"/>
                </a:solidFill>
                <a:latin typeface="Calibri" pitchFamily="34" charset="0"/>
                <a:ea typeface="Calibri" pitchFamily="34" charset="-122"/>
                <a:cs typeface="Calibri" pitchFamily="34" charset="-120"/>
              </a:rPr>
              <a:t>Bristle retention is set at the anchoring operation, so the machine and shift come first.</a:t>
            </a:r>
            <a:endParaRPr lang="en-US" sz="1250" dirty="0"/>
          </a:p>
        </p:txBody>
      </p:sp>
      <p:sp>
        <p:nvSpPr>
          <p:cNvPr id="18" name="Text 14"/>
          <p:cNvSpPr txBox="1"/>
          <p:nvPr/>
        </p:nvSpPr>
        <p:spPr>
          <a:xfrm>
            <a:off x="4297680" y="4686050"/>
            <a:ext cx="3520440" cy="1188720"/>
          </a:xfrm>
          <a:prstGeom prst="rect">
            <a:avLst/>
          </a:prstGeom>
          <a:noFill/>
          <a:ln/>
        </p:spPr>
        <p:txBody>
          <a:bodyPr wrap="square" lIns="0" tIns="0" rIns="0" bIns="0" rtlCol="0" anchor="t"/>
          <a:lstStyle/>
          <a:p>
            <a:pPr indent="0" marL="0">
              <a:buNone/>
            </a:pPr>
            <a:r>
              <a:rPr lang="en-US" sz="1250" b="1" dirty="0">
                <a:solidFill>
                  <a:srgbClr val="1A1D21"/>
                </a:solidFill>
                <a:latin typeface="Calibri" pitchFamily="34" charset="0"/>
                <a:ea typeface="Calibri" pitchFamily="34" charset="-122"/>
                <a:cs typeface="Calibri" pitchFamily="34" charset="-120"/>
              </a:rPr>
              <a:t>Handle lot HL-DBR-26-0519</a:t>
            </a:r>
            <a:endParaRPr lang="en-US" sz="1250" dirty="0"/>
          </a:p>
          <a:p>
            <a:pPr indent="0" marL="0">
              <a:buNone/>
            </a:pPr>
            <a:r>
              <a:rPr lang="en-US" sz="1250" dirty="0">
                <a:solidFill>
                  <a:srgbClr val="3E4750"/>
                </a:solidFill>
                <a:latin typeface="Calibri" pitchFamily="34" charset="0"/>
                <a:ea typeface="Calibri" pitchFamily="34" charset="-122"/>
                <a:cs typeface="Calibri" pitchFamily="34" charset="-120"/>
              </a:rPr>
              <a:t>Where the brush's identity begins, and the lot we can trace forward.</a:t>
            </a:r>
            <a:endParaRPr lang="en-US" sz="1250" dirty="0"/>
          </a:p>
        </p:txBody>
      </p:sp>
      <p:sp>
        <p:nvSpPr>
          <p:cNvPr id="19" name="Text 15"/>
          <p:cNvSpPr txBox="1"/>
          <p:nvPr/>
        </p:nvSpPr>
        <p:spPr>
          <a:xfrm>
            <a:off x="8046720" y="4686050"/>
            <a:ext cx="3520440" cy="1188720"/>
          </a:xfrm>
          <a:prstGeom prst="rect">
            <a:avLst/>
          </a:prstGeom>
          <a:noFill/>
          <a:ln/>
        </p:spPr>
        <p:txBody>
          <a:bodyPr wrap="square" lIns="0" tIns="0" rIns="0" bIns="0" rtlCol="0" anchor="t"/>
          <a:lstStyle/>
          <a:p>
            <a:pPr indent="0" marL="0">
              <a:buNone/>
            </a:pPr>
            <a:r>
              <a:rPr lang="en-US" sz="1250" b="1" dirty="0">
                <a:solidFill>
                  <a:srgbClr val="1A1D21"/>
                </a:solidFill>
                <a:latin typeface="Calibri" pitchFamily="34" charset="0"/>
                <a:ea typeface="Calibri" pitchFamily="34" charset="-122"/>
                <a:cs typeface="Calibri" pitchFamily="34" charset="-120"/>
              </a:rPr>
              <a:t>Bristle supplier and filament AR number</a:t>
            </a:r>
            <a:endParaRPr lang="en-US" sz="1250" dirty="0"/>
          </a:p>
          <a:p>
            <a:pPr indent="0" marL="0">
              <a:buNone/>
            </a:pPr>
            <a:r>
              <a:rPr lang="en-US" sz="1250" dirty="0">
                <a:solidFill>
                  <a:srgbClr val="3E4750"/>
                </a:solidFill>
                <a:latin typeface="Calibri" pitchFamily="34" charset="0"/>
                <a:ea typeface="Calibri" pitchFamily="34" charset="-122"/>
                <a:cs typeface="Calibri" pitchFamily="34" charset="-120"/>
              </a:rPr>
              <a:t>The filament lot itself, if the anchoring was sound.</a:t>
            </a:r>
            <a:endParaRPr lang="en-US" sz="1250" dirty="0"/>
          </a:p>
        </p:txBody>
      </p:sp>
      <p:sp>
        <p:nvSpPr>
          <p:cNvPr id="20" name="Text 16"/>
          <p:cNvSpPr txBox="1"/>
          <p:nvPr/>
        </p:nvSpPr>
        <p:spPr>
          <a:xfrm>
            <a:off x="548640" y="5669280"/>
            <a:ext cx="11064240" cy="457200"/>
          </a:xfrm>
          <a:prstGeom prst="rect">
            <a:avLst/>
          </a:prstGeom>
          <a:noFill/>
          <a:ln/>
        </p:spPr>
        <p:txBody>
          <a:bodyPr wrap="square" lIns="0" tIns="0" rIns="0" bIns="0" rtlCol="0" anchor="ctr"/>
          <a:lstStyle/>
          <a:p>
            <a:pPr indent="0" marL="0">
              <a:buNone/>
            </a:pPr>
            <a:r>
              <a:rPr lang="en-US" sz="2000" i="1" dirty="0">
                <a:solidFill>
                  <a:srgbClr val="E0561F"/>
                </a:solidFill>
                <a:latin typeface="Cambria" pitchFamily="34" charset="0"/>
                <a:ea typeface="Cambria" pitchFamily="34" charset="-122"/>
                <a:cs typeface="Cambria" pitchFamily="34" charset="-120"/>
              </a:rPr>
              <a:t>Three registers before. One record now.</a:t>
            </a:r>
            <a:endParaRPr lang="en-US" sz="2000" dirty="0"/>
          </a:p>
        </p:txBody>
      </p:sp>
      <p:sp>
        <p:nvSpPr>
          <p:cNvPr id="21" name="Text 17"/>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i="1" dirty="0">
                <a:solidFill>
                  <a:srgbClr val="6B7278"/>
                </a:solidFill>
                <a:latin typeface="Calibri" pitchFamily="34" charset="0"/>
                <a:ea typeface="Calibri" pitchFamily="34" charset="-122"/>
                <a:cs typeface="Calibri" pitchFamily="34" charset="-120"/>
              </a:rPr>
              <a:t>Demonstration dataset: fictional operational data modelled on client brand accounts. Not the company's production records.</a:t>
            </a:r>
            <a:endParaRPr lang="en-US" sz="900" dirty="0"/>
          </a:p>
        </p:txBody>
      </p:sp>
      <p:sp>
        <p:nvSpPr>
          <p:cNvPr id="22" name="Text 18"/>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1518"/>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09</a:t>
            </a:r>
            <a:pPr indent="0" marL="0">
              <a:buNone/>
            </a:pPr>
            <a:r>
              <a:rPr lang="en-US" sz="1050" spc="300" kern="0" dirty="0">
                <a:solidFill>
                  <a:srgbClr val="9AA1A7"/>
                </a:solidFill>
                <a:latin typeface="Calibri" pitchFamily="34" charset="0"/>
                <a:ea typeface="Calibri" pitchFamily="34" charset="-122"/>
                <a:cs typeface="Calibri" pitchFamily="34" charset="-120"/>
              </a:rPr>
              <a:t>   THE SYSTEM COMES ALIVE  ·  COMPLAINT TOOL</a:t>
            </a:r>
            <a:endParaRPr lang="en-US" sz="1050" dirty="0"/>
          </a:p>
        </p:txBody>
      </p:sp>
      <p:sp>
        <p:nvSpPr>
          <p:cNvPr id="3" name="Text 1"/>
          <p:cNvSpPr txBox="1"/>
          <p:nvPr/>
        </p:nvSpPr>
        <p:spPr>
          <a:xfrm>
            <a:off x="548640" y="713232"/>
            <a:ext cx="11155680" cy="548640"/>
          </a:xfrm>
          <a:prstGeom prst="rect">
            <a:avLst/>
          </a:prstGeom>
          <a:noFill/>
          <a:ln/>
        </p:spPr>
        <p:txBody>
          <a:bodyPr wrap="square" lIns="0" tIns="0" rIns="0" bIns="0" rtlCol="0" anchor="ctr"/>
          <a:lstStyle/>
          <a:p>
            <a:pPr indent="0" marL="0">
              <a:buNone/>
            </a:pPr>
            <a:r>
              <a:rPr lang="en-US" sz="2800" dirty="0">
                <a:solidFill>
                  <a:srgbClr val="FFFFFF"/>
                </a:solidFill>
                <a:latin typeface="Cambria" pitchFamily="34" charset="0"/>
                <a:ea typeface="Cambria" pitchFamily="34" charset="-122"/>
                <a:cs typeface="Cambria" pitchFamily="34" charset="-120"/>
              </a:rPr>
              <a:t>Can we investigate the complaint end to end?</a:t>
            </a:r>
            <a:endParaRPr lang="en-US" sz="2800" dirty="0"/>
          </a:p>
        </p:txBody>
      </p:sp>
      <p:sp>
        <p:nvSpPr>
          <p:cNvPr id="4" name="Shape 2"/>
          <p:cNvSpPr/>
          <p:nvPr/>
        </p:nvSpPr>
        <p:spPr>
          <a:xfrm>
            <a:off x="548640" y="1417320"/>
            <a:ext cx="1709928" cy="475488"/>
          </a:xfrm>
          <a:prstGeom prst="rect">
            <a:avLst/>
          </a:prstGeom>
          <a:solidFill>
            <a:srgbClr val="E0561F"/>
          </a:solidFill>
          <a:ln/>
        </p:spPr>
      </p:sp>
      <p:sp>
        <p:nvSpPr>
          <p:cNvPr id="5" name="Text 3"/>
          <p:cNvSpPr txBox="1"/>
          <p:nvPr/>
        </p:nvSpPr>
        <p:spPr>
          <a:xfrm>
            <a:off x="548640" y="1417320"/>
            <a:ext cx="170992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Complaint</a:t>
            </a:r>
            <a:endParaRPr lang="en-US" sz="1250" dirty="0"/>
          </a:p>
        </p:txBody>
      </p:sp>
      <p:sp>
        <p:nvSpPr>
          <p:cNvPr id="6" name="Text 4"/>
          <p:cNvSpPr txBox="1"/>
          <p:nvPr/>
        </p:nvSpPr>
        <p:spPr>
          <a:xfrm>
            <a:off x="2258568" y="1417320"/>
            <a:ext cx="164592" cy="475488"/>
          </a:xfrm>
          <a:prstGeom prst="rect">
            <a:avLst/>
          </a:prstGeom>
          <a:noFill/>
          <a:ln/>
        </p:spPr>
        <p:txBody>
          <a:bodyPr wrap="square" lIns="0" tIns="0" rIns="0" bIns="0" rtlCol="0" anchor="ctr"/>
          <a:lstStyle/>
          <a:p>
            <a:pPr algn="ctr" indent="0" marL="0">
              <a:buNone/>
            </a:pPr>
            <a:r>
              <a:rPr lang="en-US" sz="1600" dirty="0">
                <a:solidFill>
                  <a:srgbClr val="E0561F"/>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423160" y="1417320"/>
            <a:ext cx="1709928" cy="475488"/>
          </a:xfrm>
          <a:prstGeom prst="rect">
            <a:avLst/>
          </a:prstGeom>
          <a:solidFill>
            <a:srgbClr val="2A3138"/>
          </a:solidFill>
          <a:ln/>
        </p:spPr>
      </p:sp>
      <p:sp>
        <p:nvSpPr>
          <p:cNvPr id="8" name="Text 6"/>
          <p:cNvSpPr txBox="1"/>
          <p:nvPr/>
        </p:nvSpPr>
        <p:spPr>
          <a:xfrm>
            <a:off x="2423160" y="1417320"/>
            <a:ext cx="170992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Pack information</a:t>
            </a:r>
            <a:endParaRPr lang="en-US" sz="1250" dirty="0"/>
          </a:p>
        </p:txBody>
      </p:sp>
      <p:sp>
        <p:nvSpPr>
          <p:cNvPr id="9" name="Text 7"/>
          <p:cNvSpPr txBox="1"/>
          <p:nvPr/>
        </p:nvSpPr>
        <p:spPr>
          <a:xfrm>
            <a:off x="4133088" y="1417320"/>
            <a:ext cx="164592" cy="475488"/>
          </a:xfrm>
          <a:prstGeom prst="rect">
            <a:avLst/>
          </a:prstGeom>
          <a:noFill/>
          <a:ln/>
        </p:spPr>
        <p:txBody>
          <a:bodyPr wrap="square" lIns="0" tIns="0" rIns="0" bIns="0" rtlCol="0" anchor="ctr"/>
          <a:lstStyle/>
          <a:p>
            <a:pPr algn="ctr" indent="0" marL="0">
              <a:buNone/>
            </a:pPr>
            <a:r>
              <a:rPr lang="en-US" sz="1600" dirty="0">
                <a:solidFill>
                  <a:srgbClr val="E0561F"/>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4297680" y="1417320"/>
            <a:ext cx="1709928" cy="475488"/>
          </a:xfrm>
          <a:prstGeom prst="rect">
            <a:avLst/>
          </a:prstGeom>
          <a:solidFill>
            <a:srgbClr val="2A3138"/>
          </a:solidFill>
          <a:ln/>
        </p:spPr>
      </p:sp>
      <p:sp>
        <p:nvSpPr>
          <p:cNvPr id="11" name="Text 9"/>
          <p:cNvSpPr txBox="1"/>
          <p:nvPr/>
        </p:nvSpPr>
        <p:spPr>
          <a:xfrm>
            <a:off x="4297680" y="1417320"/>
            <a:ext cx="170992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Four-field ID</a:t>
            </a:r>
            <a:endParaRPr lang="en-US" sz="1250" dirty="0"/>
          </a:p>
        </p:txBody>
      </p:sp>
      <p:sp>
        <p:nvSpPr>
          <p:cNvPr id="12" name="Text 10"/>
          <p:cNvSpPr txBox="1"/>
          <p:nvPr/>
        </p:nvSpPr>
        <p:spPr>
          <a:xfrm>
            <a:off x="6007608" y="1417320"/>
            <a:ext cx="164592" cy="475488"/>
          </a:xfrm>
          <a:prstGeom prst="rect">
            <a:avLst/>
          </a:prstGeom>
          <a:noFill/>
          <a:ln/>
        </p:spPr>
        <p:txBody>
          <a:bodyPr wrap="square" lIns="0" tIns="0" rIns="0" bIns="0" rtlCol="0" anchor="ctr"/>
          <a:lstStyle/>
          <a:p>
            <a:pPr algn="ctr" indent="0" marL="0">
              <a:buNone/>
            </a:pPr>
            <a:r>
              <a:rPr lang="en-US" sz="1600" dirty="0">
                <a:solidFill>
                  <a:srgbClr val="E0561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6172200" y="1417320"/>
            <a:ext cx="1709928" cy="475488"/>
          </a:xfrm>
          <a:prstGeom prst="rect">
            <a:avLst/>
          </a:prstGeom>
          <a:solidFill>
            <a:srgbClr val="2A3138"/>
          </a:solidFill>
          <a:ln/>
        </p:spPr>
      </p:sp>
      <p:sp>
        <p:nvSpPr>
          <p:cNvPr id="14" name="Text 12"/>
          <p:cNvSpPr txBox="1"/>
          <p:nvPr/>
        </p:nvSpPr>
        <p:spPr>
          <a:xfrm>
            <a:off x="6172200" y="1417320"/>
            <a:ext cx="170992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Trace Report</a:t>
            </a:r>
            <a:endParaRPr lang="en-US" sz="1250" dirty="0"/>
          </a:p>
        </p:txBody>
      </p:sp>
      <p:sp>
        <p:nvSpPr>
          <p:cNvPr id="15" name="Text 13"/>
          <p:cNvSpPr txBox="1"/>
          <p:nvPr/>
        </p:nvSpPr>
        <p:spPr>
          <a:xfrm>
            <a:off x="7882128" y="1417320"/>
            <a:ext cx="164592" cy="475488"/>
          </a:xfrm>
          <a:prstGeom prst="rect">
            <a:avLst/>
          </a:prstGeom>
          <a:noFill/>
          <a:ln/>
        </p:spPr>
        <p:txBody>
          <a:bodyPr wrap="square" lIns="0" tIns="0" rIns="0" bIns="0" rtlCol="0" anchor="ctr"/>
          <a:lstStyle/>
          <a:p>
            <a:pPr algn="ctr" indent="0" marL="0">
              <a:buNone/>
            </a:pPr>
            <a:r>
              <a:rPr lang="en-US" sz="1600" dirty="0">
                <a:solidFill>
                  <a:srgbClr val="E0561F"/>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8046720" y="1417320"/>
            <a:ext cx="1709928" cy="475488"/>
          </a:xfrm>
          <a:prstGeom prst="rect">
            <a:avLst/>
          </a:prstGeom>
          <a:solidFill>
            <a:srgbClr val="2A3138"/>
          </a:solidFill>
          <a:ln/>
        </p:spPr>
      </p:sp>
      <p:sp>
        <p:nvSpPr>
          <p:cNvPr id="17" name="Text 15"/>
          <p:cNvSpPr txBox="1"/>
          <p:nvPr/>
        </p:nvSpPr>
        <p:spPr>
          <a:xfrm>
            <a:off x="8046720" y="1417320"/>
            <a:ext cx="170992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Correct record</a:t>
            </a:r>
            <a:endParaRPr lang="en-US" sz="1250" dirty="0"/>
          </a:p>
        </p:txBody>
      </p:sp>
      <p:sp>
        <p:nvSpPr>
          <p:cNvPr id="18" name="Text 16"/>
          <p:cNvSpPr txBox="1"/>
          <p:nvPr/>
        </p:nvSpPr>
        <p:spPr>
          <a:xfrm>
            <a:off x="9756648" y="1417320"/>
            <a:ext cx="164592" cy="475488"/>
          </a:xfrm>
          <a:prstGeom prst="rect">
            <a:avLst/>
          </a:prstGeom>
          <a:noFill/>
          <a:ln/>
        </p:spPr>
        <p:txBody>
          <a:bodyPr wrap="square" lIns="0" tIns="0" rIns="0" bIns="0" rtlCol="0" anchor="ctr"/>
          <a:lstStyle/>
          <a:p>
            <a:pPr algn="ctr" indent="0" marL="0">
              <a:buNone/>
            </a:pPr>
            <a:r>
              <a:rPr lang="en-US" sz="1600" dirty="0">
                <a:solidFill>
                  <a:srgbClr val="E0561F"/>
                </a:solidFill>
                <a:latin typeface="Calibri" pitchFamily="34" charset="0"/>
                <a:ea typeface="Calibri" pitchFamily="34" charset="-122"/>
                <a:cs typeface="Calibri" pitchFamily="34" charset="-120"/>
              </a:rPr>
              <a:t>›</a:t>
            </a:r>
            <a:endParaRPr lang="en-US" sz="1600" dirty="0"/>
          </a:p>
        </p:txBody>
      </p:sp>
      <p:sp>
        <p:nvSpPr>
          <p:cNvPr id="19" name="Shape 17"/>
          <p:cNvSpPr/>
          <p:nvPr/>
        </p:nvSpPr>
        <p:spPr>
          <a:xfrm>
            <a:off x="9921240" y="1417320"/>
            <a:ext cx="1709928" cy="475488"/>
          </a:xfrm>
          <a:prstGeom prst="rect">
            <a:avLst/>
          </a:prstGeom>
          <a:solidFill>
            <a:srgbClr val="2A3138"/>
          </a:solidFill>
          <a:ln/>
        </p:spPr>
      </p:sp>
      <p:sp>
        <p:nvSpPr>
          <p:cNvPr id="20" name="Text 18"/>
          <p:cNvSpPr txBox="1"/>
          <p:nvPr/>
        </p:nvSpPr>
        <p:spPr>
          <a:xfrm>
            <a:off x="9921240" y="1417320"/>
            <a:ext cx="1709928"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Investigation</a:t>
            </a:r>
            <a:endParaRPr lang="en-US" sz="1250" dirty="0"/>
          </a:p>
        </p:txBody>
      </p:sp>
      <p:sp>
        <p:nvSpPr>
          <p:cNvPr id="21" name="Text 19"/>
          <p:cNvSpPr txBox="1"/>
          <p:nvPr/>
        </p:nvSpPr>
        <p:spPr>
          <a:xfrm>
            <a:off x="548640" y="2148840"/>
            <a:ext cx="5486400" cy="256032"/>
          </a:xfrm>
          <a:prstGeom prst="rect">
            <a:avLst/>
          </a:prstGeom>
          <a:noFill/>
          <a:ln/>
        </p:spPr>
        <p:txBody>
          <a:bodyPr wrap="square" lIns="0" tIns="0" rIns="0" bIns="0" rtlCol="0" anchor="ctr"/>
          <a:lstStyle/>
          <a:p>
            <a:pPr indent="0" marL="0">
              <a:buNone/>
            </a:pPr>
            <a:r>
              <a:rPr lang="en-US" sz="1000" b="1" spc="200" kern="0" dirty="0">
                <a:solidFill>
                  <a:srgbClr val="E0561F"/>
                </a:solidFill>
                <a:latin typeface="Calibri" pitchFamily="34" charset="0"/>
                <a:ea typeface="Calibri" pitchFamily="34" charset="-122"/>
                <a:cs typeface="Calibri" pitchFamily="34" charset="-120"/>
              </a:rPr>
              <a:t>COMPLAINT CMP-26-0024</a:t>
            </a:r>
            <a:endParaRPr lang="en-US" sz="1000" dirty="0"/>
          </a:p>
        </p:txBody>
      </p:sp>
      <p:sp>
        <p:nvSpPr>
          <p:cNvPr id="22" name="Shape 20"/>
          <p:cNvSpPr/>
          <p:nvPr/>
        </p:nvSpPr>
        <p:spPr>
          <a:xfrm>
            <a:off x="493776" y="2484619"/>
            <a:ext cx="4681728" cy="2163083"/>
          </a:xfrm>
          <a:prstGeom prst="rect">
            <a:avLst/>
          </a:prstGeom>
          <a:solidFill>
            <a:srgbClr val="FFFFFF"/>
          </a:solidFill>
          <a:ln w="9525">
            <a:solidFill>
              <a:srgbClr val="D6D8D6"/>
            </a:solidFill>
            <a:prstDash val="solid"/>
          </a:ln>
          <a:effectLst>
            <a:outerShdw sx="100000" sy="100000" kx="0" ky="0" algn="bl" rotWithShape="0" blurRad="101600" dist="25400" dir="5400000">
              <a:srgbClr val="000000">
                <a:alpha val="18000"/>
              </a:srgbClr>
            </a:outerShdw>
          </a:effectLst>
        </p:spPr>
      </p:sp>
      <p:pic>
        <p:nvPicPr>
          <p:cNvPr id="23" name="Image 0" descr="/home/user/master-executive-system/sip-presentation/source/crops/c_L.png">    </p:cNvPr>
          <p:cNvPicPr>
            <a:picLocks noChangeAspect="1"/>
          </p:cNvPicPr>
          <p:nvPr/>
        </p:nvPicPr>
        <p:blipFill>
          <a:blip r:embed="rId1"/>
          <a:stretch>
            <a:fillRect/>
          </a:stretch>
        </p:blipFill>
        <p:spPr>
          <a:xfrm>
            <a:off x="548640" y="2539483"/>
            <a:ext cx="4572000" cy="2053355"/>
          </a:xfrm>
          <a:prstGeom prst="rect">
            <a:avLst/>
          </a:prstGeom>
        </p:spPr>
      </p:pic>
      <p:sp>
        <p:nvSpPr>
          <p:cNvPr id="24" name="Shape 21"/>
          <p:cNvSpPr/>
          <p:nvPr/>
        </p:nvSpPr>
        <p:spPr>
          <a:xfrm>
            <a:off x="548640" y="3504559"/>
            <a:ext cx="2560320" cy="205335"/>
          </a:xfrm>
          <a:prstGeom prst="rect">
            <a:avLst/>
          </a:prstGeom>
          <a:ln w="25400">
            <a:solidFill>
              <a:srgbClr val="E0561F"/>
            </a:solidFill>
            <a:prstDash val="solid"/>
          </a:ln>
        </p:spPr>
      </p:sp>
      <p:sp>
        <p:nvSpPr>
          <p:cNvPr id="25" name="Shape 22"/>
          <p:cNvSpPr/>
          <p:nvPr/>
        </p:nvSpPr>
        <p:spPr>
          <a:xfrm>
            <a:off x="3017520" y="4243767"/>
            <a:ext cx="2103120" cy="205335"/>
          </a:xfrm>
          <a:prstGeom prst="rect">
            <a:avLst/>
          </a:prstGeom>
          <a:ln w="25400">
            <a:solidFill>
              <a:srgbClr val="E0561F"/>
            </a:solidFill>
            <a:prstDash val="solid"/>
          </a:ln>
        </p:spPr>
      </p:sp>
      <p:sp>
        <p:nvSpPr>
          <p:cNvPr id="26" name="Text 23"/>
          <p:cNvSpPr txBox="1"/>
          <p:nvPr/>
        </p:nvSpPr>
        <p:spPr>
          <a:xfrm>
            <a:off x="5440680" y="2148840"/>
            <a:ext cx="5486400" cy="256032"/>
          </a:xfrm>
          <a:prstGeom prst="rect">
            <a:avLst/>
          </a:prstGeom>
          <a:noFill/>
          <a:ln/>
        </p:spPr>
        <p:txBody>
          <a:bodyPr wrap="square" lIns="0" tIns="0" rIns="0" bIns="0" rtlCol="0" anchor="ctr"/>
          <a:lstStyle/>
          <a:p>
            <a:pPr indent="0" marL="0">
              <a:buNone/>
            </a:pPr>
            <a:r>
              <a:rPr lang="en-US" sz="1000" b="1" spc="200" kern="0" dirty="0">
                <a:solidFill>
                  <a:srgbClr val="E0561F"/>
                </a:solidFill>
                <a:latin typeface="Calibri" pitchFamily="34" charset="0"/>
                <a:ea typeface="Calibri" pitchFamily="34" charset="-122"/>
                <a:cs typeface="Calibri" pitchFamily="34" charset="-120"/>
              </a:rPr>
              <a:t>LINKED TO THE RUN, LIVE FROM MASTER TRACEABILITY</a:t>
            </a:r>
            <a:endParaRPr lang="en-US" sz="1000" dirty="0"/>
          </a:p>
        </p:txBody>
      </p:sp>
      <p:sp>
        <p:nvSpPr>
          <p:cNvPr id="27" name="Shape 24"/>
          <p:cNvSpPr/>
          <p:nvPr/>
        </p:nvSpPr>
        <p:spPr>
          <a:xfrm>
            <a:off x="5385816" y="2460764"/>
            <a:ext cx="6309360" cy="1616431"/>
          </a:xfrm>
          <a:prstGeom prst="rect">
            <a:avLst/>
          </a:prstGeom>
          <a:solidFill>
            <a:srgbClr val="FFFFFF"/>
          </a:solidFill>
          <a:ln w="9525">
            <a:solidFill>
              <a:srgbClr val="D6D8D6"/>
            </a:solidFill>
            <a:prstDash val="solid"/>
          </a:ln>
          <a:effectLst>
            <a:outerShdw sx="100000" sy="100000" kx="0" ky="0" algn="bl" rotWithShape="0" blurRad="101600" dist="25400" dir="5400000">
              <a:srgbClr val="000000">
                <a:alpha val="18000"/>
              </a:srgbClr>
            </a:outerShdw>
          </a:effectLst>
        </p:spPr>
      </p:sp>
      <p:pic>
        <p:nvPicPr>
          <p:cNvPr id="28" name="Image 1" descr="/home/user/master-executive-system/sip-presentation/source/crops/c_R.png">    </p:cNvPr>
          <p:cNvPicPr>
            <a:picLocks noChangeAspect="1"/>
          </p:cNvPicPr>
          <p:nvPr/>
        </p:nvPicPr>
        <p:blipFill>
          <a:blip r:embed="rId2"/>
          <a:stretch>
            <a:fillRect/>
          </a:stretch>
        </p:blipFill>
        <p:spPr>
          <a:xfrm>
            <a:off x="5440680" y="2515628"/>
            <a:ext cx="6199632" cy="1506703"/>
          </a:xfrm>
          <a:prstGeom prst="rect">
            <a:avLst/>
          </a:prstGeom>
        </p:spPr>
      </p:pic>
      <p:sp>
        <p:nvSpPr>
          <p:cNvPr id="29" name="Shape 25"/>
          <p:cNvSpPr/>
          <p:nvPr/>
        </p:nvSpPr>
        <p:spPr>
          <a:xfrm>
            <a:off x="8261513" y="2786835"/>
            <a:ext cx="3347801" cy="180804"/>
          </a:xfrm>
          <a:prstGeom prst="rect">
            <a:avLst/>
          </a:prstGeom>
          <a:ln w="25400">
            <a:solidFill>
              <a:srgbClr val="E0561F"/>
            </a:solidFill>
            <a:prstDash val="solid"/>
          </a:ln>
        </p:spPr>
      </p:sp>
      <p:sp>
        <p:nvSpPr>
          <p:cNvPr id="30" name="Shape 26"/>
          <p:cNvSpPr/>
          <p:nvPr/>
        </p:nvSpPr>
        <p:spPr>
          <a:xfrm>
            <a:off x="8261513" y="3826460"/>
            <a:ext cx="3347801" cy="180804"/>
          </a:xfrm>
          <a:prstGeom prst="rect">
            <a:avLst/>
          </a:prstGeom>
          <a:ln w="25400">
            <a:solidFill>
              <a:srgbClr val="E0561F"/>
            </a:solidFill>
            <a:prstDash val="solid"/>
          </a:ln>
        </p:spPr>
      </p:sp>
      <p:sp>
        <p:nvSpPr>
          <p:cNvPr id="31" name="Text 27"/>
          <p:cNvSpPr txBox="1"/>
          <p:nvPr/>
        </p:nvSpPr>
        <p:spPr>
          <a:xfrm>
            <a:off x="548640" y="5004317"/>
            <a:ext cx="11091672" cy="822960"/>
          </a:xfrm>
          <a:prstGeom prst="rect">
            <a:avLst/>
          </a:prstGeom>
          <a:noFill/>
          <a:ln/>
        </p:spPr>
        <p:txBody>
          <a:bodyPr wrap="square" lIns="0" tIns="0" rIns="0" bIns="0" rtlCol="0" anchor="t"/>
          <a:lstStyle/>
          <a:p>
            <a:pPr indent="0" marL="0">
              <a:buNone/>
            </a:pPr>
            <a:r>
              <a:rPr lang="en-US" sz="1600" i="1" dirty="0">
                <a:solidFill>
                  <a:srgbClr val="FFFFFF"/>
                </a:solidFill>
                <a:latin typeface="Calibri" pitchFamily="34" charset="0"/>
                <a:ea typeface="Calibri" pitchFamily="34" charset="-122"/>
                <a:cs typeface="Calibri" pitchFamily="34" charset="-120"/>
              </a:rPr>
              <a:t>“Bristle fall-out during use”  →  </a:t>
            </a:r>
            <a:pPr indent="0" marL="0">
              <a:buNone/>
            </a:pPr>
            <a:r>
              <a:rPr lang="en-US" sz="1600" dirty="0">
                <a:solidFill>
                  <a:srgbClr val="D5D9DC"/>
                </a:solidFill>
                <a:latin typeface="Calibri" pitchFamily="34" charset="0"/>
                <a:ea typeface="Calibri" pitchFamily="34" charset="-122"/>
                <a:cs typeface="Calibri" pitchFamily="34" charset="-120"/>
              </a:rPr>
              <a:t>JHS-26433  →  PR-2026-00630  →  DBR-TUF-11, handle lot HL-DBR-26-0519  →  </a:t>
            </a:r>
            <a:pPr indent="0" marL="0">
              <a:buNone/>
            </a:pPr>
            <a:r>
              <a:rPr lang="en-US" sz="1600" b="1" dirty="0">
                <a:solidFill>
                  <a:srgbClr val="E0561F"/>
                </a:solidFill>
                <a:latin typeface="Calibri" pitchFamily="34" charset="0"/>
                <a:ea typeface="Calibri" pitchFamily="34" charset="-122"/>
                <a:cs typeface="Calibri" pitchFamily="34" charset="-120"/>
              </a:rPr>
              <a:t>root cause: filament lot moisture above specification</a:t>
            </a:r>
            <a:endParaRPr lang="en-US" sz="1600" dirty="0"/>
          </a:p>
        </p:txBody>
      </p:sp>
      <p:sp>
        <p:nvSpPr>
          <p:cNvPr id="32" name="Text 28"/>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i="1" dirty="0">
                <a:solidFill>
                  <a:srgbClr val="6F777D"/>
                </a:solidFill>
                <a:latin typeface="Calibri" pitchFamily="34" charset="0"/>
                <a:ea typeface="Calibri" pitchFamily="34" charset="-122"/>
                <a:cs typeface="Calibri" pitchFamily="34" charset="-120"/>
              </a:rPr>
              <a:t>Demonstration dataset: fictional operational data modelled on client brand accounts. Not the company's production records.</a:t>
            </a:r>
            <a:endParaRPr lang="en-US" sz="900" dirty="0"/>
          </a:p>
        </p:txBody>
      </p:sp>
      <p:sp>
        <p:nvSpPr>
          <p:cNvPr id="33" name="Text 29"/>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7D85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09</a:t>
            </a:r>
            <a:pPr indent="0" marL="0">
              <a:buNone/>
            </a:pPr>
            <a:r>
              <a:rPr lang="en-US" sz="1050" spc="300" kern="0" dirty="0">
                <a:solidFill>
                  <a:srgbClr val="6B7278"/>
                </a:solidFill>
                <a:latin typeface="Calibri" pitchFamily="34" charset="0"/>
                <a:ea typeface="Calibri" pitchFamily="34" charset="-122"/>
                <a:cs typeface="Calibri" pitchFamily="34" charset="-120"/>
              </a:rPr>
              <a:t>   THE SYSTEM COMES ALIVE  ·  REVERSE TRACE</a:t>
            </a:r>
            <a:endParaRPr lang="en-US" sz="1050" dirty="0"/>
          </a:p>
        </p:txBody>
      </p:sp>
      <p:sp>
        <p:nvSpPr>
          <p:cNvPr id="3" name="Text 1"/>
          <p:cNvSpPr txBox="1"/>
          <p:nvPr/>
        </p:nvSpPr>
        <p:spPr>
          <a:xfrm>
            <a:off x="548640" y="713232"/>
            <a:ext cx="11155680" cy="822960"/>
          </a:xfrm>
          <a:prstGeom prst="rect">
            <a:avLst/>
          </a:prstGeom>
          <a:noFill/>
          <a:ln/>
        </p:spPr>
        <p:txBody>
          <a:bodyPr wrap="square" lIns="0" tIns="0" rIns="0" bIns="0" rtlCol="0" anchor="t"/>
          <a:lstStyle/>
          <a:p>
            <a:pPr indent="0" marL="0">
              <a:buNone/>
            </a:pPr>
            <a:r>
              <a:rPr lang="en-US" sz="2800" dirty="0">
                <a:solidFill>
                  <a:srgbClr val="1A1D21"/>
                </a:solidFill>
                <a:latin typeface="Cambria" pitchFamily="34" charset="0"/>
                <a:ea typeface="Cambria" pitchFamily="34" charset="-122"/>
                <a:cs typeface="Cambria" pitchFamily="34" charset="-120"/>
              </a:rPr>
              <a:t>If a material lot is implicated, where else did it go?</a:t>
            </a:r>
            <a:endParaRPr lang="en-US" sz="2800" dirty="0"/>
          </a:p>
        </p:txBody>
      </p:sp>
      <p:sp>
        <p:nvSpPr>
          <p:cNvPr id="4" name="Text 2"/>
          <p:cNvSpPr txBox="1"/>
          <p:nvPr/>
        </p:nvSpPr>
        <p:spPr>
          <a:xfrm>
            <a:off x="548640" y="1371600"/>
            <a:ext cx="8229600" cy="256032"/>
          </a:xfrm>
          <a:prstGeom prst="rect">
            <a:avLst/>
          </a:prstGeom>
          <a:noFill/>
          <a:ln/>
        </p:spPr>
        <p:txBody>
          <a:bodyPr wrap="square" lIns="0" tIns="0" rIns="0" bIns="0" rtlCol="0" anchor="ctr"/>
          <a:lstStyle/>
          <a:p>
            <a:pPr indent="0" marL="0">
              <a:buNone/>
            </a:pPr>
            <a:r>
              <a:rPr lang="en-US" sz="1000" b="1" spc="200" kern="0" dirty="0">
                <a:solidFill>
                  <a:srgbClr val="E0561F"/>
                </a:solidFill>
                <a:latin typeface="Calibri" pitchFamily="34" charset="0"/>
                <a:ea typeface="Calibri" pitchFamily="34" charset="-122"/>
                <a:cs typeface="Calibri" pitchFamily="34" charset="-120"/>
              </a:rPr>
              <a:t>DIRECTION 1  ·  PRODUCTION RUN → COMPONENTS  (what went into it)</a:t>
            </a:r>
            <a:endParaRPr lang="en-US" sz="1000" dirty="0"/>
          </a:p>
        </p:txBody>
      </p:sp>
      <p:sp>
        <p:nvSpPr>
          <p:cNvPr id="5" name="Shape 3"/>
          <p:cNvSpPr/>
          <p:nvPr/>
        </p:nvSpPr>
        <p:spPr>
          <a:xfrm>
            <a:off x="493776" y="1642789"/>
            <a:ext cx="11201400" cy="1469301"/>
          </a:xfrm>
          <a:prstGeom prst="rect">
            <a:avLst/>
          </a:prstGeom>
          <a:solidFill>
            <a:srgbClr val="FFFFFF"/>
          </a:solidFill>
          <a:ln w="9525">
            <a:solidFill>
              <a:srgbClr val="D6D8D6"/>
            </a:solidFill>
            <a:prstDash val="solid"/>
          </a:ln>
          <a:effectLst>
            <a:outerShdw sx="100000" sy="100000" kx="0" ky="0" algn="bl" rotWithShape="0" blurRad="101600" dist="25400" dir="5400000">
              <a:srgbClr val="000000">
                <a:alpha val="18000"/>
              </a:srgbClr>
            </a:outerShdw>
          </a:effectLst>
        </p:spPr>
      </p:sp>
      <p:pic>
        <p:nvPicPr>
          <p:cNvPr id="6" name="Image 0" descr="/home/user/master-executive-system/sip-presentation/source/crops/r_dir1.png">    </p:cNvPr>
          <p:cNvPicPr>
            <a:picLocks noChangeAspect="1"/>
          </p:cNvPicPr>
          <p:nvPr/>
        </p:nvPicPr>
        <p:blipFill>
          <a:blip r:embed="rId1"/>
          <a:stretch>
            <a:fillRect/>
          </a:stretch>
        </p:blipFill>
        <p:spPr>
          <a:xfrm>
            <a:off x="548640" y="1697653"/>
            <a:ext cx="11091672" cy="1359573"/>
          </a:xfrm>
          <a:prstGeom prst="rect">
            <a:avLst/>
          </a:prstGeom>
        </p:spPr>
      </p:pic>
      <p:sp>
        <p:nvSpPr>
          <p:cNvPr id="7" name="Shape 4"/>
          <p:cNvSpPr/>
          <p:nvPr/>
        </p:nvSpPr>
        <p:spPr>
          <a:xfrm>
            <a:off x="570823" y="2166706"/>
            <a:ext cx="3327502" cy="210734"/>
          </a:xfrm>
          <a:prstGeom prst="rect">
            <a:avLst/>
          </a:prstGeom>
          <a:ln w="25400">
            <a:solidFill>
              <a:srgbClr val="E0561F"/>
            </a:solidFill>
            <a:prstDash val="solid"/>
          </a:ln>
        </p:spPr>
      </p:sp>
      <p:sp>
        <p:nvSpPr>
          <p:cNvPr id="8" name="Text 5"/>
          <p:cNvSpPr txBox="1"/>
          <p:nvPr/>
        </p:nvSpPr>
        <p:spPr>
          <a:xfrm>
            <a:off x="548640" y="3291840"/>
            <a:ext cx="8229600" cy="256032"/>
          </a:xfrm>
          <a:prstGeom prst="rect">
            <a:avLst/>
          </a:prstGeom>
          <a:noFill/>
          <a:ln/>
        </p:spPr>
        <p:txBody>
          <a:bodyPr wrap="square" lIns="0" tIns="0" rIns="0" bIns="0" rtlCol="0" anchor="ctr"/>
          <a:lstStyle/>
          <a:p>
            <a:pPr indent="0" marL="0">
              <a:buNone/>
            </a:pPr>
            <a:r>
              <a:rPr lang="en-US" sz="1000" b="1" spc="200" kern="0" dirty="0">
                <a:solidFill>
                  <a:srgbClr val="E0561F"/>
                </a:solidFill>
                <a:latin typeface="Calibri" pitchFamily="34" charset="0"/>
                <a:ea typeface="Calibri" pitchFamily="34" charset="-122"/>
                <a:cs typeface="Calibri" pitchFamily="34" charset="-120"/>
              </a:rPr>
              <a:t>DIRECTION 2  ·  COMPONENT LOT → EVERY RUN IT REACHED  (what it affected)</a:t>
            </a:r>
            <a:endParaRPr lang="en-US" sz="1000" dirty="0"/>
          </a:p>
        </p:txBody>
      </p:sp>
      <p:sp>
        <p:nvSpPr>
          <p:cNvPr id="9" name="Shape 6"/>
          <p:cNvSpPr/>
          <p:nvPr/>
        </p:nvSpPr>
        <p:spPr>
          <a:xfrm>
            <a:off x="493776" y="3662988"/>
            <a:ext cx="11201400" cy="1406545"/>
          </a:xfrm>
          <a:prstGeom prst="rect">
            <a:avLst/>
          </a:prstGeom>
          <a:solidFill>
            <a:srgbClr val="FFFFFF"/>
          </a:solidFill>
          <a:ln w="9525">
            <a:solidFill>
              <a:srgbClr val="D6D8D6"/>
            </a:solidFill>
            <a:prstDash val="solid"/>
          </a:ln>
          <a:effectLst>
            <a:outerShdw sx="100000" sy="100000" kx="0" ky="0" algn="bl" rotWithShape="0" blurRad="101600" dist="25400" dir="5400000">
              <a:srgbClr val="000000">
                <a:alpha val="18000"/>
              </a:srgbClr>
            </a:outerShdw>
          </a:effectLst>
        </p:spPr>
      </p:sp>
      <p:pic>
        <p:nvPicPr>
          <p:cNvPr id="10" name="Image 1" descr="/home/user/master-executive-system/sip-presentation/source/crops/r_dir2.png">    </p:cNvPr>
          <p:cNvPicPr>
            <a:picLocks noChangeAspect="1"/>
          </p:cNvPicPr>
          <p:nvPr/>
        </p:nvPicPr>
        <p:blipFill>
          <a:blip r:embed="rId2"/>
          <a:stretch>
            <a:fillRect/>
          </a:stretch>
        </p:blipFill>
        <p:spPr>
          <a:xfrm>
            <a:off x="548640" y="3717852"/>
            <a:ext cx="11091672" cy="1296817"/>
          </a:xfrm>
          <a:prstGeom prst="rect">
            <a:avLst/>
          </a:prstGeom>
        </p:spPr>
      </p:pic>
      <p:sp>
        <p:nvSpPr>
          <p:cNvPr id="11" name="Shape 7"/>
          <p:cNvSpPr/>
          <p:nvPr/>
        </p:nvSpPr>
        <p:spPr>
          <a:xfrm>
            <a:off x="570823" y="3892922"/>
            <a:ext cx="2662001" cy="291784"/>
          </a:xfrm>
          <a:prstGeom prst="rect">
            <a:avLst/>
          </a:prstGeom>
          <a:ln w="25400">
            <a:solidFill>
              <a:srgbClr val="E0561F"/>
            </a:solidFill>
            <a:prstDash val="solid"/>
          </a:ln>
        </p:spPr>
      </p:sp>
      <p:sp>
        <p:nvSpPr>
          <p:cNvPr id="12" name="Shape 8"/>
          <p:cNvSpPr/>
          <p:nvPr/>
        </p:nvSpPr>
        <p:spPr>
          <a:xfrm>
            <a:off x="4874392" y="3892922"/>
            <a:ext cx="6710462" cy="291784"/>
          </a:xfrm>
          <a:prstGeom prst="rect">
            <a:avLst/>
          </a:prstGeom>
          <a:ln w="25400">
            <a:solidFill>
              <a:srgbClr val="E0561F"/>
            </a:solidFill>
            <a:prstDash val="solid"/>
          </a:ln>
        </p:spPr>
      </p:sp>
      <p:sp>
        <p:nvSpPr>
          <p:cNvPr id="13" name="Text 9"/>
          <p:cNvSpPr txBox="1"/>
          <p:nvPr/>
        </p:nvSpPr>
        <p:spPr>
          <a:xfrm>
            <a:off x="548640" y="5243268"/>
            <a:ext cx="731520" cy="822960"/>
          </a:xfrm>
          <a:prstGeom prst="rect">
            <a:avLst/>
          </a:prstGeom>
          <a:noFill/>
          <a:ln/>
        </p:spPr>
        <p:txBody>
          <a:bodyPr wrap="square" lIns="0" tIns="0" rIns="0" bIns="0" rtlCol="0" anchor="ctr"/>
          <a:lstStyle/>
          <a:p>
            <a:pPr indent="0" marL="0">
              <a:buNone/>
            </a:pPr>
            <a:r>
              <a:rPr lang="en-US" sz="4800" dirty="0">
                <a:solidFill>
                  <a:srgbClr val="E0561F"/>
                </a:solidFill>
                <a:latin typeface="Cambria" pitchFamily="34" charset="0"/>
                <a:ea typeface="Cambria" pitchFamily="34" charset="-122"/>
                <a:cs typeface="Cambria" pitchFamily="34" charset="-120"/>
              </a:rPr>
              <a:t>3</a:t>
            </a:r>
            <a:endParaRPr lang="en-US" sz="4800" dirty="0"/>
          </a:p>
        </p:txBody>
      </p:sp>
      <p:sp>
        <p:nvSpPr>
          <p:cNvPr id="14" name="Text 10"/>
          <p:cNvSpPr txBox="1"/>
          <p:nvPr/>
        </p:nvSpPr>
        <p:spPr>
          <a:xfrm>
            <a:off x="1234440" y="5380428"/>
            <a:ext cx="3017520" cy="594360"/>
          </a:xfrm>
          <a:prstGeom prst="rect">
            <a:avLst/>
          </a:prstGeom>
          <a:noFill/>
          <a:ln/>
        </p:spPr>
        <p:txBody>
          <a:bodyPr wrap="square" lIns="0" tIns="0" rIns="0" bIns="0" rtlCol="0" anchor="t"/>
          <a:lstStyle/>
          <a:p>
            <a:pPr indent="0" marL="0">
              <a:buNone/>
            </a:pPr>
            <a:r>
              <a:rPr lang="en-US" sz="1250" dirty="0">
                <a:solidFill>
                  <a:srgbClr val="1A1D21"/>
                </a:solidFill>
                <a:latin typeface="Calibri" pitchFamily="34" charset="0"/>
                <a:ea typeface="Calibri" pitchFamily="34" charset="-122"/>
                <a:cs typeface="Calibri" pitchFamily="34" charset="-120"/>
              </a:rPr>
              <a:t>production runs reached by this one handle lot</a:t>
            </a:r>
            <a:endParaRPr lang="en-US" sz="1250" dirty="0"/>
          </a:p>
        </p:txBody>
      </p:sp>
      <p:sp>
        <p:nvSpPr>
          <p:cNvPr id="15" name="Text 11"/>
          <p:cNvSpPr txBox="1"/>
          <p:nvPr/>
        </p:nvSpPr>
        <p:spPr>
          <a:xfrm>
            <a:off x="4480560" y="5243268"/>
            <a:ext cx="2011680" cy="822960"/>
          </a:xfrm>
          <a:prstGeom prst="rect">
            <a:avLst/>
          </a:prstGeom>
          <a:noFill/>
          <a:ln/>
        </p:spPr>
        <p:txBody>
          <a:bodyPr wrap="square" lIns="0" tIns="0" rIns="0" bIns="0" rtlCol="0" anchor="ctr"/>
          <a:lstStyle/>
          <a:p>
            <a:pPr indent="0" marL="0">
              <a:buNone/>
            </a:pPr>
            <a:r>
              <a:rPr lang="en-US" sz="4800" dirty="0">
                <a:solidFill>
                  <a:srgbClr val="E0561F"/>
                </a:solidFill>
                <a:latin typeface="Cambria" pitchFamily="34" charset="0"/>
                <a:ea typeface="Cambria" pitchFamily="34" charset="-122"/>
                <a:cs typeface="Cambria" pitchFamily="34" charset="-120"/>
              </a:rPr>
              <a:t>8,698</a:t>
            </a:r>
            <a:endParaRPr lang="en-US" sz="4800" dirty="0"/>
          </a:p>
        </p:txBody>
      </p:sp>
      <p:sp>
        <p:nvSpPr>
          <p:cNvPr id="16" name="Text 12"/>
          <p:cNvSpPr txBox="1"/>
          <p:nvPr/>
        </p:nvSpPr>
        <p:spPr>
          <a:xfrm>
            <a:off x="6446520" y="5380428"/>
            <a:ext cx="2377440" cy="594360"/>
          </a:xfrm>
          <a:prstGeom prst="rect">
            <a:avLst/>
          </a:prstGeom>
          <a:noFill/>
          <a:ln/>
        </p:spPr>
        <p:txBody>
          <a:bodyPr wrap="square" lIns="0" tIns="0" rIns="0" bIns="0" rtlCol="0" anchor="t"/>
          <a:lstStyle/>
          <a:p>
            <a:pPr indent="0" marL="0">
              <a:buNone/>
            </a:pPr>
            <a:r>
              <a:rPr lang="en-US" sz="1250" dirty="0">
                <a:solidFill>
                  <a:srgbClr val="1A1D21"/>
                </a:solidFill>
                <a:latin typeface="Calibri" pitchFamily="34" charset="0"/>
                <a:ea typeface="Calibri" pitchFamily="34" charset="-122"/>
                <a:cs typeface="Calibri" pitchFamily="34" charset="-120"/>
              </a:rPr>
              <a:t>good units exposed. Recall scoped, not estimated.</a:t>
            </a:r>
            <a:endParaRPr lang="en-US" sz="1250" dirty="0"/>
          </a:p>
        </p:txBody>
      </p:sp>
      <p:sp>
        <p:nvSpPr>
          <p:cNvPr id="17" name="Text 13"/>
          <p:cNvSpPr txBox="1"/>
          <p:nvPr/>
        </p:nvSpPr>
        <p:spPr>
          <a:xfrm>
            <a:off x="9052560" y="5334708"/>
            <a:ext cx="2606040" cy="777240"/>
          </a:xfrm>
          <a:prstGeom prst="rect">
            <a:avLst/>
          </a:prstGeom>
          <a:noFill/>
          <a:ln/>
        </p:spPr>
        <p:txBody>
          <a:bodyPr wrap="square" lIns="0" tIns="0" rIns="0" bIns="0" rtlCol="0" anchor="t"/>
          <a:lstStyle/>
          <a:p>
            <a:pPr indent="0" marL="0">
              <a:buNone/>
            </a:pPr>
            <a:r>
              <a:rPr lang="en-US" sz="1050" i="1" dirty="0">
                <a:solidFill>
                  <a:srgbClr val="6B7278"/>
                </a:solidFill>
                <a:latin typeface="Calibri" pitchFamily="34" charset="0"/>
                <a:ea typeface="Calibri" pitchFamily="34" charset="-122"/>
                <a:cs typeface="Calibri" pitchFamily="34" charset="-120"/>
              </a:rPr>
              <a:t>In this prototype, direction 2 is keyed on the handle lot. The same formula pattern extends to filament and brass-wire lots.</a:t>
            </a:r>
            <a:endParaRPr lang="en-US" sz="1050" dirty="0"/>
          </a:p>
        </p:txBody>
      </p:sp>
      <p:sp>
        <p:nvSpPr>
          <p:cNvPr id="18" name="Text 14"/>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i="1" dirty="0">
                <a:solidFill>
                  <a:srgbClr val="6B7278"/>
                </a:solidFill>
                <a:latin typeface="Calibri" pitchFamily="34" charset="0"/>
                <a:ea typeface="Calibri" pitchFamily="34" charset="-122"/>
                <a:cs typeface="Calibri" pitchFamily="34" charset="-120"/>
              </a:rPr>
              <a:t>Demonstration dataset: fictional operational data modelled on client brand accounts. Not the company's production records.</a:t>
            </a:r>
            <a:endParaRPr lang="en-US" sz="900" dirty="0"/>
          </a:p>
        </p:txBody>
      </p:sp>
      <p:sp>
        <p:nvSpPr>
          <p:cNvPr id="19" name="Text 15"/>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4F1"/>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10</a:t>
            </a:r>
            <a:pPr indent="0" marL="0">
              <a:buNone/>
            </a:pPr>
            <a:r>
              <a:rPr lang="en-US" sz="1050" spc="300" kern="0" dirty="0">
                <a:solidFill>
                  <a:srgbClr val="6B7278"/>
                </a:solidFill>
                <a:latin typeface="Calibri" pitchFamily="34" charset="0"/>
                <a:ea typeface="Calibri" pitchFamily="34" charset="-122"/>
                <a:cs typeface="Calibri" pitchFamily="34" charset="-120"/>
              </a:rPr>
              <a:t>   A SECOND QUESTION</a:t>
            </a:r>
            <a:endParaRPr lang="en-US" sz="1050" dirty="0"/>
          </a:p>
        </p:txBody>
      </p:sp>
      <p:sp>
        <p:nvSpPr>
          <p:cNvPr id="3" name="Text 1"/>
          <p:cNvSpPr txBox="1"/>
          <p:nvPr/>
        </p:nvSpPr>
        <p:spPr>
          <a:xfrm>
            <a:off x="548640" y="914400"/>
            <a:ext cx="10972800" cy="548640"/>
          </a:xfrm>
          <a:prstGeom prst="rect">
            <a:avLst/>
          </a:prstGeom>
          <a:noFill/>
          <a:ln/>
        </p:spPr>
        <p:txBody>
          <a:bodyPr wrap="square" lIns="0" tIns="0" rIns="0" bIns="0" rtlCol="0" anchor="ctr"/>
          <a:lstStyle/>
          <a:p>
            <a:pPr indent="0" marL="0">
              <a:buNone/>
            </a:pPr>
            <a:r>
              <a:rPr lang="en-US" sz="2600" dirty="0">
                <a:solidFill>
                  <a:srgbClr val="6B7278"/>
                </a:solidFill>
                <a:latin typeface="Cambria" pitchFamily="34" charset="0"/>
                <a:ea typeface="Cambria" pitchFamily="34" charset="-122"/>
                <a:cs typeface="Cambria" pitchFamily="34" charset="-120"/>
              </a:rPr>
              <a:t>Traceability tells us where the product came from.</a:t>
            </a:r>
            <a:endParaRPr lang="en-US" sz="2600" dirty="0"/>
          </a:p>
        </p:txBody>
      </p:sp>
      <p:sp>
        <p:nvSpPr>
          <p:cNvPr id="4" name="Text 2"/>
          <p:cNvSpPr txBox="1"/>
          <p:nvPr/>
        </p:nvSpPr>
        <p:spPr>
          <a:xfrm>
            <a:off x="548640" y="1463040"/>
            <a:ext cx="10972800" cy="640080"/>
          </a:xfrm>
          <a:prstGeom prst="rect">
            <a:avLst/>
          </a:prstGeom>
          <a:noFill/>
          <a:ln/>
        </p:spPr>
        <p:txBody>
          <a:bodyPr wrap="square" lIns="0" tIns="0" rIns="0" bIns="0" rtlCol="0" anchor="ctr"/>
          <a:lstStyle/>
          <a:p>
            <a:pPr indent="0" marL="0">
              <a:buNone/>
            </a:pPr>
            <a:r>
              <a:rPr lang="en-US" sz="3200" dirty="0">
                <a:solidFill>
                  <a:srgbClr val="1A1D21"/>
                </a:solidFill>
                <a:latin typeface="Cambria" pitchFamily="34" charset="0"/>
                <a:ea typeface="Cambria" pitchFamily="34" charset="-122"/>
                <a:cs typeface="Cambria" pitchFamily="34" charset="-120"/>
              </a:rPr>
              <a:t>But what tells us how efficiently it was produced?</a:t>
            </a:r>
            <a:endParaRPr lang="en-US" sz="3200" dirty="0"/>
          </a:p>
        </p:txBody>
      </p:sp>
      <p:sp>
        <p:nvSpPr>
          <p:cNvPr id="5" name="Text 3"/>
          <p:cNvSpPr txBox="1"/>
          <p:nvPr/>
        </p:nvSpPr>
        <p:spPr>
          <a:xfrm>
            <a:off x="548640" y="2743200"/>
            <a:ext cx="2926080" cy="457200"/>
          </a:xfrm>
          <a:prstGeom prst="rect">
            <a:avLst/>
          </a:prstGeom>
          <a:noFill/>
          <a:ln/>
        </p:spPr>
        <p:txBody>
          <a:bodyPr wrap="square" lIns="0" tIns="0" rIns="0" bIns="0" rtlCol="0" anchor="ctr"/>
          <a:lstStyle/>
          <a:p>
            <a:pPr indent="0" marL="0">
              <a:buNone/>
            </a:pPr>
            <a:r>
              <a:rPr lang="en-US" sz="2400" dirty="0">
                <a:solidFill>
                  <a:srgbClr val="1A1D21"/>
                </a:solidFill>
                <a:latin typeface="Cambria" pitchFamily="34" charset="0"/>
                <a:ea typeface="Cambria" pitchFamily="34" charset="-122"/>
                <a:cs typeface="Cambria" pitchFamily="34" charset="-120"/>
              </a:rPr>
              <a:t>Availability</a:t>
            </a:r>
            <a:endParaRPr lang="en-US" sz="2400" dirty="0"/>
          </a:p>
        </p:txBody>
      </p:sp>
      <p:sp>
        <p:nvSpPr>
          <p:cNvPr id="6" name="Text 4"/>
          <p:cNvSpPr txBox="1"/>
          <p:nvPr/>
        </p:nvSpPr>
        <p:spPr>
          <a:xfrm>
            <a:off x="548640" y="3383280"/>
            <a:ext cx="2926080" cy="365760"/>
          </a:xfrm>
          <a:prstGeom prst="rect">
            <a:avLst/>
          </a:prstGeom>
          <a:noFill/>
          <a:ln/>
        </p:spPr>
        <p:txBody>
          <a:bodyPr wrap="square" lIns="0" tIns="0" rIns="0" bIns="0" rtlCol="0" anchor="ctr"/>
          <a:lstStyle/>
          <a:p>
            <a:pPr algn="ctr" indent="0" marL="0">
              <a:buNone/>
            </a:pPr>
            <a:r>
              <a:rPr lang="en-US" sz="1350" dirty="0">
                <a:solidFill>
                  <a:srgbClr val="1A1D21"/>
                </a:solidFill>
                <a:latin typeface="Calibri" pitchFamily="34" charset="0"/>
                <a:ea typeface="Calibri" pitchFamily="34" charset="-122"/>
                <a:cs typeface="Calibri" pitchFamily="34" charset="-120"/>
              </a:rPr>
              <a:t>Run time</a:t>
            </a:r>
            <a:endParaRPr lang="en-US" sz="1350" dirty="0"/>
          </a:p>
        </p:txBody>
      </p:sp>
      <p:sp>
        <p:nvSpPr>
          <p:cNvPr id="7" name="Shape 5"/>
          <p:cNvSpPr/>
          <p:nvPr/>
        </p:nvSpPr>
        <p:spPr>
          <a:xfrm>
            <a:off x="731520" y="3794760"/>
            <a:ext cx="2560320" cy="0"/>
          </a:xfrm>
          <a:prstGeom prst="line">
            <a:avLst/>
          </a:prstGeom>
          <a:noFill/>
          <a:ln w="15875">
            <a:solidFill>
              <a:srgbClr val="1A1D21"/>
            </a:solidFill>
            <a:prstDash val="solid"/>
          </a:ln>
        </p:spPr>
      </p:sp>
      <p:sp>
        <p:nvSpPr>
          <p:cNvPr id="8" name="Text 6"/>
          <p:cNvSpPr txBox="1"/>
          <p:nvPr/>
        </p:nvSpPr>
        <p:spPr>
          <a:xfrm>
            <a:off x="548640" y="3840480"/>
            <a:ext cx="2926080" cy="365760"/>
          </a:xfrm>
          <a:prstGeom prst="rect">
            <a:avLst/>
          </a:prstGeom>
          <a:noFill/>
          <a:ln/>
        </p:spPr>
        <p:txBody>
          <a:bodyPr wrap="square" lIns="0" tIns="0" rIns="0" bIns="0" rtlCol="0" anchor="ctr"/>
          <a:lstStyle/>
          <a:p>
            <a:pPr algn="ctr" indent="0" marL="0">
              <a:buNone/>
            </a:pPr>
            <a:r>
              <a:rPr lang="en-US" sz="1350" dirty="0">
                <a:solidFill>
                  <a:srgbClr val="1A1D21"/>
                </a:solidFill>
                <a:latin typeface="Calibri" pitchFamily="34" charset="0"/>
                <a:ea typeface="Calibri" pitchFamily="34" charset="-122"/>
                <a:cs typeface="Calibri" pitchFamily="34" charset="-120"/>
              </a:rPr>
              <a:t>Planned production time</a:t>
            </a:r>
            <a:endParaRPr lang="en-US" sz="1350" dirty="0"/>
          </a:p>
        </p:txBody>
      </p:sp>
      <p:sp>
        <p:nvSpPr>
          <p:cNvPr id="9" name="Text 7"/>
          <p:cNvSpPr txBox="1"/>
          <p:nvPr/>
        </p:nvSpPr>
        <p:spPr>
          <a:xfrm>
            <a:off x="548640" y="4434840"/>
            <a:ext cx="2926080" cy="548640"/>
          </a:xfrm>
          <a:prstGeom prst="rect">
            <a:avLst/>
          </a:prstGeom>
          <a:noFill/>
          <a:ln/>
        </p:spPr>
        <p:txBody>
          <a:bodyPr wrap="square" lIns="0" tIns="0" rIns="0" bIns="0" rtlCol="0" anchor="t"/>
          <a:lstStyle/>
          <a:p>
            <a:pPr indent="0" marL="0">
              <a:buNone/>
            </a:pPr>
            <a:r>
              <a:rPr lang="en-US" sz="1250" i="1" dirty="0">
                <a:solidFill>
                  <a:srgbClr val="3E4750"/>
                </a:solidFill>
                <a:latin typeface="Calibri" pitchFamily="34" charset="0"/>
                <a:ea typeface="Calibri" pitchFamily="34" charset="-122"/>
                <a:cs typeface="Calibri" pitchFamily="34" charset="-120"/>
              </a:rPr>
              <a:t>Did the line run when it was supposed to?</a:t>
            </a:r>
            <a:endParaRPr lang="en-US" sz="1250" dirty="0"/>
          </a:p>
        </p:txBody>
      </p:sp>
      <p:sp>
        <p:nvSpPr>
          <p:cNvPr id="10" name="Text 8"/>
          <p:cNvSpPr txBox="1"/>
          <p:nvPr/>
        </p:nvSpPr>
        <p:spPr>
          <a:xfrm>
            <a:off x="548640" y="5029200"/>
            <a:ext cx="2926080" cy="274320"/>
          </a:xfrm>
          <a:prstGeom prst="rect">
            <a:avLst/>
          </a:prstGeom>
          <a:noFill/>
          <a:ln/>
        </p:spPr>
        <p:txBody>
          <a:bodyPr wrap="square" lIns="0" tIns="0" rIns="0" bIns="0" rtlCol="0" anchor="ctr"/>
          <a:lstStyle/>
          <a:p>
            <a:pPr indent="0" marL="0">
              <a:buNone/>
            </a:pPr>
            <a:r>
              <a:rPr lang="en-US" sz="1000" b="1" spc="200" kern="0" dirty="0">
                <a:solidFill>
                  <a:srgbClr val="E0561F"/>
                </a:solidFill>
                <a:latin typeface="Calibri" pitchFamily="34" charset="0"/>
                <a:ea typeface="Calibri" pitchFamily="34" charset="-122"/>
                <a:cs typeface="Calibri" pitchFamily="34" charset="-120"/>
              </a:rPr>
              <a:t>LOSS: STOPS</a:t>
            </a:r>
            <a:endParaRPr lang="en-US" sz="1000" dirty="0"/>
          </a:p>
        </p:txBody>
      </p:sp>
      <p:sp>
        <p:nvSpPr>
          <p:cNvPr id="11" name="Text 9"/>
          <p:cNvSpPr txBox="1"/>
          <p:nvPr/>
        </p:nvSpPr>
        <p:spPr>
          <a:xfrm>
            <a:off x="3474720" y="2743200"/>
            <a:ext cx="502920" cy="1463040"/>
          </a:xfrm>
          <a:prstGeom prst="rect">
            <a:avLst/>
          </a:prstGeom>
          <a:noFill/>
          <a:ln/>
        </p:spPr>
        <p:txBody>
          <a:bodyPr wrap="square" lIns="0" tIns="0" rIns="0" bIns="0" rtlCol="0" anchor="ctr"/>
          <a:lstStyle/>
          <a:p>
            <a:pPr algn="ctr" indent="0" marL="0">
              <a:buNone/>
            </a:pPr>
            <a:r>
              <a:rPr lang="en-US" sz="3000" dirty="0">
                <a:solidFill>
                  <a:srgbClr val="6B7278"/>
                </a:solidFill>
                <a:latin typeface="Cambria" pitchFamily="34" charset="0"/>
                <a:ea typeface="Cambria" pitchFamily="34" charset="-122"/>
                <a:cs typeface="Cambria" pitchFamily="34" charset="-120"/>
              </a:rPr>
              <a:t>×</a:t>
            </a:r>
            <a:endParaRPr lang="en-US" sz="3000" dirty="0"/>
          </a:p>
        </p:txBody>
      </p:sp>
      <p:sp>
        <p:nvSpPr>
          <p:cNvPr id="12" name="Text 10"/>
          <p:cNvSpPr txBox="1"/>
          <p:nvPr/>
        </p:nvSpPr>
        <p:spPr>
          <a:xfrm>
            <a:off x="3977640" y="2743200"/>
            <a:ext cx="2926080" cy="457200"/>
          </a:xfrm>
          <a:prstGeom prst="rect">
            <a:avLst/>
          </a:prstGeom>
          <a:noFill/>
          <a:ln/>
        </p:spPr>
        <p:txBody>
          <a:bodyPr wrap="square" lIns="0" tIns="0" rIns="0" bIns="0" rtlCol="0" anchor="ctr"/>
          <a:lstStyle/>
          <a:p>
            <a:pPr indent="0" marL="0">
              <a:buNone/>
            </a:pPr>
            <a:r>
              <a:rPr lang="en-US" sz="2400" dirty="0">
                <a:solidFill>
                  <a:srgbClr val="1A1D21"/>
                </a:solidFill>
                <a:latin typeface="Cambria" pitchFamily="34" charset="0"/>
                <a:ea typeface="Cambria" pitchFamily="34" charset="-122"/>
                <a:cs typeface="Cambria" pitchFamily="34" charset="-120"/>
              </a:rPr>
              <a:t>Performance</a:t>
            </a:r>
            <a:endParaRPr lang="en-US" sz="2400" dirty="0"/>
          </a:p>
        </p:txBody>
      </p:sp>
      <p:sp>
        <p:nvSpPr>
          <p:cNvPr id="13" name="Text 11"/>
          <p:cNvSpPr txBox="1"/>
          <p:nvPr/>
        </p:nvSpPr>
        <p:spPr>
          <a:xfrm>
            <a:off x="3977640" y="3383280"/>
            <a:ext cx="2926080" cy="365760"/>
          </a:xfrm>
          <a:prstGeom prst="rect">
            <a:avLst/>
          </a:prstGeom>
          <a:noFill/>
          <a:ln/>
        </p:spPr>
        <p:txBody>
          <a:bodyPr wrap="square" lIns="0" tIns="0" rIns="0" bIns="0" rtlCol="0" anchor="ctr"/>
          <a:lstStyle/>
          <a:p>
            <a:pPr algn="ctr" indent="0" marL="0">
              <a:buNone/>
            </a:pPr>
            <a:r>
              <a:rPr lang="en-US" sz="1350" dirty="0">
                <a:solidFill>
                  <a:srgbClr val="1A1D21"/>
                </a:solidFill>
                <a:latin typeface="Calibri" pitchFamily="34" charset="0"/>
                <a:ea typeface="Calibri" pitchFamily="34" charset="-122"/>
                <a:cs typeface="Calibri" pitchFamily="34" charset="-120"/>
              </a:rPr>
              <a:t>Ideal cycle time × Total count</a:t>
            </a:r>
            <a:endParaRPr lang="en-US" sz="1350" dirty="0"/>
          </a:p>
        </p:txBody>
      </p:sp>
      <p:sp>
        <p:nvSpPr>
          <p:cNvPr id="14" name="Shape 12"/>
          <p:cNvSpPr/>
          <p:nvPr/>
        </p:nvSpPr>
        <p:spPr>
          <a:xfrm>
            <a:off x="4160520" y="3794760"/>
            <a:ext cx="2560320" cy="0"/>
          </a:xfrm>
          <a:prstGeom prst="line">
            <a:avLst/>
          </a:prstGeom>
          <a:noFill/>
          <a:ln w="15875">
            <a:solidFill>
              <a:srgbClr val="1A1D21"/>
            </a:solidFill>
            <a:prstDash val="solid"/>
          </a:ln>
        </p:spPr>
      </p:sp>
      <p:sp>
        <p:nvSpPr>
          <p:cNvPr id="15" name="Text 13"/>
          <p:cNvSpPr txBox="1"/>
          <p:nvPr/>
        </p:nvSpPr>
        <p:spPr>
          <a:xfrm>
            <a:off x="3977640" y="3840480"/>
            <a:ext cx="2926080" cy="365760"/>
          </a:xfrm>
          <a:prstGeom prst="rect">
            <a:avLst/>
          </a:prstGeom>
          <a:noFill/>
          <a:ln/>
        </p:spPr>
        <p:txBody>
          <a:bodyPr wrap="square" lIns="0" tIns="0" rIns="0" bIns="0" rtlCol="0" anchor="ctr"/>
          <a:lstStyle/>
          <a:p>
            <a:pPr algn="ctr" indent="0" marL="0">
              <a:buNone/>
            </a:pPr>
            <a:r>
              <a:rPr lang="en-US" sz="1350" dirty="0">
                <a:solidFill>
                  <a:srgbClr val="1A1D21"/>
                </a:solidFill>
                <a:latin typeface="Calibri" pitchFamily="34" charset="0"/>
                <a:ea typeface="Calibri" pitchFamily="34" charset="-122"/>
                <a:cs typeface="Calibri" pitchFamily="34" charset="-120"/>
              </a:rPr>
              <a:t>Run time</a:t>
            </a:r>
            <a:endParaRPr lang="en-US" sz="1350" dirty="0"/>
          </a:p>
        </p:txBody>
      </p:sp>
      <p:sp>
        <p:nvSpPr>
          <p:cNvPr id="16" name="Text 14"/>
          <p:cNvSpPr txBox="1"/>
          <p:nvPr/>
        </p:nvSpPr>
        <p:spPr>
          <a:xfrm>
            <a:off x="3977640" y="4434840"/>
            <a:ext cx="2926080" cy="548640"/>
          </a:xfrm>
          <a:prstGeom prst="rect">
            <a:avLst/>
          </a:prstGeom>
          <a:noFill/>
          <a:ln/>
        </p:spPr>
        <p:txBody>
          <a:bodyPr wrap="square" lIns="0" tIns="0" rIns="0" bIns="0" rtlCol="0" anchor="t"/>
          <a:lstStyle/>
          <a:p>
            <a:pPr indent="0" marL="0">
              <a:buNone/>
            </a:pPr>
            <a:r>
              <a:rPr lang="en-US" sz="1250" i="1" dirty="0">
                <a:solidFill>
                  <a:srgbClr val="3E4750"/>
                </a:solidFill>
                <a:latin typeface="Calibri" pitchFamily="34" charset="0"/>
                <a:ea typeface="Calibri" pitchFamily="34" charset="-122"/>
                <a:cs typeface="Calibri" pitchFamily="34" charset="-120"/>
              </a:rPr>
              <a:t>When it ran, did it run at full speed?</a:t>
            </a:r>
            <a:endParaRPr lang="en-US" sz="1250" dirty="0"/>
          </a:p>
        </p:txBody>
      </p:sp>
      <p:sp>
        <p:nvSpPr>
          <p:cNvPr id="17" name="Text 15"/>
          <p:cNvSpPr txBox="1"/>
          <p:nvPr/>
        </p:nvSpPr>
        <p:spPr>
          <a:xfrm>
            <a:off x="3977640" y="5029200"/>
            <a:ext cx="2926080" cy="274320"/>
          </a:xfrm>
          <a:prstGeom prst="rect">
            <a:avLst/>
          </a:prstGeom>
          <a:noFill/>
          <a:ln/>
        </p:spPr>
        <p:txBody>
          <a:bodyPr wrap="square" lIns="0" tIns="0" rIns="0" bIns="0" rtlCol="0" anchor="ctr"/>
          <a:lstStyle/>
          <a:p>
            <a:pPr indent="0" marL="0">
              <a:buNone/>
            </a:pPr>
            <a:r>
              <a:rPr lang="en-US" sz="1000" b="1" spc="200" kern="0" dirty="0">
                <a:solidFill>
                  <a:srgbClr val="E0561F"/>
                </a:solidFill>
                <a:latin typeface="Calibri" pitchFamily="34" charset="0"/>
                <a:ea typeface="Calibri" pitchFamily="34" charset="-122"/>
                <a:cs typeface="Calibri" pitchFamily="34" charset="-120"/>
              </a:rPr>
              <a:t>LOSS: SLOW RUNNING</a:t>
            </a:r>
            <a:endParaRPr lang="en-US" sz="1000" dirty="0"/>
          </a:p>
        </p:txBody>
      </p:sp>
      <p:sp>
        <p:nvSpPr>
          <p:cNvPr id="18" name="Text 16"/>
          <p:cNvSpPr txBox="1"/>
          <p:nvPr/>
        </p:nvSpPr>
        <p:spPr>
          <a:xfrm>
            <a:off x="6903720" y="2743200"/>
            <a:ext cx="502920" cy="1463040"/>
          </a:xfrm>
          <a:prstGeom prst="rect">
            <a:avLst/>
          </a:prstGeom>
          <a:noFill/>
          <a:ln/>
        </p:spPr>
        <p:txBody>
          <a:bodyPr wrap="square" lIns="0" tIns="0" rIns="0" bIns="0" rtlCol="0" anchor="ctr"/>
          <a:lstStyle/>
          <a:p>
            <a:pPr algn="ctr" indent="0" marL="0">
              <a:buNone/>
            </a:pPr>
            <a:r>
              <a:rPr lang="en-US" sz="3000" dirty="0">
                <a:solidFill>
                  <a:srgbClr val="6B7278"/>
                </a:solidFill>
                <a:latin typeface="Cambria" pitchFamily="34" charset="0"/>
                <a:ea typeface="Cambria" pitchFamily="34" charset="-122"/>
                <a:cs typeface="Cambria" pitchFamily="34" charset="-120"/>
              </a:rPr>
              <a:t>×</a:t>
            </a:r>
            <a:endParaRPr lang="en-US" sz="3000" dirty="0"/>
          </a:p>
        </p:txBody>
      </p:sp>
      <p:sp>
        <p:nvSpPr>
          <p:cNvPr id="19" name="Text 17"/>
          <p:cNvSpPr txBox="1"/>
          <p:nvPr/>
        </p:nvSpPr>
        <p:spPr>
          <a:xfrm>
            <a:off x="7406640" y="2743200"/>
            <a:ext cx="2926080" cy="457200"/>
          </a:xfrm>
          <a:prstGeom prst="rect">
            <a:avLst/>
          </a:prstGeom>
          <a:noFill/>
          <a:ln/>
        </p:spPr>
        <p:txBody>
          <a:bodyPr wrap="square" lIns="0" tIns="0" rIns="0" bIns="0" rtlCol="0" anchor="ctr"/>
          <a:lstStyle/>
          <a:p>
            <a:pPr indent="0" marL="0">
              <a:buNone/>
            </a:pPr>
            <a:r>
              <a:rPr lang="en-US" sz="2400" dirty="0">
                <a:solidFill>
                  <a:srgbClr val="1A1D21"/>
                </a:solidFill>
                <a:latin typeface="Cambria" pitchFamily="34" charset="0"/>
                <a:ea typeface="Cambria" pitchFamily="34" charset="-122"/>
                <a:cs typeface="Cambria" pitchFamily="34" charset="-120"/>
              </a:rPr>
              <a:t>Quality</a:t>
            </a:r>
            <a:endParaRPr lang="en-US" sz="2400" dirty="0"/>
          </a:p>
        </p:txBody>
      </p:sp>
      <p:sp>
        <p:nvSpPr>
          <p:cNvPr id="20" name="Text 18"/>
          <p:cNvSpPr txBox="1"/>
          <p:nvPr/>
        </p:nvSpPr>
        <p:spPr>
          <a:xfrm>
            <a:off x="7406640" y="3383280"/>
            <a:ext cx="2926080" cy="365760"/>
          </a:xfrm>
          <a:prstGeom prst="rect">
            <a:avLst/>
          </a:prstGeom>
          <a:noFill/>
          <a:ln/>
        </p:spPr>
        <p:txBody>
          <a:bodyPr wrap="square" lIns="0" tIns="0" rIns="0" bIns="0" rtlCol="0" anchor="ctr"/>
          <a:lstStyle/>
          <a:p>
            <a:pPr algn="ctr" indent="0" marL="0">
              <a:buNone/>
            </a:pPr>
            <a:r>
              <a:rPr lang="en-US" sz="1350" dirty="0">
                <a:solidFill>
                  <a:srgbClr val="1A1D21"/>
                </a:solidFill>
                <a:latin typeface="Calibri" pitchFamily="34" charset="0"/>
                <a:ea typeface="Calibri" pitchFamily="34" charset="-122"/>
                <a:cs typeface="Calibri" pitchFamily="34" charset="-120"/>
              </a:rPr>
              <a:t>Good count</a:t>
            </a:r>
            <a:endParaRPr lang="en-US" sz="1350" dirty="0"/>
          </a:p>
        </p:txBody>
      </p:sp>
      <p:sp>
        <p:nvSpPr>
          <p:cNvPr id="21" name="Shape 19"/>
          <p:cNvSpPr/>
          <p:nvPr/>
        </p:nvSpPr>
        <p:spPr>
          <a:xfrm>
            <a:off x="7589520" y="3794760"/>
            <a:ext cx="2560320" cy="0"/>
          </a:xfrm>
          <a:prstGeom prst="line">
            <a:avLst/>
          </a:prstGeom>
          <a:noFill/>
          <a:ln w="15875">
            <a:solidFill>
              <a:srgbClr val="1A1D21"/>
            </a:solidFill>
            <a:prstDash val="solid"/>
          </a:ln>
        </p:spPr>
      </p:sp>
      <p:sp>
        <p:nvSpPr>
          <p:cNvPr id="22" name="Text 20"/>
          <p:cNvSpPr txBox="1"/>
          <p:nvPr/>
        </p:nvSpPr>
        <p:spPr>
          <a:xfrm>
            <a:off x="7406640" y="3840480"/>
            <a:ext cx="2926080" cy="365760"/>
          </a:xfrm>
          <a:prstGeom prst="rect">
            <a:avLst/>
          </a:prstGeom>
          <a:noFill/>
          <a:ln/>
        </p:spPr>
        <p:txBody>
          <a:bodyPr wrap="square" lIns="0" tIns="0" rIns="0" bIns="0" rtlCol="0" anchor="ctr"/>
          <a:lstStyle/>
          <a:p>
            <a:pPr algn="ctr" indent="0" marL="0">
              <a:buNone/>
            </a:pPr>
            <a:r>
              <a:rPr lang="en-US" sz="1350" dirty="0">
                <a:solidFill>
                  <a:srgbClr val="1A1D21"/>
                </a:solidFill>
                <a:latin typeface="Calibri" pitchFamily="34" charset="0"/>
                <a:ea typeface="Calibri" pitchFamily="34" charset="-122"/>
                <a:cs typeface="Calibri" pitchFamily="34" charset="-120"/>
              </a:rPr>
              <a:t>Total count</a:t>
            </a:r>
            <a:endParaRPr lang="en-US" sz="1350" dirty="0"/>
          </a:p>
        </p:txBody>
      </p:sp>
      <p:sp>
        <p:nvSpPr>
          <p:cNvPr id="23" name="Text 21"/>
          <p:cNvSpPr txBox="1"/>
          <p:nvPr/>
        </p:nvSpPr>
        <p:spPr>
          <a:xfrm>
            <a:off x="7406640" y="4434840"/>
            <a:ext cx="2926080" cy="548640"/>
          </a:xfrm>
          <a:prstGeom prst="rect">
            <a:avLst/>
          </a:prstGeom>
          <a:noFill/>
          <a:ln/>
        </p:spPr>
        <p:txBody>
          <a:bodyPr wrap="square" lIns="0" tIns="0" rIns="0" bIns="0" rtlCol="0" anchor="t"/>
          <a:lstStyle/>
          <a:p>
            <a:pPr indent="0" marL="0">
              <a:buNone/>
            </a:pPr>
            <a:r>
              <a:rPr lang="en-US" sz="1250" i="1" dirty="0">
                <a:solidFill>
                  <a:srgbClr val="3E4750"/>
                </a:solidFill>
                <a:latin typeface="Calibri" pitchFamily="34" charset="0"/>
                <a:ea typeface="Calibri" pitchFamily="34" charset="-122"/>
                <a:cs typeface="Calibri" pitchFamily="34" charset="-120"/>
              </a:rPr>
              <a:t>Of what it made, how much was good?</a:t>
            </a:r>
            <a:endParaRPr lang="en-US" sz="1250" dirty="0"/>
          </a:p>
        </p:txBody>
      </p:sp>
      <p:sp>
        <p:nvSpPr>
          <p:cNvPr id="24" name="Text 22"/>
          <p:cNvSpPr txBox="1"/>
          <p:nvPr/>
        </p:nvSpPr>
        <p:spPr>
          <a:xfrm>
            <a:off x="7406640" y="5029200"/>
            <a:ext cx="2926080" cy="274320"/>
          </a:xfrm>
          <a:prstGeom prst="rect">
            <a:avLst/>
          </a:prstGeom>
          <a:noFill/>
          <a:ln/>
        </p:spPr>
        <p:txBody>
          <a:bodyPr wrap="square" lIns="0" tIns="0" rIns="0" bIns="0" rtlCol="0" anchor="ctr"/>
          <a:lstStyle/>
          <a:p>
            <a:pPr indent="0" marL="0">
              <a:buNone/>
            </a:pPr>
            <a:r>
              <a:rPr lang="en-US" sz="1000" b="1" spc="200" kern="0" dirty="0">
                <a:solidFill>
                  <a:srgbClr val="E0561F"/>
                </a:solidFill>
                <a:latin typeface="Calibri" pitchFamily="34" charset="0"/>
                <a:ea typeface="Calibri" pitchFamily="34" charset="-122"/>
                <a:cs typeface="Calibri" pitchFamily="34" charset="-120"/>
              </a:rPr>
              <a:t>LOSS: REJECTS</a:t>
            </a:r>
            <a:endParaRPr lang="en-US" sz="1000" dirty="0"/>
          </a:p>
        </p:txBody>
      </p:sp>
      <p:sp>
        <p:nvSpPr>
          <p:cNvPr id="25" name="Shape 23"/>
          <p:cNvSpPr/>
          <p:nvPr/>
        </p:nvSpPr>
        <p:spPr>
          <a:xfrm>
            <a:off x="10744200" y="2697480"/>
            <a:ext cx="1051560" cy="1554480"/>
          </a:xfrm>
          <a:prstGeom prst="rect">
            <a:avLst/>
          </a:prstGeom>
          <a:solidFill>
            <a:srgbClr val="121518"/>
          </a:solidFill>
          <a:ln/>
        </p:spPr>
      </p:sp>
      <p:sp>
        <p:nvSpPr>
          <p:cNvPr id="26" name="Text 24"/>
          <p:cNvSpPr txBox="1"/>
          <p:nvPr/>
        </p:nvSpPr>
        <p:spPr>
          <a:xfrm>
            <a:off x="10744200" y="2697480"/>
            <a:ext cx="1051560" cy="15544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 OEE</a:t>
            </a:r>
            <a:endParaRPr lang="en-US" sz="2000" dirty="0"/>
          </a:p>
        </p:txBody>
      </p:sp>
      <p:sp>
        <p:nvSpPr>
          <p:cNvPr id="27" name="Text 25"/>
          <p:cNvSpPr txBox="1"/>
          <p:nvPr/>
        </p:nvSpPr>
        <p:spPr>
          <a:xfrm>
            <a:off x="548640" y="5760720"/>
            <a:ext cx="10972800" cy="411480"/>
          </a:xfrm>
          <a:prstGeom prst="rect">
            <a:avLst/>
          </a:prstGeom>
          <a:noFill/>
          <a:ln/>
        </p:spPr>
        <p:txBody>
          <a:bodyPr wrap="square" lIns="0" tIns="0" rIns="0" bIns="0" rtlCol="0" anchor="ctr"/>
          <a:lstStyle/>
          <a:p>
            <a:pPr indent="0" marL="0">
              <a:buNone/>
            </a:pPr>
            <a:r>
              <a:rPr lang="en-US" sz="1700" i="1" dirty="0">
                <a:solidFill>
                  <a:srgbClr val="E0561F"/>
                </a:solidFill>
                <a:latin typeface="Cambria" pitchFamily="34" charset="0"/>
                <a:ea typeface="Cambria" pitchFamily="34" charset="-122"/>
                <a:cs typeface="Cambria" pitchFamily="34" charset="-120"/>
              </a:rPr>
              <a:t>It splits the line study's single ~27,500-unit gap into three losses you can act on.</a:t>
            </a:r>
            <a:endParaRPr lang="en-US" sz="1700" dirty="0"/>
          </a:p>
        </p:txBody>
      </p:sp>
      <p:sp>
        <p:nvSpPr>
          <p:cNvPr id="28" name="Text 26"/>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10</a:t>
            </a:r>
            <a:pPr indent="0" marL="0">
              <a:buNone/>
            </a:pPr>
            <a:r>
              <a:rPr lang="en-US" sz="1050" spc="300" kern="0" dirty="0">
                <a:solidFill>
                  <a:srgbClr val="6B7278"/>
                </a:solidFill>
                <a:latin typeface="Calibri" pitchFamily="34" charset="0"/>
                <a:ea typeface="Calibri" pitchFamily="34" charset="-122"/>
                <a:cs typeface="Calibri" pitchFamily="34" charset="-120"/>
              </a:rPr>
              <a:t>   A SECOND QUESTION</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indent="0" marL="0">
              <a:buNone/>
            </a:pPr>
            <a:r>
              <a:rPr lang="en-US" sz="2800" dirty="0">
                <a:solidFill>
                  <a:srgbClr val="1A1D21"/>
                </a:solidFill>
                <a:latin typeface="Cambria" pitchFamily="34" charset="0"/>
                <a:ea typeface="Cambria" pitchFamily="34" charset="-122"/>
                <a:cs typeface="Cambria" pitchFamily="34" charset="-120"/>
              </a:rPr>
              <a:t>How efficiently did the lines perform?</a:t>
            </a:r>
            <a:endParaRPr lang="en-US" sz="2800" dirty="0"/>
          </a:p>
        </p:txBody>
      </p:sp>
      <p:sp>
        <p:nvSpPr>
          <p:cNvPr id="4" name="Shape 2"/>
          <p:cNvSpPr/>
          <p:nvPr/>
        </p:nvSpPr>
        <p:spPr>
          <a:xfrm>
            <a:off x="649053" y="1316736"/>
            <a:ext cx="10890847" cy="3538728"/>
          </a:xfrm>
          <a:prstGeom prst="rect">
            <a:avLst/>
          </a:prstGeom>
          <a:solidFill>
            <a:srgbClr val="FFFFFF"/>
          </a:solidFill>
          <a:ln w="9525">
            <a:solidFill>
              <a:srgbClr val="D6D8D6"/>
            </a:solidFill>
            <a:prstDash val="solid"/>
          </a:ln>
          <a:effectLst>
            <a:outerShdw sx="100000" sy="100000" kx="0" ky="0" algn="bl" rotWithShape="0" blurRad="101600" dist="25400" dir="5400000">
              <a:srgbClr val="000000">
                <a:alpha val="18000"/>
              </a:srgbClr>
            </a:outerShdw>
          </a:effectLst>
        </p:spPr>
      </p:sp>
      <p:pic>
        <p:nvPicPr>
          <p:cNvPr id="5" name="Image 0" descr="/home/user/master-executive-system/sip-presentation/source/crops/oee_top.png">    </p:cNvPr>
          <p:cNvPicPr>
            <a:picLocks noChangeAspect="1"/>
          </p:cNvPicPr>
          <p:nvPr/>
        </p:nvPicPr>
        <p:blipFill>
          <a:blip r:embed="rId1"/>
          <a:stretch>
            <a:fillRect/>
          </a:stretch>
        </p:blipFill>
        <p:spPr>
          <a:xfrm>
            <a:off x="703917" y="1371600"/>
            <a:ext cx="10781119" cy="3429000"/>
          </a:xfrm>
          <a:prstGeom prst="rect">
            <a:avLst/>
          </a:prstGeom>
        </p:spPr>
      </p:pic>
      <p:sp>
        <p:nvSpPr>
          <p:cNvPr id="6" name="Shape 3"/>
          <p:cNvSpPr/>
          <p:nvPr/>
        </p:nvSpPr>
        <p:spPr>
          <a:xfrm>
            <a:off x="1833059" y="3332988"/>
            <a:ext cx="329184" cy="329184"/>
          </a:xfrm>
          <a:prstGeom prst="ellipse">
            <a:avLst/>
          </a:prstGeom>
          <a:solidFill>
            <a:srgbClr val="E0561F"/>
          </a:solidFill>
          <a:ln w="19050">
            <a:solidFill>
              <a:srgbClr val="FFFFFF"/>
            </a:solidFill>
            <a:prstDash val="solid"/>
          </a:ln>
        </p:spPr>
      </p:sp>
      <p:sp>
        <p:nvSpPr>
          <p:cNvPr id="7" name="Text 4"/>
          <p:cNvSpPr txBox="1"/>
          <p:nvPr/>
        </p:nvSpPr>
        <p:spPr>
          <a:xfrm>
            <a:off x="1833059" y="33329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Shape 5"/>
          <p:cNvSpPr/>
          <p:nvPr/>
        </p:nvSpPr>
        <p:spPr>
          <a:xfrm>
            <a:off x="3558038" y="3332988"/>
            <a:ext cx="329184" cy="329184"/>
          </a:xfrm>
          <a:prstGeom prst="ellipse">
            <a:avLst/>
          </a:prstGeom>
          <a:solidFill>
            <a:srgbClr val="E0561F"/>
          </a:solidFill>
          <a:ln w="19050">
            <a:solidFill>
              <a:srgbClr val="FFFFFF"/>
            </a:solidFill>
            <a:prstDash val="solid"/>
          </a:ln>
        </p:spPr>
      </p:sp>
      <p:sp>
        <p:nvSpPr>
          <p:cNvPr id="9" name="Text 6"/>
          <p:cNvSpPr txBox="1"/>
          <p:nvPr/>
        </p:nvSpPr>
        <p:spPr>
          <a:xfrm>
            <a:off x="3558038" y="33329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Shape 7"/>
          <p:cNvSpPr/>
          <p:nvPr/>
        </p:nvSpPr>
        <p:spPr>
          <a:xfrm>
            <a:off x="5336922" y="3332988"/>
            <a:ext cx="329184" cy="329184"/>
          </a:xfrm>
          <a:prstGeom prst="ellipse">
            <a:avLst/>
          </a:prstGeom>
          <a:solidFill>
            <a:srgbClr val="E0561F"/>
          </a:solidFill>
          <a:ln w="19050">
            <a:solidFill>
              <a:srgbClr val="FFFFFF"/>
            </a:solidFill>
            <a:prstDash val="solid"/>
          </a:ln>
        </p:spPr>
      </p:sp>
      <p:sp>
        <p:nvSpPr>
          <p:cNvPr id="11" name="Text 8"/>
          <p:cNvSpPr txBox="1"/>
          <p:nvPr/>
        </p:nvSpPr>
        <p:spPr>
          <a:xfrm>
            <a:off x="5336922" y="33329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Shape 9"/>
          <p:cNvSpPr/>
          <p:nvPr/>
        </p:nvSpPr>
        <p:spPr>
          <a:xfrm>
            <a:off x="7115807" y="3332988"/>
            <a:ext cx="329184" cy="329184"/>
          </a:xfrm>
          <a:prstGeom prst="ellipse">
            <a:avLst/>
          </a:prstGeom>
          <a:solidFill>
            <a:srgbClr val="E0561F"/>
          </a:solidFill>
          <a:ln w="19050">
            <a:solidFill>
              <a:srgbClr val="FFFFFF"/>
            </a:solidFill>
            <a:prstDash val="solid"/>
          </a:ln>
        </p:spPr>
      </p:sp>
      <p:sp>
        <p:nvSpPr>
          <p:cNvPr id="13" name="Text 10"/>
          <p:cNvSpPr txBox="1"/>
          <p:nvPr/>
        </p:nvSpPr>
        <p:spPr>
          <a:xfrm>
            <a:off x="7115807" y="333298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4" name="Shape 11"/>
          <p:cNvSpPr/>
          <p:nvPr/>
        </p:nvSpPr>
        <p:spPr>
          <a:xfrm>
            <a:off x="2048681" y="4310253"/>
            <a:ext cx="329184" cy="329184"/>
          </a:xfrm>
          <a:prstGeom prst="ellipse">
            <a:avLst/>
          </a:prstGeom>
          <a:solidFill>
            <a:srgbClr val="E0561F"/>
          </a:solidFill>
          <a:ln w="19050">
            <a:solidFill>
              <a:srgbClr val="FFFFFF"/>
            </a:solidFill>
            <a:prstDash val="solid"/>
          </a:ln>
        </p:spPr>
      </p:sp>
      <p:sp>
        <p:nvSpPr>
          <p:cNvPr id="15" name="Text 12"/>
          <p:cNvSpPr txBox="1"/>
          <p:nvPr/>
        </p:nvSpPr>
        <p:spPr>
          <a:xfrm>
            <a:off x="2048681" y="4310253"/>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6" name="Shape 13"/>
          <p:cNvSpPr/>
          <p:nvPr/>
        </p:nvSpPr>
        <p:spPr>
          <a:xfrm>
            <a:off x="3773660" y="4310253"/>
            <a:ext cx="329184" cy="329184"/>
          </a:xfrm>
          <a:prstGeom prst="ellipse">
            <a:avLst/>
          </a:prstGeom>
          <a:solidFill>
            <a:srgbClr val="E0561F"/>
          </a:solidFill>
          <a:ln w="19050">
            <a:solidFill>
              <a:srgbClr val="FFFFFF"/>
            </a:solidFill>
            <a:prstDash val="solid"/>
          </a:ln>
        </p:spPr>
      </p:sp>
      <p:sp>
        <p:nvSpPr>
          <p:cNvPr id="17" name="Text 14"/>
          <p:cNvSpPr txBox="1"/>
          <p:nvPr/>
        </p:nvSpPr>
        <p:spPr>
          <a:xfrm>
            <a:off x="3773660" y="4310253"/>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18" name="Shape 15"/>
          <p:cNvSpPr/>
          <p:nvPr/>
        </p:nvSpPr>
        <p:spPr>
          <a:xfrm>
            <a:off x="5498639" y="4310253"/>
            <a:ext cx="329184" cy="329184"/>
          </a:xfrm>
          <a:prstGeom prst="ellipse">
            <a:avLst/>
          </a:prstGeom>
          <a:solidFill>
            <a:srgbClr val="E0561F"/>
          </a:solidFill>
          <a:ln w="19050">
            <a:solidFill>
              <a:srgbClr val="FFFFFF"/>
            </a:solidFill>
            <a:prstDash val="solid"/>
          </a:ln>
        </p:spPr>
      </p:sp>
      <p:sp>
        <p:nvSpPr>
          <p:cNvPr id="19" name="Text 16"/>
          <p:cNvSpPr txBox="1"/>
          <p:nvPr/>
        </p:nvSpPr>
        <p:spPr>
          <a:xfrm>
            <a:off x="5498639" y="4310253"/>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0" name="Shape 17"/>
          <p:cNvSpPr/>
          <p:nvPr/>
        </p:nvSpPr>
        <p:spPr>
          <a:xfrm>
            <a:off x="7277524" y="4310253"/>
            <a:ext cx="329184" cy="329184"/>
          </a:xfrm>
          <a:prstGeom prst="ellipse">
            <a:avLst/>
          </a:prstGeom>
          <a:solidFill>
            <a:srgbClr val="E0561F"/>
          </a:solidFill>
          <a:ln w="19050">
            <a:solidFill>
              <a:srgbClr val="FFFFFF"/>
            </a:solidFill>
            <a:prstDash val="solid"/>
          </a:ln>
        </p:spPr>
      </p:sp>
      <p:sp>
        <p:nvSpPr>
          <p:cNvPr id="21" name="Text 18"/>
          <p:cNvSpPr txBox="1"/>
          <p:nvPr/>
        </p:nvSpPr>
        <p:spPr>
          <a:xfrm>
            <a:off x="7277524" y="4310253"/>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22" name="Shape 19"/>
          <p:cNvSpPr/>
          <p:nvPr/>
        </p:nvSpPr>
        <p:spPr>
          <a:xfrm>
            <a:off x="548640" y="5120640"/>
            <a:ext cx="2651760" cy="1234440"/>
          </a:xfrm>
          <a:prstGeom prst="rect">
            <a:avLst/>
          </a:prstGeom>
          <a:solidFill>
            <a:srgbClr val="F4F4F1"/>
          </a:solidFill>
          <a:ln/>
        </p:spPr>
      </p:sp>
      <p:sp>
        <p:nvSpPr>
          <p:cNvPr id="23" name="Text 20"/>
          <p:cNvSpPr txBox="1"/>
          <p:nvPr/>
        </p:nvSpPr>
        <p:spPr>
          <a:xfrm>
            <a:off x="713232" y="5212080"/>
            <a:ext cx="2377440" cy="228600"/>
          </a:xfrm>
          <a:prstGeom prst="rect">
            <a:avLst/>
          </a:prstGeom>
          <a:noFill/>
          <a:ln/>
        </p:spPr>
        <p:txBody>
          <a:bodyPr wrap="square" lIns="0" tIns="0" rIns="0" bIns="0" rtlCol="0" anchor="ctr"/>
          <a:lstStyle/>
          <a:p>
            <a:pPr indent="0" marL="0">
              <a:buNone/>
            </a:pPr>
            <a:r>
              <a:rPr lang="en-US" sz="950" b="1" spc="200" kern="0" dirty="0">
                <a:solidFill>
                  <a:srgbClr val="6B7278"/>
                </a:solidFill>
                <a:latin typeface="Calibri" pitchFamily="34" charset="0"/>
                <a:ea typeface="Calibri" pitchFamily="34" charset="-122"/>
                <a:cs typeface="Calibri" pitchFamily="34" charset="-120"/>
              </a:rPr>
              <a:t>AVAILABILITY</a:t>
            </a:r>
            <a:endParaRPr lang="en-US" sz="950" dirty="0"/>
          </a:p>
        </p:txBody>
      </p:sp>
      <p:sp>
        <p:nvSpPr>
          <p:cNvPr id="24" name="Text 21"/>
          <p:cNvSpPr txBox="1"/>
          <p:nvPr/>
        </p:nvSpPr>
        <p:spPr>
          <a:xfrm>
            <a:off x="713232" y="5422392"/>
            <a:ext cx="1188720" cy="457200"/>
          </a:xfrm>
          <a:prstGeom prst="rect">
            <a:avLst/>
          </a:prstGeom>
          <a:noFill/>
          <a:ln/>
        </p:spPr>
        <p:txBody>
          <a:bodyPr wrap="square" lIns="0" tIns="0" rIns="0" bIns="0" rtlCol="0" anchor="ctr"/>
          <a:lstStyle/>
          <a:p>
            <a:pPr indent="0" marL="0">
              <a:buNone/>
            </a:pPr>
            <a:r>
              <a:rPr lang="en-US" sz="2400" dirty="0">
                <a:solidFill>
                  <a:srgbClr val="1A1D21"/>
                </a:solidFill>
                <a:latin typeface="Cambria" pitchFamily="34" charset="0"/>
                <a:ea typeface="Cambria" pitchFamily="34" charset="-122"/>
                <a:cs typeface="Cambria" pitchFamily="34" charset="-120"/>
              </a:rPr>
              <a:t>84.6%</a:t>
            </a:r>
            <a:endParaRPr lang="en-US" sz="2400" dirty="0"/>
          </a:p>
        </p:txBody>
      </p:sp>
      <p:sp>
        <p:nvSpPr>
          <p:cNvPr id="25" name="Text 22"/>
          <p:cNvSpPr txBox="1"/>
          <p:nvPr/>
        </p:nvSpPr>
        <p:spPr>
          <a:xfrm>
            <a:off x="1783080" y="5468112"/>
            <a:ext cx="1371600" cy="411480"/>
          </a:xfrm>
          <a:prstGeom prst="rect">
            <a:avLst/>
          </a:prstGeom>
          <a:noFill/>
          <a:ln/>
        </p:spPr>
        <p:txBody>
          <a:bodyPr wrap="square" lIns="0" tIns="0" rIns="0" bIns="0" rtlCol="0" anchor="ctr"/>
          <a:lstStyle/>
          <a:p>
            <a:pPr indent="0" marL="0">
              <a:buNone/>
            </a:pPr>
            <a:r>
              <a:rPr lang="en-US" sz="1000" dirty="0">
                <a:solidFill>
                  <a:srgbClr val="3E4750"/>
                </a:solidFill>
                <a:latin typeface="Calibri" pitchFamily="34" charset="0"/>
                <a:ea typeface="Calibri" pitchFamily="34" charset="-122"/>
                <a:cs typeface="Calibri" pitchFamily="34" charset="-120"/>
              </a:rPr>
              <a:t>620,878 ÷ 733,920</a:t>
            </a:r>
            <a:endParaRPr lang="en-US" sz="1000" dirty="0"/>
          </a:p>
        </p:txBody>
      </p:sp>
      <p:sp>
        <p:nvSpPr>
          <p:cNvPr id="26" name="Text 23"/>
          <p:cNvSpPr txBox="1"/>
          <p:nvPr/>
        </p:nvSpPr>
        <p:spPr>
          <a:xfrm>
            <a:off x="713232" y="5925312"/>
            <a:ext cx="2377440" cy="365760"/>
          </a:xfrm>
          <a:prstGeom prst="rect">
            <a:avLst/>
          </a:prstGeom>
          <a:noFill/>
          <a:ln/>
        </p:spPr>
        <p:txBody>
          <a:bodyPr wrap="square" lIns="0" tIns="0" rIns="0" bIns="0" rtlCol="0" anchor="t"/>
          <a:lstStyle/>
          <a:p>
            <a:pPr indent="0" marL="0">
              <a:buNone/>
            </a:pPr>
            <a:r>
              <a:rPr lang="en-US" sz="950" i="1" dirty="0">
                <a:solidFill>
                  <a:srgbClr val="6B7278"/>
                </a:solidFill>
                <a:latin typeface="Calibri" pitchFamily="34" charset="0"/>
                <a:ea typeface="Calibri" pitchFamily="34" charset="-122"/>
                <a:cs typeface="Calibri" pitchFamily="34" charset="-120"/>
              </a:rPr>
              <a:t>run minutes ÷ planned minutes  (pins 2, 5, 6)</a:t>
            </a:r>
            <a:endParaRPr lang="en-US" sz="950" dirty="0"/>
          </a:p>
        </p:txBody>
      </p:sp>
      <p:sp>
        <p:nvSpPr>
          <p:cNvPr id="27" name="Shape 24"/>
          <p:cNvSpPr/>
          <p:nvPr/>
        </p:nvSpPr>
        <p:spPr>
          <a:xfrm>
            <a:off x="3355848" y="5120640"/>
            <a:ext cx="2651760" cy="1234440"/>
          </a:xfrm>
          <a:prstGeom prst="rect">
            <a:avLst/>
          </a:prstGeom>
          <a:solidFill>
            <a:srgbClr val="F4F4F1"/>
          </a:solidFill>
          <a:ln/>
        </p:spPr>
      </p:sp>
      <p:sp>
        <p:nvSpPr>
          <p:cNvPr id="28" name="Text 25"/>
          <p:cNvSpPr txBox="1"/>
          <p:nvPr/>
        </p:nvSpPr>
        <p:spPr>
          <a:xfrm>
            <a:off x="3520440" y="5212080"/>
            <a:ext cx="2377440" cy="228600"/>
          </a:xfrm>
          <a:prstGeom prst="rect">
            <a:avLst/>
          </a:prstGeom>
          <a:noFill/>
          <a:ln/>
        </p:spPr>
        <p:txBody>
          <a:bodyPr wrap="square" lIns="0" tIns="0" rIns="0" bIns="0" rtlCol="0" anchor="ctr"/>
          <a:lstStyle/>
          <a:p>
            <a:pPr indent="0" marL="0">
              <a:buNone/>
            </a:pPr>
            <a:r>
              <a:rPr lang="en-US" sz="950" b="1" spc="200" kern="0" dirty="0">
                <a:solidFill>
                  <a:srgbClr val="6B7278"/>
                </a:solidFill>
                <a:latin typeface="Calibri" pitchFamily="34" charset="0"/>
                <a:ea typeface="Calibri" pitchFamily="34" charset="-122"/>
                <a:cs typeface="Calibri" pitchFamily="34" charset="-120"/>
              </a:rPr>
              <a:t>PERFORMANCE</a:t>
            </a:r>
            <a:endParaRPr lang="en-US" sz="950" dirty="0"/>
          </a:p>
        </p:txBody>
      </p:sp>
      <p:sp>
        <p:nvSpPr>
          <p:cNvPr id="29" name="Text 26"/>
          <p:cNvSpPr txBox="1"/>
          <p:nvPr/>
        </p:nvSpPr>
        <p:spPr>
          <a:xfrm>
            <a:off x="3520440" y="5422392"/>
            <a:ext cx="1188720" cy="457200"/>
          </a:xfrm>
          <a:prstGeom prst="rect">
            <a:avLst/>
          </a:prstGeom>
          <a:noFill/>
          <a:ln/>
        </p:spPr>
        <p:txBody>
          <a:bodyPr wrap="square" lIns="0" tIns="0" rIns="0" bIns="0" rtlCol="0" anchor="ctr"/>
          <a:lstStyle/>
          <a:p>
            <a:pPr indent="0" marL="0">
              <a:buNone/>
            </a:pPr>
            <a:r>
              <a:rPr lang="en-US" sz="2400" dirty="0">
                <a:solidFill>
                  <a:srgbClr val="1A1D21"/>
                </a:solidFill>
                <a:latin typeface="Cambria" pitchFamily="34" charset="0"/>
                <a:ea typeface="Cambria" pitchFamily="34" charset="-122"/>
                <a:cs typeface="Cambria" pitchFamily="34" charset="-120"/>
              </a:rPr>
              <a:t>89.6%</a:t>
            </a:r>
            <a:endParaRPr lang="en-US" sz="2400" dirty="0"/>
          </a:p>
        </p:txBody>
      </p:sp>
      <p:sp>
        <p:nvSpPr>
          <p:cNvPr id="30" name="Text 27"/>
          <p:cNvSpPr txBox="1"/>
          <p:nvPr/>
        </p:nvSpPr>
        <p:spPr>
          <a:xfrm>
            <a:off x="4590288" y="5468112"/>
            <a:ext cx="1371600" cy="411480"/>
          </a:xfrm>
          <a:prstGeom prst="rect">
            <a:avLst/>
          </a:prstGeom>
          <a:noFill/>
          <a:ln/>
        </p:spPr>
        <p:txBody>
          <a:bodyPr wrap="square" lIns="0" tIns="0" rIns="0" bIns="0" rtlCol="0" anchor="ctr"/>
          <a:lstStyle/>
          <a:p>
            <a:pPr indent="0" marL="0">
              <a:buNone/>
            </a:pPr>
            <a:r>
              <a:rPr lang="en-US" sz="1000" dirty="0">
                <a:solidFill>
                  <a:srgbClr val="3E4750"/>
                </a:solidFill>
                <a:latin typeface="Calibri" pitchFamily="34" charset="0"/>
                <a:ea typeface="Calibri" pitchFamily="34" charset="-122"/>
                <a:cs typeface="Calibri" pitchFamily="34" charset="-120"/>
              </a:rPr>
              <a:t>actual ÷ ideal capability</a:t>
            </a:r>
            <a:endParaRPr lang="en-US" sz="1000" dirty="0"/>
          </a:p>
        </p:txBody>
      </p:sp>
      <p:sp>
        <p:nvSpPr>
          <p:cNvPr id="31" name="Text 28"/>
          <p:cNvSpPr txBox="1"/>
          <p:nvPr/>
        </p:nvSpPr>
        <p:spPr>
          <a:xfrm>
            <a:off x="3520440" y="5925312"/>
            <a:ext cx="2377440" cy="365760"/>
          </a:xfrm>
          <a:prstGeom prst="rect">
            <a:avLst/>
          </a:prstGeom>
          <a:noFill/>
          <a:ln/>
        </p:spPr>
        <p:txBody>
          <a:bodyPr wrap="square" lIns="0" tIns="0" rIns="0" bIns="0" rtlCol="0" anchor="t"/>
          <a:lstStyle/>
          <a:p>
            <a:pPr indent="0" marL="0">
              <a:buNone/>
            </a:pPr>
            <a:r>
              <a:rPr lang="en-US" sz="950" i="1" dirty="0">
                <a:solidFill>
                  <a:srgbClr val="6B7278"/>
                </a:solidFill>
                <a:latin typeface="Calibri" pitchFamily="34" charset="0"/>
                <a:ea typeface="Calibri" pitchFamily="34" charset="-122"/>
                <a:cs typeface="Calibri" pitchFamily="34" charset="-120"/>
              </a:rPr>
              <a:t>ideal speed from the machine master  (pin 3)</a:t>
            </a:r>
            <a:endParaRPr lang="en-US" sz="950" dirty="0"/>
          </a:p>
        </p:txBody>
      </p:sp>
      <p:sp>
        <p:nvSpPr>
          <p:cNvPr id="32" name="Shape 29"/>
          <p:cNvSpPr/>
          <p:nvPr/>
        </p:nvSpPr>
        <p:spPr>
          <a:xfrm>
            <a:off x="6163056" y="5120640"/>
            <a:ext cx="2651760" cy="1234440"/>
          </a:xfrm>
          <a:prstGeom prst="rect">
            <a:avLst/>
          </a:prstGeom>
          <a:solidFill>
            <a:srgbClr val="F4F4F1"/>
          </a:solidFill>
          <a:ln/>
        </p:spPr>
      </p:sp>
      <p:sp>
        <p:nvSpPr>
          <p:cNvPr id="33" name="Text 30"/>
          <p:cNvSpPr txBox="1"/>
          <p:nvPr/>
        </p:nvSpPr>
        <p:spPr>
          <a:xfrm>
            <a:off x="6327648" y="5212080"/>
            <a:ext cx="2377440" cy="228600"/>
          </a:xfrm>
          <a:prstGeom prst="rect">
            <a:avLst/>
          </a:prstGeom>
          <a:noFill/>
          <a:ln/>
        </p:spPr>
        <p:txBody>
          <a:bodyPr wrap="square" lIns="0" tIns="0" rIns="0" bIns="0" rtlCol="0" anchor="ctr"/>
          <a:lstStyle/>
          <a:p>
            <a:pPr indent="0" marL="0">
              <a:buNone/>
            </a:pPr>
            <a:r>
              <a:rPr lang="en-US" sz="950" b="1" spc="200" kern="0" dirty="0">
                <a:solidFill>
                  <a:srgbClr val="6B7278"/>
                </a:solidFill>
                <a:latin typeface="Calibri" pitchFamily="34" charset="0"/>
                <a:ea typeface="Calibri" pitchFamily="34" charset="-122"/>
                <a:cs typeface="Calibri" pitchFamily="34" charset="-120"/>
              </a:rPr>
              <a:t>QUALITY</a:t>
            </a:r>
            <a:endParaRPr lang="en-US" sz="950" dirty="0"/>
          </a:p>
        </p:txBody>
      </p:sp>
      <p:sp>
        <p:nvSpPr>
          <p:cNvPr id="34" name="Text 31"/>
          <p:cNvSpPr txBox="1"/>
          <p:nvPr/>
        </p:nvSpPr>
        <p:spPr>
          <a:xfrm>
            <a:off x="6327648" y="5422392"/>
            <a:ext cx="1188720" cy="457200"/>
          </a:xfrm>
          <a:prstGeom prst="rect">
            <a:avLst/>
          </a:prstGeom>
          <a:noFill/>
          <a:ln/>
        </p:spPr>
        <p:txBody>
          <a:bodyPr wrap="square" lIns="0" tIns="0" rIns="0" bIns="0" rtlCol="0" anchor="ctr"/>
          <a:lstStyle/>
          <a:p>
            <a:pPr indent="0" marL="0">
              <a:buNone/>
            </a:pPr>
            <a:r>
              <a:rPr lang="en-US" sz="2400" dirty="0">
                <a:solidFill>
                  <a:srgbClr val="1A1D21"/>
                </a:solidFill>
                <a:latin typeface="Cambria" pitchFamily="34" charset="0"/>
                <a:ea typeface="Cambria" pitchFamily="34" charset="-122"/>
                <a:cs typeface="Cambria" pitchFamily="34" charset="-120"/>
              </a:rPr>
              <a:t>97.6%</a:t>
            </a:r>
            <a:endParaRPr lang="en-US" sz="2400" dirty="0"/>
          </a:p>
        </p:txBody>
      </p:sp>
      <p:sp>
        <p:nvSpPr>
          <p:cNvPr id="35" name="Text 32"/>
          <p:cNvSpPr txBox="1"/>
          <p:nvPr/>
        </p:nvSpPr>
        <p:spPr>
          <a:xfrm>
            <a:off x="7397496" y="5468112"/>
            <a:ext cx="1371600" cy="411480"/>
          </a:xfrm>
          <a:prstGeom prst="rect">
            <a:avLst/>
          </a:prstGeom>
          <a:noFill/>
          <a:ln/>
        </p:spPr>
        <p:txBody>
          <a:bodyPr wrap="square" lIns="0" tIns="0" rIns="0" bIns="0" rtlCol="0" anchor="ctr"/>
          <a:lstStyle/>
          <a:p>
            <a:pPr indent="0" marL="0">
              <a:buNone/>
            </a:pPr>
            <a:r>
              <a:rPr lang="en-US" sz="1000" dirty="0">
                <a:solidFill>
                  <a:srgbClr val="3E4750"/>
                </a:solidFill>
                <a:latin typeface="Calibri" pitchFamily="34" charset="0"/>
                <a:ea typeface="Calibri" pitchFamily="34" charset="-122"/>
                <a:cs typeface="Calibri" pitchFamily="34" charset="-120"/>
              </a:rPr>
              <a:t>5,703,481 ÷ 5,842,931</a:t>
            </a:r>
            <a:endParaRPr lang="en-US" sz="1000" dirty="0"/>
          </a:p>
        </p:txBody>
      </p:sp>
      <p:sp>
        <p:nvSpPr>
          <p:cNvPr id="36" name="Text 33"/>
          <p:cNvSpPr txBox="1"/>
          <p:nvPr/>
        </p:nvSpPr>
        <p:spPr>
          <a:xfrm>
            <a:off x="6327648" y="5925312"/>
            <a:ext cx="2377440" cy="365760"/>
          </a:xfrm>
          <a:prstGeom prst="rect">
            <a:avLst/>
          </a:prstGeom>
          <a:noFill/>
          <a:ln/>
        </p:spPr>
        <p:txBody>
          <a:bodyPr wrap="square" lIns="0" tIns="0" rIns="0" bIns="0" rtlCol="0" anchor="t"/>
          <a:lstStyle/>
          <a:p>
            <a:pPr indent="0" marL="0">
              <a:buNone/>
            </a:pPr>
            <a:r>
              <a:rPr lang="en-US" sz="950" i="1" dirty="0">
                <a:solidFill>
                  <a:srgbClr val="6B7278"/>
                </a:solidFill>
                <a:latin typeface="Calibri" pitchFamily="34" charset="0"/>
                <a:ea typeface="Calibri" pitchFamily="34" charset="-122"/>
                <a:cs typeface="Calibri" pitchFamily="34" charset="-120"/>
              </a:rPr>
              <a:t>good ÷ total produced  (pin 4)</a:t>
            </a:r>
            <a:endParaRPr lang="en-US" sz="950" dirty="0"/>
          </a:p>
        </p:txBody>
      </p:sp>
      <p:sp>
        <p:nvSpPr>
          <p:cNvPr id="37" name="Shape 34"/>
          <p:cNvSpPr/>
          <p:nvPr/>
        </p:nvSpPr>
        <p:spPr>
          <a:xfrm>
            <a:off x="8970264" y="5120640"/>
            <a:ext cx="2651760" cy="1234440"/>
          </a:xfrm>
          <a:prstGeom prst="rect">
            <a:avLst/>
          </a:prstGeom>
          <a:solidFill>
            <a:srgbClr val="121518"/>
          </a:solidFill>
          <a:ln/>
        </p:spPr>
      </p:sp>
      <p:sp>
        <p:nvSpPr>
          <p:cNvPr id="38" name="Text 35"/>
          <p:cNvSpPr txBox="1"/>
          <p:nvPr/>
        </p:nvSpPr>
        <p:spPr>
          <a:xfrm>
            <a:off x="9134856" y="5212080"/>
            <a:ext cx="2377440" cy="228600"/>
          </a:xfrm>
          <a:prstGeom prst="rect">
            <a:avLst/>
          </a:prstGeom>
          <a:noFill/>
          <a:ln/>
        </p:spPr>
        <p:txBody>
          <a:bodyPr wrap="square" lIns="0" tIns="0" rIns="0" bIns="0" rtlCol="0" anchor="ctr"/>
          <a:lstStyle/>
          <a:p>
            <a:pPr indent="0" marL="0">
              <a:buNone/>
            </a:pPr>
            <a:r>
              <a:rPr lang="en-US" sz="950" b="1" spc="200" kern="0" dirty="0">
                <a:solidFill>
                  <a:srgbClr val="E0561F"/>
                </a:solidFill>
                <a:latin typeface="Calibri" pitchFamily="34" charset="0"/>
                <a:ea typeface="Calibri" pitchFamily="34" charset="-122"/>
                <a:cs typeface="Calibri" pitchFamily="34" charset="-120"/>
              </a:rPr>
              <a:t>OEE</a:t>
            </a:r>
            <a:endParaRPr lang="en-US" sz="950" dirty="0"/>
          </a:p>
        </p:txBody>
      </p:sp>
      <p:sp>
        <p:nvSpPr>
          <p:cNvPr id="39" name="Text 36"/>
          <p:cNvSpPr txBox="1"/>
          <p:nvPr/>
        </p:nvSpPr>
        <p:spPr>
          <a:xfrm>
            <a:off x="9134856" y="5422392"/>
            <a:ext cx="1188720" cy="457200"/>
          </a:xfrm>
          <a:prstGeom prst="rect">
            <a:avLst/>
          </a:prstGeom>
          <a:noFill/>
          <a:ln/>
        </p:spPr>
        <p:txBody>
          <a:bodyPr wrap="square" lIns="0" tIns="0" rIns="0" bIns="0" rtlCol="0" anchor="ctr"/>
          <a:lstStyle/>
          <a:p>
            <a:pPr indent="0" marL="0">
              <a:buNone/>
            </a:pPr>
            <a:r>
              <a:rPr lang="en-US" sz="2400" dirty="0">
                <a:solidFill>
                  <a:srgbClr val="FFFFFF"/>
                </a:solidFill>
                <a:latin typeface="Cambria" pitchFamily="34" charset="0"/>
                <a:ea typeface="Cambria" pitchFamily="34" charset="-122"/>
                <a:cs typeface="Cambria" pitchFamily="34" charset="-120"/>
              </a:rPr>
              <a:t>74.0%</a:t>
            </a:r>
            <a:endParaRPr lang="en-US" sz="2400" dirty="0"/>
          </a:p>
        </p:txBody>
      </p:sp>
      <p:sp>
        <p:nvSpPr>
          <p:cNvPr id="40" name="Text 37"/>
          <p:cNvSpPr txBox="1"/>
          <p:nvPr/>
        </p:nvSpPr>
        <p:spPr>
          <a:xfrm>
            <a:off x="10204704" y="5468112"/>
            <a:ext cx="1371600" cy="411480"/>
          </a:xfrm>
          <a:prstGeom prst="rect">
            <a:avLst/>
          </a:prstGeom>
          <a:noFill/>
          <a:ln/>
        </p:spPr>
        <p:txBody>
          <a:bodyPr wrap="square" lIns="0" tIns="0" rIns="0" bIns="0" rtlCol="0" anchor="ctr"/>
          <a:lstStyle/>
          <a:p>
            <a:pPr indent="0" marL="0">
              <a:buNone/>
            </a:pPr>
            <a:r>
              <a:rPr lang="en-US" sz="1000" dirty="0">
                <a:solidFill>
                  <a:srgbClr val="D5D9DC"/>
                </a:solidFill>
                <a:latin typeface="Calibri" pitchFamily="34" charset="0"/>
                <a:ea typeface="Calibri" pitchFamily="34" charset="-122"/>
                <a:cs typeface="Calibri" pitchFamily="34" charset="-120"/>
              </a:rPr>
              <a:t>0.846 × 0.896 × 0.976</a:t>
            </a:r>
            <a:endParaRPr lang="en-US" sz="1000" dirty="0"/>
          </a:p>
        </p:txBody>
      </p:sp>
      <p:sp>
        <p:nvSpPr>
          <p:cNvPr id="41" name="Text 38"/>
          <p:cNvSpPr txBox="1"/>
          <p:nvPr/>
        </p:nvSpPr>
        <p:spPr>
          <a:xfrm>
            <a:off x="9134856" y="5925312"/>
            <a:ext cx="2377440" cy="365760"/>
          </a:xfrm>
          <a:prstGeom prst="rect">
            <a:avLst/>
          </a:prstGeom>
          <a:noFill/>
          <a:ln/>
        </p:spPr>
        <p:txBody>
          <a:bodyPr wrap="square" lIns="0" tIns="0" rIns="0" bIns="0" rtlCol="0" anchor="t"/>
          <a:lstStyle/>
          <a:p>
            <a:pPr indent="0" marL="0">
              <a:buNone/>
            </a:pPr>
            <a:r>
              <a:rPr lang="en-US" sz="950" i="1" dirty="0">
                <a:solidFill>
                  <a:srgbClr val="AEB4B9"/>
                </a:solidFill>
                <a:latin typeface="Calibri" pitchFamily="34" charset="0"/>
                <a:ea typeface="Calibri" pitchFamily="34" charset="-122"/>
                <a:cs typeface="Calibri" pitchFamily="34" charset="-120"/>
              </a:rPr>
              <a:t>the three losses multiplied  (pin 1)</a:t>
            </a:r>
            <a:endParaRPr lang="en-US" sz="950" dirty="0"/>
          </a:p>
        </p:txBody>
      </p:sp>
      <p:sp>
        <p:nvSpPr>
          <p:cNvPr id="42" name="Text 39"/>
          <p:cNvSpPr txBox="1"/>
          <p:nvPr/>
        </p:nvSpPr>
        <p:spPr>
          <a:xfrm>
            <a:off x="548640" y="6446520"/>
            <a:ext cx="9601200" cy="228600"/>
          </a:xfrm>
          <a:prstGeom prst="rect">
            <a:avLst/>
          </a:prstGeom>
          <a:noFill/>
          <a:ln/>
        </p:spPr>
        <p:txBody>
          <a:bodyPr wrap="square" lIns="0" tIns="0" rIns="0" bIns="0" rtlCol="0" anchor="ctr"/>
          <a:lstStyle/>
          <a:p>
            <a:pPr indent="0" marL="0">
              <a:buNone/>
            </a:pPr>
            <a:r>
              <a:rPr lang="en-US" sz="900" i="1" dirty="0">
                <a:solidFill>
                  <a:srgbClr val="6B7278"/>
                </a:solidFill>
                <a:latin typeface="Calibri" pitchFamily="34" charset="0"/>
                <a:ea typeface="Calibri" pitchFamily="34" charset="-122"/>
                <a:cs typeface="Calibri" pitchFamily="34" charset="-120"/>
              </a:rPr>
              <a:t>Demonstration dataset: fictional operational data modelled on client brand accounts. Not the company's production records.</a:t>
            </a:r>
            <a:endParaRPr lang="en-US" sz="900" dirty="0"/>
          </a:p>
        </p:txBody>
      </p:sp>
      <p:sp>
        <p:nvSpPr>
          <p:cNvPr id="43" name="Text 40"/>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4F1"/>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11</a:t>
            </a:r>
            <a:pPr indent="0" marL="0">
              <a:buNone/>
            </a:pPr>
            <a:r>
              <a:rPr lang="en-US" sz="1050" spc="300" kern="0" dirty="0">
                <a:solidFill>
                  <a:srgbClr val="6B7278"/>
                </a:solidFill>
                <a:latin typeface="Calibri" pitchFamily="34" charset="0"/>
                <a:ea typeface="Calibri" pitchFamily="34" charset="-122"/>
                <a:cs typeface="Calibri" pitchFamily="34" charset="-120"/>
              </a:rPr>
              <a:t>   WHAT CHANGED?</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indent="0" marL="0">
              <a:buNone/>
            </a:pPr>
            <a:r>
              <a:rPr lang="en-US" sz="3600" dirty="0">
                <a:solidFill>
                  <a:srgbClr val="1A1D21"/>
                </a:solidFill>
                <a:latin typeface="Cambria" pitchFamily="34" charset="0"/>
                <a:ea typeface="Cambria" pitchFamily="34" charset="-122"/>
                <a:cs typeface="Cambria" pitchFamily="34" charset="-120"/>
              </a:rPr>
              <a:t>What changed?</a:t>
            </a:r>
            <a:endParaRPr lang="en-US" sz="3600" dirty="0"/>
          </a:p>
        </p:txBody>
      </p:sp>
      <p:sp>
        <p:nvSpPr>
          <p:cNvPr id="4" name="Text 2"/>
          <p:cNvSpPr txBox="1"/>
          <p:nvPr/>
        </p:nvSpPr>
        <p:spPr>
          <a:xfrm>
            <a:off x="548640" y="1600200"/>
            <a:ext cx="3657600" cy="274320"/>
          </a:xfrm>
          <a:prstGeom prst="rect">
            <a:avLst/>
          </a:prstGeom>
          <a:noFill/>
          <a:ln/>
        </p:spPr>
        <p:txBody>
          <a:bodyPr wrap="square" lIns="0" tIns="0" rIns="0" bIns="0" rtlCol="0" anchor="ctr"/>
          <a:lstStyle/>
          <a:p>
            <a:pPr indent="0" marL="0">
              <a:buNone/>
            </a:pPr>
            <a:r>
              <a:rPr lang="en-US" sz="1000" b="1" spc="300" kern="0" dirty="0">
                <a:solidFill>
                  <a:srgbClr val="6B7278"/>
                </a:solidFill>
                <a:latin typeface="Calibri" pitchFamily="34" charset="0"/>
                <a:ea typeface="Calibri" pitchFamily="34" charset="-122"/>
                <a:cs typeface="Calibri" pitchFamily="34" charset="-120"/>
              </a:rPr>
              <a:t>BEFORE</a:t>
            </a:r>
            <a:endParaRPr lang="en-US" sz="1000" dirty="0"/>
          </a:p>
        </p:txBody>
      </p:sp>
      <p:sp>
        <p:nvSpPr>
          <p:cNvPr id="5" name="Text 3"/>
          <p:cNvSpPr txBox="1"/>
          <p:nvPr/>
        </p:nvSpPr>
        <p:spPr>
          <a:xfrm>
            <a:off x="5669280" y="1600200"/>
            <a:ext cx="3657600" cy="274320"/>
          </a:xfrm>
          <a:prstGeom prst="rect">
            <a:avLst/>
          </a:prstGeom>
          <a:noFill/>
          <a:ln/>
        </p:spPr>
        <p:txBody>
          <a:bodyPr wrap="square" lIns="0" tIns="0" rIns="0" bIns="0" rtlCol="0" anchor="ctr"/>
          <a:lstStyle/>
          <a:p>
            <a:pPr indent="0" marL="0">
              <a:buNone/>
            </a:pPr>
            <a:r>
              <a:rPr lang="en-US" sz="1000" b="1" spc="300" kern="0" dirty="0">
                <a:solidFill>
                  <a:srgbClr val="E0561F"/>
                </a:solidFill>
                <a:latin typeface="Calibri" pitchFamily="34" charset="0"/>
                <a:ea typeface="Calibri" pitchFamily="34" charset="-122"/>
                <a:cs typeface="Calibri" pitchFamily="34" charset="-120"/>
              </a:rPr>
              <a:t>WITH THE MES</a:t>
            </a:r>
            <a:endParaRPr lang="en-US" sz="1000" dirty="0"/>
          </a:p>
        </p:txBody>
      </p:sp>
      <p:sp>
        <p:nvSpPr>
          <p:cNvPr id="6" name="Shape 4"/>
          <p:cNvSpPr/>
          <p:nvPr/>
        </p:nvSpPr>
        <p:spPr>
          <a:xfrm>
            <a:off x="548640" y="2569464"/>
            <a:ext cx="11064240" cy="0"/>
          </a:xfrm>
          <a:prstGeom prst="line">
            <a:avLst/>
          </a:prstGeom>
          <a:noFill/>
          <a:ln w="9525">
            <a:solidFill>
              <a:srgbClr val="D6D8D6"/>
            </a:solidFill>
            <a:prstDash val="solid"/>
          </a:ln>
        </p:spPr>
      </p:sp>
      <p:sp>
        <p:nvSpPr>
          <p:cNvPr id="7" name="Text 5"/>
          <p:cNvSpPr txBox="1"/>
          <p:nvPr/>
        </p:nvSpPr>
        <p:spPr>
          <a:xfrm>
            <a:off x="548640" y="1965960"/>
            <a:ext cx="4206240" cy="548640"/>
          </a:xfrm>
          <a:prstGeom prst="rect">
            <a:avLst/>
          </a:prstGeom>
          <a:noFill/>
          <a:ln/>
        </p:spPr>
        <p:txBody>
          <a:bodyPr wrap="square" lIns="0" tIns="0" rIns="0" bIns="0" rtlCol="0" anchor="ctr"/>
          <a:lstStyle/>
          <a:p>
            <a:pPr indent="0" marL="0">
              <a:buNone/>
            </a:pPr>
            <a:r>
              <a:rPr lang="en-US" sz="1600" dirty="0">
                <a:solidFill>
                  <a:srgbClr val="6B7278"/>
                </a:solidFill>
                <a:latin typeface="Calibri" pitchFamily="34" charset="0"/>
                <a:ea typeface="Calibri" pitchFamily="34" charset="-122"/>
                <a:cs typeface="Calibri" pitchFamily="34" charset="-120"/>
              </a:rPr>
              <a:t>Disconnected information</a:t>
            </a:r>
            <a:endParaRPr lang="en-US" sz="1600" dirty="0"/>
          </a:p>
        </p:txBody>
      </p:sp>
      <p:sp>
        <p:nvSpPr>
          <p:cNvPr id="8" name="Text 6"/>
          <p:cNvSpPr txBox="1"/>
          <p:nvPr/>
        </p:nvSpPr>
        <p:spPr>
          <a:xfrm>
            <a:off x="4846320" y="1965960"/>
            <a:ext cx="640080" cy="548640"/>
          </a:xfrm>
          <a:prstGeom prst="rect">
            <a:avLst/>
          </a:prstGeom>
          <a:noFill/>
          <a:ln/>
        </p:spPr>
        <p:txBody>
          <a:bodyPr wrap="square" lIns="0" tIns="0" rIns="0" bIns="0" rtlCol="0" anchor="ctr"/>
          <a:lstStyle/>
          <a:p>
            <a:pPr algn="ctr" indent="0" marL="0">
              <a:buNone/>
            </a:pPr>
            <a:r>
              <a:rPr lang="en-US" sz="1800" dirty="0">
                <a:solidFill>
                  <a:srgbClr val="E0561F"/>
                </a:solidFill>
                <a:latin typeface="Calibri" pitchFamily="34" charset="0"/>
                <a:ea typeface="Calibri" pitchFamily="34" charset="-122"/>
                <a:cs typeface="Calibri" pitchFamily="34" charset="-120"/>
              </a:rPr>
              <a:t>→</a:t>
            </a:r>
            <a:endParaRPr lang="en-US" sz="1800" dirty="0"/>
          </a:p>
        </p:txBody>
      </p:sp>
      <p:sp>
        <p:nvSpPr>
          <p:cNvPr id="9" name="Text 7"/>
          <p:cNvSpPr txBox="1"/>
          <p:nvPr/>
        </p:nvSpPr>
        <p:spPr>
          <a:xfrm>
            <a:off x="5669280" y="1965960"/>
            <a:ext cx="5943600" cy="548640"/>
          </a:xfrm>
          <a:prstGeom prst="rect">
            <a:avLst/>
          </a:prstGeom>
          <a:noFill/>
          <a:ln/>
        </p:spPr>
        <p:txBody>
          <a:bodyPr wrap="square" lIns="0" tIns="0" rIns="0" bIns="0" rtlCol="0" anchor="ctr"/>
          <a:lstStyle/>
          <a:p>
            <a:pPr indent="0" marL="0">
              <a:buNone/>
            </a:pPr>
            <a:r>
              <a:rPr lang="en-US" sz="1900" dirty="0">
                <a:solidFill>
                  <a:srgbClr val="1A1D21"/>
                </a:solidFill>
                <a:latin typeface="Cambria" pitchFamily="34" charset="0"/>
                <a:ea typeface="Cambria" pitchFamily="34" charset="-122"/>
                <a:cs typeface="Cambria" pitchFamily="34" charset="-120"/>
              </a:rPr>
              <a:t>Connected information</a:t>
            </a:r>
            <a:endParaRPr lang="en-US" sz="1900" dirty="0"/>
          </a:p>
        </p:txBody>
      </p:sp>
      <p:sp>
        <p:nvSpPr>
          <p:cNvPr id="10" name="Shape 8"/>
          <p:cNvSpPr/>
          <p:nvPr/>
        </p:nvSpPr>
        <p:spPr>
          <a:xfrm>
            <a:off x="548640" y="3227832"/>
            <a:ext cx="11064240" cy="0"/>
          </a:xfrm>
          <a:prstGeom prst="line">
            <a:avLst/>
          </a:prstGeom>
          <a:noFill/>
          <a:ln w="9525">
            <a:solidFill>
              <a:srgbClr val="D6D8D6"/>
            </a:solidFill>
            <a:prstDash val="solid"/>
          </a:ln>
        </p:spPr>
      </p:sp>
      <p:sp>
        <p:nvSpPr>
          <p:cNvPr id="11" name="Text 9"/>
          <p:cNvSpPr txBox="1"/>
          <p:nvPr/>
        </p:nvSpPr>
        <p:spPr>
          <a:xfrm>
            <a:off x="548640" y="2624328"/>
            <a:ext cx="4206240" cy="548640"/>
          </a:xfrm>
          <a:prstGeom prst="rect">
            <a:avLst/>
          </a:prstGeom>
          <a:noFill/>
          <a:ln/>
        </p:spPr>
        <p:txBody>
          <a:bodyPr wrap="square" lIns="0" tIns="0" rIns="0" bIns="0" rtlCol="0" anchor="ctr"/>
          <a:lstStyle/>
          <a:p>
            <a:pPr indent="0" marL="0">
              <a:buNone/>
            </a:pPr>
            <a:r>
              <a:rPr lang="en-US" sz="1600" dirty="0">
                <a:solidFill>
                  <a:srgbClr val="6B7278"/>
                </a:solidFill>
                <a:latin typeface="Calibri" pitchFamily="34" charset="0"/>
                <a:ea typeface="Calibri" pitchFamily="34" charset="-122"/>
                <a:cs typeface="Calibri" pitchFamily="34" charset="-120"/>
              </a:rPr>
              <a:t>Manual investigation</a:t>
            </a:r>
            <a:endParaRPr lang="en-US" sz="1600" dirty="0"/>
          </a:p>
        </p:txBody>
      </p:sp>
      <p:sp>
        <p:nvSpPr>
          <p:cNvPr id="12" name="Text 10"/>
          <p:cNvSpPr txBox="1"/>
          <p:nvPr/>
        </p:nvSpPr>
        <p:spPr>
          <a:xfrm>
            <a:off x="4846320" y="2624328"/>
            <a:ext cx="640080" cy="548640"/>
          </a:xfrm>
          <a:prstGeom prst="rect">
            <a:avLst/>
          </a:prstGeom>
          <a:noFill/>
          <a:ln/>
        </p:spPr>
        <p:txBody>
          <a:bodyPr wrap="square" lIns="0" tIns="0" rIns="0" bIns="0" rtlCol="0" anchor="ctr"/>
          <a:lstStyle/>
          <a:p>
            <a:pPr algn="ctr" indent="0" marL="0">
              <a:buNone/>
            </a:pPr>
            <a:r>
              <a:rPr lang="en-US" sz="1800" dirty="0">
                <a:solidFill>
                  <a:srgbClr val="E0561F"/>
                </a:solidFill>
                <a:latin typeface="Calibri" pitchFamily="34" charset="0"/>
                <a:ea typeface="Calibri" pitchFamily="34" charset="-122"/>
                <a:cs typeface="Calibri" pitchFamily="34" charset="-120"/>
              </a:rPr>
              <a:t>→</a:t>
            </a:r>
            <a:endParaRPr lang="en-US" sz="1800" dirty="0"/>
          </a:p>
        </p:txBody>
      </p:sp>
      <p:sp>
        <p:nvSpPr>
          <p:cNvPr id="13" name="Text 11"/>
          <p:cNvSpPr txBox="1"/>
          <p:nvPr/>
        </p:nvSpPr>
        <p:spPr>
          <a:xfrm>
            <a:off x="5669280" y="2624328"/>
            <a:ext cx="5943600" cy="548640"/>
          </a:xfrm>
          <a:prstGeom prst="rect">
            <a:avLst/>
          </a:prstGeom>
          <a:noFill/>
          <a:ln/>
        </p:spPr>
        <p:txBody>
          <a:bodyPr wrap="square" lIns="0" tIns="0" rIns="0" bIns="0" rtlCol="0" anchor="ctr"/>
          <a:lstStyle/>
          <a:p>
            <a:pPr indent="0" marL="0">
              <a:buNone/>
            </a:pPr>
            <a:r>
              <a:rPr lang="en-US" sz="1900" dirty="0">
                <a:solidFill>
                  <a:srgbClr val="1A1D21"/>
                </a:solidFill>
                <a:latin typeface="Cambria" pitchFamily="34" charset="0"/>
                <a:ea typeface="Cambria" pitchFamily="34" charset="-122"/>
                <a:cs typeface="Cambria" pitchFamily="34" charset="-120"/>
              </a:rPr>
              <a:t>Structured retrieval</a:t>
            </a:r>
            <a:endParaRPr lang="en-US" sz="1900" dirty="0"/>
          </a:p>
        </p:txBody>
      </p:sp>
      <p:sp>
        <p:nvSpPr>
          <p:cNvPr id="14" name="Shape 12"/>
          <p:cNvSpPr/>
          <p:nvPr/>
        </p:nvSpPr>
        <p:spPr>
          <a:xfrm>
            <a:off x="548640" y="3886200"/>
            <a:ext cx="11064240" cy="0"/>
          </a:xfrm>
          <a:prstGeom prst="line">
            <a:avLst/>
          </a:prstGeom>
          <a:noFill/>
          <a:ln w="9525">
            <a:solidFill>
              <a:srgbClr val="D6D8D6"/>
            </a:solidFill>
            <a:prstDash val="solid"/>
          </a:ln>
        </p:spPr>
      </p:sp>
      <p:sp>
        <p:nvSpPr>
          <p:cNvPr id="15" name="Text 13"/>
          <p:cNvSpPr txBox="1"/>
          <p:nvPr/>
        </p:nvSpPr>
        <p:spPr>
          <a:xfrm>
            <a:off x="548640" y="3282696"/>
            <a:ext cx="4206240" cy="548640"/>
          </a:xfrm>
          <a:prstGeom prst="rect">
            <a:avLst/>
          </a:prstGeom>
          <a:noFill/>
          <a:ln/>
        </p:spPr>
        <p:txBody>
          <a:bodyPr wrap="square" lIns="0" tIns="0" rIns="0" bIns="0" rtlCol="0" anchor="ctr"/>
          <a:lstStyle/>
          <a:p>
            <a:pPr indent="0" marL="0">
              <a:buNone/>
            </a:pPr>
            <a:r>
              <a:rPr lang="en-US" sz="1600" dirty="0">
                <a:solidFill>
                  <a:srgbClr val="6B7278"/>
                </a:solidFill>
                <a:latin typeface="Calibri" pitchFamily="34" charset="0"/>
                <a:ea typeface="Calibri" pitchFamily="34" charset="-122"/>
                <a:cs typeface="Calibri" pitchFamily="34" charset="-120"/>
              </a:rPr>
              <a:t>Batch-number searching</a:t>
            </a:r>
            <a:endParaRPr lang="en-US" sz="1600" dirty="0"/>
          </a:p>
        </p:txBody>
      </p:sp>
      <p:sp>
        <p:nvSpPr>
          <p:cNvPr id="16" name="Text 14"/>
          <p:cNvSpPr txBox="1"/>
          <p:nvPr/>
        </p:nvSpPr>
        <p:spPr>
          <a:xfrm>
            <a:off x="4846320" y="3282696"/>
            <a:ext cx="640080" cy="548640"/>
          </a:xfrm>
          <a:prstGeom prst="rect">
            <a:avLst/>
          </a:prstGeom>
          <a:noFill/>
          <a:ln/>
        </p:spPr>
        <p:txBody>
          <a:bodyPr wrap="square" lIns="0" tIns="0" rIns="0" bIns="0" rtlCol="0" anchor="ctr"/>
          <a:lstStyle/>
          <a:p>
            <a:pPr algn="ctr" indent="0" marL="0">
              <a:buNone/>
            </a:pPr>
            <a:r>
              <a:rPr lang="en-US" sz="1800" dirty="0">
                <a:solidFill>
                  <a:srgbClr val="E0561F"/>
                </a:solidFill>
                <a:latin typeface="Calibri" pitchFamily="34" charset="0"/>
                <a:ea typeface="Calibri" pitchFamily="34" charset="-122"/>
                <a:cs typeface="Calibri" pitchFamily="34" charset="-120"/>
              </a:rPr>
              <a:t>→</a:t>
            </a:r>
            <a:endParaRPr lang="en-US" sz="1800" dirty="0"/>
          </a:p>
        </p:txBody>
      </p:sp>
      <p:sp>
        <p:nvSpPr>
          <p:cNvPr id="17" name="Text 15"/>
          <p:cNvSpPr txBox="1"/>
          <p:nvPr/>
        </p:nvSpPr>
        <p:spPr>
          <a:xfrm>
            <a:off x="5669280" y="3282696"/>
            <a:ext cx="5943600" cy="548640"/>
          </a:xfrm>
          <a:prstGeom prst="rect">
            <a:avLst/>
          </a:prstGeom>
          <a:noFill/>
          <a:ln/>
        </p:spPr>
        <p:txBody>
          <a:bodyPr wrap="square" lIns="0" tIns="0" rIns="0" bIns="0" rtlCol="0" anchor="ctr"/>
          <a:lstStyle/>
          <a:p>
            <a:pPr indent="0" marL="0">
              <a:buNone/>
            </a:pPr>
            <a:r>
              <a:rPr lang="en-US" sz="1900" dirty="0">
                <a:solidFill>
                  <a:srgbClr val="1A1D21"/>
                </a:solidFill>
                <a:latin typeface="Cambria" pitchFamily="34" charset="0"/>
                <a:ea typeface="Cambria" pitchFamily="34" charset="-122"/>
                <a:cs typeface="Cambria" pitchFamily="34" charset="-120"/>
              </a:rPr>
              <a:t>Four-field identification + Production Run ID</a:t>
            </a:r>
            <a:endParaRPr lang="en-US" sz="1900" dirty="0"/>
          </a:p>
        </p:txBody>
      </p:sp>
      <p:sp>
        <p:nvSpPr>
          <p:cNvPr id="18" name="Shape 16"/>
          <p:cNvSpPr/>
          <p:nvPr/>
        </p:nvSpPr>
        <p:spPr>
          <a:xfrm>
            <a:off x="548640" y="4544568"/>
            <a:ext cx="11064240" cy="0"/>
          </a:xfrm>
          <a:prstGeom prst="line">
            <a:avLst/>
          </a:prstGeom>
          <a:noFill/>
          <a:ln w="9525">
            <a:solidFill>
              <a:srgbClr val="D6D8D6"/>
            </a:solidFill>
            <a:prstDash val="solid"/>
          </a:ln>
        </p:spPr>
      </p:sp>
      <p:sp>
        <p:nvSpPr>
          <p:cNvPr id="19" name="Text 17"/>
          <p:cNvSpPr txBox="1"/>
          <p:nvPr/>
        </p:nvSpPr>
        <p:spPr>
          <a:xfrm>
            <a:off x="548640" y="3941064"/>
            <a:ext cx="4206240" cy="548640"/>
          </a:xfrm>
          <a:prstGeom prst="rect">
            <a:avLst/>
          </a:prstGeom>
          <a:noFill/>
          <a:ln/>
        </p:spPr>
        <p:txBody>
          <a:bodyPr wrap="square" lIns="0" tIns="0" rIns="0" bIns="0" rtlCol="0" anchor="ctr"/>
          <a:lstStyle/>
          <a:p>
            <a:pPr indent="0" marL="0">
              <a:buNone/>
            </a:pPr>
            <a:r>
              <a:rPr lang="en-US" sz="1600" dirty="0">
                <a:solidFill>
                  <a:srgbClr val="6B7278"/>
                </a:solidFill>
                <a:latin typeface="Calibri" pitchFamily="34" charset="0"/>
                <a:ea typeface="Calibri" pitchFamily="34" charset="-122"/>
                <a:cs typeface="Calibri" pitchFamily="34" charset="-120"/>
              </a:rPr>
              <a:t>Manual reporting</a:t>
            </a:r>
            <a:endParaRPr lang="en-US" sz="1600" dirty="0"/>
          </a:p>
        </p:txBody>
      </p:sp>
      <p:sp>
        <p:nvSpPr>
          <p:cNvPr id="20" name="Text 18"/>
          <p:cNvSpPr txBox="1"/>
          <p:nvPr/>
        </p:nvSpPr>
        <p:spPr>
          <a:xfrm>
            <a:off x="4846320" y="3941064"/>
            <a:ext cx="640080" cy="548640"/>
          </a:xfrm>
          <a:prstGeom prst="rect">
            <a:avLst/>
          </a:prstGeom>
          <a:noFill/>
          <a:ln/>
        </p:spPr>
        <p:txBody>
          <a:bodyPr wrap="square" lIns="0" tIns="0" rIns="0" bIns="0" rtlCol="0" anchor="ctr"/>
          <a:lstStyle/>
          <a:p>
            <a:pPr algn="ctr" indent="0" marL="0">
              <a:buNone/>
            </a:pPr>
            <a:r>
              <a:rPr lang="en-US" sz="1800" dirty="0">
                <a:solidFill>
                  <a:srgbClr val="E0561F"/>
                </a:solidFill>
                <a:latin typeface="Calibri" pitchFamily="34" charset="0"/>
                <a:ea typeface="Calibri" pitchFamily="34" charset="-122"/>
                <a:cs typeface="Calibri" pitchFamily="34" charset="-120"/>
              </a:rPr>
              <a:t>→</a:t>
            </a:r>
            <a:endParaRPr lang="en-US" sz="1800" dirty="0"/>
          </a:p>
        </p:txBody>
      </p:sp>
      <p:sp>
        <p:nvSpPr>
          <p:cNvPr id="21" name="Text 19"/>
          <p:cNvSpPr txBox="1"/>
          <p:nvPr/>
        </p:nvSpPr>
        <p:spPr>
          <a:xfrm>
            <a:off x="5669280" y="3941064"/>
            <a:ext cx="5943600" cy="548640"/>
          </a:xfrm>
          <a:prstGeom prst="rect">
            <a:avLst/>
          </a:prstGeom>
          <a:noFill/>
          <a:ln/>
        </p:spPr>
        <p:txBody>
          <a:bodyPr wrap="square" lIns="0" tIns="0" rIns="0" bIns="0" rtlCol="0" anchor="ctr"/>
          <a:lstStyle/>
          <a:p>
            <a:pPr indent="0" marL="0">
              <a:buNone/>
            </a:pPr>
            <a:r>
              <a:rPr lang="en-US" sz="1900" dirty="0">
                <a:solidFill>
                  <a:srgbClr val="1A1D21"/>
                </a:solidFill>
                <a:latin typeface="Cambria" pitchFamily="34" charset="0"/>
                <a:ea typeface="Cambria" pitchFamily="34" charset="-122"/>
                <a:cs typeface="Cambria" pitchFamily="34" charset="-120"/>
              </a:rPr>
              <a:t>Dashboard-based reporting</a:t>
            </a:r>
            <a:endParaRPr lang="en-US" sz="1900" dirty="0"/>
          </a:p>
        </p:txBody>
      </p:sp>
      <p:sp>
        <p:nvSpPr>
          <p:cNvPr id="22" name="Shape 20"/>
          <p:cNvSpPr/>
          <p:nvPr/>
        </p:nvSpPr>
        <p:spPr>
          <a:xfrm>
            <a:off x="548640" y="5202936"/>
            <a:ext cx="11064240" cy="0"/>
          </a:xfrm>
          <a:prstGeom prst="line">
            <a:avLst/>
          </a:prstGeom>
          <a:noFill/>
          <a:ln w="9525">
            <a:solidFill>
              <a:srgbClr val="D6D8D6"/>
            </a:solidFill>
            <a:prstDash val="solid"/>
          </a:ln>
        </p:spPr>
      </p:sp>
      <p:sp>
        <p:nvSpPr>
          <p:cNvPr id="23" name="Text 21"/>
          <p:cNvSpPr txBox="1"/>
          <p:nvPr/>
        </p:nvSpPr>
        <p:spPr>
          <a:xfrm>
            <a:off x="548640" y="4599432"/>
            <a:ext cx="4206240" cy="548640"/>
          </a:xfrm>
          <a:prstGeom prst="rect">
            <a:avLst/>
          </a:prstGeom>
          <a:noFill/>
          <a:ln/>
        </p:spPr>
        <p:txBody>
          <a:bodyPr wrap="square" lIns="0" tIns="0" rIns="0" bIns="0" rtlCol="0" anchor="ctr"/>
          <a:lstStyle/>
          <a:p>
            <a:pPr indent="0" marL="0">
              <a:buNone/>
            </a:pPr>
            <a:r>
              <a:rPr lang="en-US" sz="1600" dirty="0">
                <a:solidFill>
                  <a:srgbClr val="6B7278"/>
                </a:solidFill>
                <a:latin typeface="Calibri" pitchFamily="34" charset="0"/>
                <a:ea typeface="Calibri" pitchFamily="34" charset="-122"/>
                <a:cs typeface="Calibri" pitchFamily="34" charset="-120"/>
              </a:rPr>
              <a:t>A single loss number</a:t>
            </a:r>
            <a:endParaRPr lang="en-US" sz="1600" dirty="0"/>
          </a:p>
        </p:txBody>
      </p:sp>
      <p:sp>
        <p:nvSpPr>
          <p:cNvPr id="24" name="Text 22"/>
          <p:cNvSpPr txBox="1"/>
          <p:nvPr/>
        </p:nvSpPr>
        <p:spPr>
          <a:xfrm>
            <a:off x="4846320" y="4599432"/>
            <a:ext cx="640080" cy="548640"/>
          </a:xfrm>
          <a:prstGeom prst="rect">
            <a:avLst/>
          </a:prstGeom>
          <a:noFill/>
          <a:ln/>
        </p:spPr>
        <p:txBody>
          <a:bodyPr wrap="square" lIns="0" tIns="0" rIns="0" bIns="0" rtlCol="0" anchor="ctr"/>
          <a:lstStyle/>
          <a:p>
            <a:pPr algn="ctr" indent="0" marL="0">
              <a:buNone/>
            </a:pPr>
            <a:r>
              <a:rPr lang="en-US" sz="1800" dirty="0">
                <a:solidFill>
                  <a:srgbClr val="E0561F"/>
                </a:solidFill>
                <a:latin typeface="Calibri" pitchFamily="34" charset="0"/>
                <a:ea typeface="Calibri" pitchFamily="34" charset="-122"/>
                <a:cs typeface="Calibri" pitchFamily="34" charset="-120"/>
              </a:rPr>
              <a:t>→</a:t>
            </a:r>
            <a:endParaRPr lang="en-US" sz="1800" dirty="0"/>
          </a:p>
        </p:txBody>
      </p:sp>
      <p:sp>
        <p:nvSpPr>
          <p:cNvPr id="25" name="Text 23"/>
          <p:cNvSpPr txBox="1"/>
          <p:nvPr/>
        </p:nvSpPr>
        <p:spPr>
          <a:xfrm>
            <a:off x="5669280" y="4599432"/>
            <a:ext cx="5943600" cy="548640"/>
          </a:xfrm>
          <a:prstGeom prst="rect">
            <a:avLst/>
          </a:prstGeom>
          <a:noFill/>
          <a:ln/>
        </p:spPr>
        <p:txBody>
          <a:bodyPr wrap="square" lIns="0" tIns="0" rIns="0" bIns="0" rtlCol="0" anchor="ctr"/>
          <a:lstStyle/>
          <a:p>
            <a:pPr indent="0" marL="0">
              <a:buNone/>
            </a:pPr>
            <a:r>
              <a:rPr lang="en-US" sz="1900" dirty="0">
                <a:solidFill>
                  <a:srgbClr val="1A1D21"/>
                </a:solidFill>
                <a:latin typeface="Cambria" pitchFamily="34" charset="0"/>
                <a:ea typeface="Cambria" pitchFamily="34" charset="-122"/>
                <a:cs typeface="Cambria" pitchFamily="34" charset="-120"/>
              </a:rPr>
              <a:t>Availability + Performance + Quality</a:t>
            </a:r>
            <a:endParaRPr lang="en-US" sz="1900" dirty="0"/>
          </a:p>
        </p:txBody>
      </p:sp>
      <p:sp>
        <p:nvSpPr>
          <p:cNvPr id="26" name="Shape 24"/>
          <p:cNvSpPr/>
          <p:nvPr/>
        </p:nvSpPr>
        <p:spPr>
          <a:xfrm>
            <a:off x="548640" y="5861304"/>
            <a:ext cx="11064240" cy="0"/>
          </a:xfrm>
          <a:prstGeom prst="line">
            <a:avLst/>
          </a:prstGeom>
          <a:noFill/>
          <a:ln w="9525">
            <a:solidFill>
              <a:srgbClr val="D6D8D6"/>
            </a:solidFill>
            <a:prstDash val="solid"/>
          </a:ln>
        </p:spPr>
      </p:sp>
      <p:sp>
        <p:nvSpPr>
          <p:cNvPr id="27" name="Text 25"/>
          <p:cNvSpPr txBox="1"/>
          <p:nvPr/>
        </p:nvSpPr>
        <p:spPr>
          <a:xfrm>
            <a:off x="548640" y="5257800"/>
            <a:ext cx="4206240" cy="548640"/>
          </a:xfrm>
          <a:prstGeom prst="rect">
            <a:avLst/>
          </a:prstGeom>
          <a:noFill/>
          <a:ln/>
        </p:spPr>
        <p:txBody>
          <a:bodyPr wrap="square" lIns="0" tIns="0" rIns="0" bIns="0" rtlCol="0" anchor="ctr"/>
          <a:lstStyle/>
          <a:p>
            <a:pPr indent="0" marL="0">
              <a:buNone/>
            </a:pPr>
            <a:r>
              <a:rPr lang="en-US" sz="1600" dirty="0">
                <a:solidFill>
                  <a:srgbClr val="6B7278"/>
                </a:solidFill>
                <a:latin typeface="Calibri" pitchFamily="34" charset="0"/>
                <a:ea typeface="Calibri" pitchFamily="34" charset="-122"/>
                <a:cs typeface="Calibri" pitchFamily="34" charset="-120"/>
              </a:rPr>
              <a:t>Manual material investigation</a:t>
            </a:r>
            <a:endParaRPr lang="en-US" sz="1600" dirty="0"/>
          </a:p>
        </p:txBody>
      </p:sp>
      <p:sp>
        <p:nvSpPr>
          <p:cNvPr id="28" name="Text 26"/>
          <p:cNvSpPr txBox="1"/>
          <p:nvPr/>
        </p:nvSpPr>
        <p:spPr>
          <a:xfrm>
            <a:off x="4846320" y="5257800"/>
            <a:ext cx="640080" cy="548640"/>
          </a:xfrm>
          <a:prstGeom prst="rect">
            <a:avLst/>
          </a:prstGeom>
          <a:noFill/>
          <a:ln/>
        </p:spPr>
        <p:txBody>
          <a:bodyPr wrap="square" lIns="0" tIns="0" rIns="0" bIns="0" rtlCol="0" anchor="ctr"/>
          <a:lstStyle/>
          <a:p>
            <a:pPr algn="ctr" indent="0" marL="0">
              <a:buNone/>
            </a:pPr>
            <a:r>
              <a:rPr lang="en-US" sz="1800" dirty="0">
                <a:solidFill>
                  <a:srgbClr val="E0561F"/>
                </a:solidFill>
                <a:latin typeface="Calibri" pitchFamily="34" charset="0"/>
                <a:ea typeface="Calibri" pitchFamily="34" charset="-122"/>
                <a:cs typeface="Calibri" pitchFamily="34" charset="-120"/>
              </a:rPr>
              <a:t>→</a:t>
            </a:r>
            <a:endParaRPr lang="en-US" sz="1800" dirty="0"/>
          </a:p>
        </p:txBody>
      </p:sp>
      <p:sp>
        <p:nvSpPr>
          <p:cNvPr id="29" name="Text 27"/>
          <p:cNvSpPr txBox="1"/>
          <p:nvPr/>
        </p:nvSpPr>
        <p:spPr>
          <a:xfrm>
            <a:off x="5669280" y="5257800"/>
            <a:ext cx="5943600" cy="548640"/>
          </a:xfrm>
          <a:prstGeom prst="rect">
            <a:avLst/>
          </a:prstGeom>
          <a:noFill/>
          <a:ln/>
        </p:spPr>
        <p:txBody>
          <a:bodyPr wrap="square" lIns="0" tIns="0" rIns="0" bIns="0" rtlCol="0" anchor="ctr"/>
          <a:lstStyle/>
          <a:p>
            <a:pPr indent="0" marL="0">
              <a:buNone/>
            </a:pPr>
            <a:r>
              <a:rPr lang="en-US" sz="1900" dirty="0">
                <a:solidFill>
                  <a:srgbClr val="1A1D21"/>
                </a:solidFill>
                <a:latin typeface="Cambria" pitchFamily="34" charset="0"/>
                <a:ea typeface="Cambria" pitchFamily="34" charset="-122"/>
                <a:cs typeface="Cambria" pitchFamily="34" charset="-120"/>
              </a:rPr>
              <a:t>Reverse traceability</a:t>
            </a:r>
            <a:endParaRPr lang="en-US" sz="1900" dirty="0"/>
          </a:p>
        </p:txBody>
      </p:sp>
      <p:sp>
        <p:nvSpPr>
          <p:cNvPr id="30" name="Text 28"/>
          <p:cNvSpPr txBox="1"/>
          <p:nvPr/>
        </p:nvSpPr>
        <p:spPr>
          <a:xfrm>
            <a:off x="548640" y="6035040"/>
            <a:ext cx="10972800" cy="365760"/>
          </a:xfrm>
          <a:prstGeom prst="rect">
            <a:avLst/>
          </a:prstGeom>
          <a:noFill/>
          <a:ln/>
        </p:spPr>
        <p:txBody>
          <a:bodyPr wrap="square" lIns="0" tIns="0" rIns="0" bIns="0" rtlCol="0" anchor="ctr"/>
          <a:lstStyle/>
          <a:p>
            <a:pPr indent="0" marL="0">
              <a:buNone/>
            </a:pPr>
            <a:r>
              <a:rPr lang="en-US" sz="1150" i="1" dirty="0">
                <a:solidFill>
                  <a:srgbClr val="6B7278"/>
                </a:solidFill>
                <a:latin typeface="Calibri" pitchFamily="34" charset="0"/>
                <a:ea typeface="Calibri" pitchFamily="34" charset="-122"/>
                <a:cs typeface="Calibri" pitchFamily="34" charset="-120"/>
              </a:rPr>
              <a:t>I didn't formally measure time saved, so I'm not claiming a percentage. What changed is how the information is structured.</a:t>
            </a:r>
            <a:endParaRPr lang="en-US" sz="1150" dirty="0"/>
          </a:p>
        </p:txBody>
      </p:sp>
      <p:sp>
        <p:nvSpPr>
          <p:cNvPr id="31" name="Text 29"/>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12</a:t>
            </a:r>
            <a:pPr indent="0" marL="0">
              <a:buNone/>
            </a:pPr>
            <a:r>
              <a:rPr lang="en-US" sz="1050" spc="300" kern="0" dirty="0">
                <a:solidFill>
                  <a:srgbClr val="6B7278"/>
                </a:solidFill>
                <a:latin typeface="Calibri" pitchFamily="34" charset="0"/>
                <a:ea typeface="Calibri" pitchFamily="34" charset="-122"/>
                <a:cs typeface="Calibri" pitchFamily="34" charset="-120"/>
              </a:rPr>
              <a:t>   WHAT I LEARNT</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indent="0" marL="0">
              <a:buNone/>
            </a:pPr>
            <a:r>
              <a:rPr lang="en-US" sz="3000" dirty="0">
                <a:solidFill>
                  <a:srgbClr val="1A1D21"/>
                </a:solidFill>
                <a:latin typeface="Cambria" pitchFamily="34" charset="0"/>
                <a:ea typeface="Cambria" pitchFamily="34" charset="-122"/>
                <a:cs typeface="Cambria" pitchFamily="34" charset="-120"/>
              </a:rPr>
              <a:t>What did the project teach me?</a:t>
            </a:r>
            <a:endParaRPr lang="en-US" sz="3000" dirty="0"/>
          </a:p>
        </p:txBody>
      </p:sp>
      <p:pic>
        <p:nvPicPr>
          <p:cNvPr id="4" name="Image 0" descr="/home/user/master-executive-system/sip-presentation/source/photos/4.jpg">    </p:cNvPr>
          <p:cNvPicPr>
            <a:picLocks noChangeAspect="1"/>
          </p:cNvPicPr>
          <p:nvPr/>
        </p:nvPicPr>
        <p:blipFill>
          <a:blip r:embed="rId1"/>
          <a:srcRect l="0" r="0" t="0" b="0"/>
          <a:stretch/>
        </p:blipFill>
        <p:spPr>
          <a:xfrm>
            <a:off x="548640" y="1463040"/>
            <a:ext cx="3520440" cy="1554480"/>
          </a:xfrm>
          <a:prstGeom prst="rect">
            <a:avLst/>
          </a:prstGeom>
        </p:spPr>
      </p:pic>
      <p:sp>
        <p:nvSpPr>
          <p:cNvPr id="5" name="Text 2"/>
          <p:cNvSpPr txBox="1"/>
          <p:nvPr/>
        </p:nvSpPr>
        <p:spPr>
          <a:xfrm>
            <a:off x="548640" y="3200400"/>
            <a:ext cx="3520440" cy="274320"/>
          </a:xfrm>
          <a:prstGeom prst="rect">
            <a:avLst/>
          </a:prstGeom>
          <a:noFill/>
          <a:ln/>
        </p:spPr>
        <p:txBody>
          <a:bodyPr wrap="square" lIns="0" tIns="0" rIns="0" bIns="0" rtlCol="0" anchor="ctr"/>
          <a:lstStyle/>
          <a:p>
            <a:pPr indent="0" marL="0">
              <a:buNone/>
            </a:pPr>
            <a:r>
              <a:rPr lang="en-US" sz="1100" b="1" spc="300" kern="0" dirty="0">
                <a:solidFill>
                  <a:srgbClr val="E0561F"/>
                </a:solidFill>
                <a:latin typeface="Calibri" pitchFamily="34" charset="0"/>
                <a:ea typeface="Calibri" pitchFamily="34" charset="-122"/>
                <a:cs typeface="Calibri" pitchFamily="34" charset="-120"/>
              </a:rPr>
              <a:t>THE PLANT</a:t>
            </a:r>
            <a:endParaRPr lang="en-US" sz="1100" dirty="0"/>
          </a:p>
        </p:txBody>
      </p:sp>
      <p:sp>
        <p:nvSpPr>
          <p:cNvPr id="6" name="Text 3"/>
          <p:cNvSpPr txBox="1"/>
          <p:nvPr/>
        </p:nvSpPr>
        <p:spPr>
          <a:xfrm>
            <a:off x="548640" y="3493008"/>
            <a:ext cx="3520440" cy="411480"/>
          </a:xfrm>
          <a:prstGeom prst="rect">
            <a:avLst/>
          </a:prstGeom>
          <a:noFill/>
          <a:ln/>
        </p:spPr>
        <p:txBody>
          <a:bodyPr wrap="square" lIns="0" tIns="0" rIns="0" bIns="0" rtlCol="0" anchor="ctr"/>
          <a:lstStyle/>
          <a:p>
            <a:pPr indent="0" marL="0">
              <a:buNone/>
            </a:pPr>
            <a:r>
              <a:rPr lang="en-US" sz="1900" dirty="0">
                <a:solidFill>
                  <a:srgbClr val="1A1D21"/>
                </a:solidFill>
                <a:latin typeface="Cambria" pitchFamily="34" charset="0"/>
                <a:ea typeface="Cambria" pitchFamily="34" charset="-122"/>
                <a:cs typeface="Cambria" pitchFamily="34" charset="-120"/>
              </a:rPr>
              <a:t>Manufacturing understanding</a:t>
            </a:r>
            <a:endParaRPr lang="en-US" sz="1900" dirty="0"/>
          </a:p>
        </p:txBody>
      </p:sp>
      <p:sp>
        <p:nvSpPr>
          <p:cNvPr id="7" name="Text 4"/>
          <p:cNvSpPr txBox="1"/>
          <p:nvPr/>
        </p:nvSpPr>
        <p:spPr>
          <a:xfrm>
            <a:off x="548640" y="4023360"/>
            <a:ext cx="352044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E4750"/>
                </a:solidFill>
                <a:latin typeface="Calibri" pitchFamily="34" charset="0"/>
                <a:ea typeface="Calibri" pitchFamily="34" charset="-122"/>
                <a:cs typeface="Calibri" pitchFamily="34" charset="-120"/>
              </a:rPr>
              <a:t>How material, people and machines actually move</a:t>
            </a:r>
            <a:endParaRPr lang="en-US" sz="1300" dirty="0"/>
          </a:p>
          <a:p>
            <a:pPr marL="342900" indent="-342900">
              <a:spcAft>
                <a:spcPts val="600"/>
              </a:spcAft>
              <a:buSzPct val="100000"/>
              <a:buChar char="•"/>
            </a:pPr>
            <a:r>
              <a:rPr lang="en-US" sz="1300" dirty="0">
                <a:solidFill>
                  <a:srgbClr val="3E4750"/>
                </a:solidFill>
                <a:latin typeface="Calibri" pitchFamily="34" charset="0"/>
                <a:ea typeface="Calibri" pitchFamily="34" charset="-122"/>
                <a:cs typeface="Calibri" pitchFamily="34" charset="-120"/>
              </a:rPr>
              <a:t>Where records are created, and why</a:t>
            </a:r>
            <a:endParaRPr lang="en-US" sz="1300" dirty="0"/>
          </a:p>
          <a:p>
            <a:pPr marL="342900" indent="-342900">
              <a:spcAft>
                <a:spcPts val="600"/>
              </a:spcAft>
              <a:buSzPct val="100000"/>
              <a:buChar char="•"/>
            </a:pPr>
            <a:r>
              <a:rPr lang="en-US" sz="1300" dirty="0">
                <a:solidFill>
                  <a:srgbClr val="3E4750"/>
                </a:solidFill>
                <a:latin typeface="Calibri" pitchFamily="34" charset="0"/>
                <a:ea typeface="Calibri" pitchFamily="34" charset="-122"/>
                <a:cs typeface="Calibri" pitchFamily="34" charset="-120"/>
              </a:rPr>
              <a:t>Traceability as a quality obligation</a:t>
            </a:r>
            <a:endParaRPr lang="en-US" sz="1300" dirty="0"/>
          </a:p>
          <a:p>
            <a:pPr marL="342900" indent="-342900">
              <a:spcAft>
                <a:spcPts val="600"/>
              </a:spcAft>
              <a:buSzPct val="100000"/>
              <a:buChar char="•"/>
            </a:pPr>
            <a:r>
              <a:rPr lang="en-US" sz="1300" dirty="0">
                <a:solidFill>
                  <a:srgbClr val="3E4750"/>
                </a:solidFill>
                <a:latin typeface="Calibri" pitchFamily="34" charset="0"/>
                <a:ea typeface="Calibri" pitchFamily="34" charset="-122"/>
                <a:cs typeface="Calibri" pitchFamily="34" charset="-120"/>
              </a:rPr>
              <a:t>OEE and where time really goes</a:t>
            </a:r>
            <a:endParaRPr lang="en-US" sz="1300" dirty="0"/>
          </a:p>
        </p:txBody>
      </p:sp>
      <p:pic>
        <p:nvPicPr>
          <p:cNvPr id="8" name="Image 1" descr="/home/user/master-executive-system/sip-presentation/source/crops/dash_top.png">    </p:cNvPr>
          <p:cNvPicPr>
            <a:picLocks noChangeAspect="1"/>
          </p:cNvPicPr>
          <p:nvPr/>
        </p:nvPicPr>
        <p:blipFill>
          <a:blip r:embed="rId2"/>
          <a:srcRect l="0" r="0" t="0" b="0"/>
          <a:stretch/>
        </p:blipFill>
        <p:spPr>
          <a:xfrm>
            <a:off x="4343400" y="1463040"/>
            <a:ext cx="3520440" cy="1554480"/>
          </a:xfrm>
          <a:prstGeom prst="rect">
            <a:avLst/>
          </a:prstGeom>
        </p:spPr>
      </p:pic>
      <p:sp>
        <p:nvSpPr>
          <p:cNvPr id="9" name="Text 5"/>
          <p:cNvSpPr txBox="1"/>
          <p:nvPr/>
        </p:nvSpPr>
        <p:spPr>
          <a:xfrm>
            <a:off x="4343400" y="3200400"/>
            <a:ext cx="3520440" cy="274320"/>
          </a:xfrm>
          <a:prstGeom prst="rect">
            <a:avLst/>
          </a:prstGeom>
          <a:noFill/>
          <a:ln/>
        </p:spPr>
        <p:txBody>
          <a:bodyPr wrap="square" lIns="0" tIns="0" rIns="0" bIns="0" rtlCol="0" anchor="ctr"/>
          <a:lstStyle/>
          <a:p>
            <a:pPr indent="0" marL="0">
              <a:buNone/>
            </a:pPr>
            <a:r>
              <a:rPr lang="en-US" sz="1100" b="1" spc="300" kern="0" dirty="0">
                <a:solidFill>
                  <a:srgbClr val="E0561F"/>
                </a:solidFill>
                <a:latin typeface="Calibri" pitchFamily="34" charset="0"/>
                <a:ea typeface="Calibri" pitchFamily="34" charset="-122"/>
                <a:cs typeface="Calibri" pitchFamily="34" charset="-120"/>
              </a:rPr>
              <a:t>THE SYSTEM</a:t>
            </a:r>
            <a:endParaRPr lang="en-US" sz="1100" dirty="0"/>
          </a:p>
        </p:txBody>
      </p:sp>
      <p:sp>
        <p:nvSpPr>
          <p:cNvPr id="10" name="Text 6"/>
          <p:cNvSpPr txBox="1"/>
          <p:nvPr/>
        </p:nvSpPr>
        <p:spPr>
          <a:xfrm>
            <a:off x="4343400" y="3493008"/>
            <a:ext cx="3520440" cy="411480"/>
          </a:xfrm>
          <a:prstGeom prst="rect">
            <a:avLst/>
          </a:prstGeom>
          <a:noFill/>
          <a:ln/>
        </p:spPr>
        <p:txBody>
          <a:bodyPr wrap="square" lIns="0" tIns="0" rIns="0" bIns="0" rtlCol="0" anchor="ctr"/>
          <a:lstStyle/>
          <a:p>
            <a:pPr indent="0" marL="0">
              <a:buNone/>
            </a:pPr>
            <a:r>
              <a:rPr lang="en-US" sz="1900" dirty="0">
                <a:solidFill>
                  <a:srgbClr val="1A1D21"/>
                </a:solidFill>
                <a:latin typeface="Cambria" pitchFamily="34" charset="0"/>
                <a:ea typeface="Cambria" pitchFamily="34" charset="-122"/>
                <a:cs typeface="Cambria" pitchFamily="34" charset="-120"/>
              </a:rPr>
              <a:t>Technical understanding</a:t>
            </a:r>
            <a:endParaRPr lang="en-US" sz="1900" dirty="0"/>
          </a:p>
        </p:txBody>
      </p:sp>
      <p:sp>
        <p:nvSpPr>
          <p:cNvPr id="11" name="Text 7"/>
          <p:cNvSpPr txBox="1"/>
          <p:nvPr/>
        </p:nvSpPr>
        <p:spPr>
          <a:xfrm>
            <a:off x="4343400" y="4023360"/>
            <a:ext cx="352044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E4750"/>
                </a:solidFill>
                <a:latin typeface="Calibri" pitchFamily="34" charset="0"/>
                <a:ea typeface="Calibri" pitchFamily="34" charset="-122"/>
                <a:cs typeface="Calibri" pitchFamily="34" charset="-120"/>
              </a:rPr>
              <a:t>Data modelling: masters vs. transactions</a:t>
            </a:r>
            <a:endParaRPr lang="en-US" sz="1300" dirty="0"/>
          </a:p>
          <a:p>
            <a:pPr marL="342900" indent="-342900">
              <a:spcAft>
                <a:spcPts val="600"/>
              </a:spcAft>
              <a:buSzPct val="100000"/>
              <a:buChar char="•"/>
            </a:pPr>
            <a:r>
              <a:rPr lang="en-US" sz="1300" dirty="0">
                <a:solidFill>
                  <a:srgbClr val="3E4750"/>
                </a:solidFill>
                <a:latin typeface="Calibri" pitchFamily="34" charset="0"/>
                <a:ea typeface="Calibri" pitchFamily="34" charset="-122"/>
                <a:cs typeface="Calibri" pitchFamily="34" charset="-120"/>
              </a:rPr>
              <a:t>Why a system key must be unique</a:t>
            </a:r>
            <a:endParaRPr lang="en-US" sz="1300" dirty="0"/>
          </a:p>
          <a:p>
            <a:pPr marL="342900" indent="-342900">
              <a:spcAft>
                <a:spcPts val="600"/>
              </a:spcAft>
              <a:buSzPct val="100000"/>
              <a:buChar char="•"/>
            </a:pPr>
            <a:r>
              <a:rPr lang="en-US" sz="1300" dirty="0">
                <a:solidFill>
                  <a:srgbClr val="3E4750"/>
                </a:solidFill>
                <a:latin typeface="Calibri" pitchFamily="34" charset="0"/>
                <a:ea typeface="Calibri" pitchFamily="34" charset="-122"/>
                <a:cs typeface="Calibri" pitchFamily="34" charset="-120"/>
              </a:rPr>
              <a:t>Validation before calculation</a:t>
            </a:r>
            <a:endParaRPr lang="en-US" sz="1300" dirty="0"/>
          </a:p>
          <a:p>
            <a:pPr marL="342900" indent="-342900">
              <a:spcAft>
                <a:spcPts val="600"/>
              </a:spcAft>
              <a:buSzPct val="100000"/>
              <a:buChar char="•"/>
            </a:pPr>
            <a:r>
              <a:rPr lang="en-US" sz="1300" dirty="0">
                <a:solidFill>
                  <a:srgbClr val="3E4750"/>
                </a:solidFill>
                <a:latin typeface="Calibri" pitchFamily="34" charset="0"/>
                <a:ea typeface="Calibri" pitchFamily="34" charset="-122"/>
                <a:cs typeface="Calibri" pitchFamily="34" charset="-120"/>
              </a:rPr>
              <a:t>Testing with real scenarios</a:t>
            </a:r>
            <a:endParaRPr lang="en-US" sz="1300" dirty="0"/>
          </a:p>
        </p:txBody>
      </p:sp>
      <p:pic>
        <p:nvPicPr>
          <p:cNvPr id="12" name="Image 2" descr="/home/user/master-executive-system/sip-presentation/source/photos/3.jpg">    </p:cNvPr>
          <p:cNvPicPr>
            <a:picLocks noChangeAspect="1"/>
          </p:cNvPicPr>
          <p:nvPr/>
        </p:nvPicPr>
        <p:blipFill>
          <a:blip r:embed="rId3"/>
          <a:srcRect l="0" r="0" t="0" b="0"/>
          <a:stretch/>
        </p:blipFill>
        <p:spPr>
          <a:xfrm>
            <a:off x="8138160" y="1463040"/>
            <a:ext cx="3520440" cy="1554480"/>
          </a:xfrm>
          <a:prstGeom prst="rect">
            <a:avLst/>
          </a:prstGeom>
        </p:spPr>
      </p:pic>
      <p:sp>
        <p:nvSpPr>
          <p:cNvPr id="13" name="Text 8"/>
          <p:cNvSpPr txBox="1"/>
          <p:nvPr/>
        </p:nvSpPr>
        <p:spPr>
          <a:xfrm>
            <a:off x="8138160" y="3200400"/>
            <a:ext cx="3520440" cy="274320"/>
          </a:xfrm>
          <a:prstGeom prst="rect">
            <a:avLst/>
          </a:prstGeom>
          <a:noFill/>
          <a:ln/>
        </p:spPr>
        <p:txBody>
          <a:bodyPr wrap="square" lIns="0" tIns="0" rIns="0" bIns="0" rtlCol="0" anchor="ctr"/>
          <a:lstStyle/>
          <a:p>
            <a:pPr indent="0" marL="0">
              <a:buNone/>
            </a:pPr>
            <a:r>
              <a:rPr lang="en-US" sz="1100" b="1" spc="300" kern="0" dirty="0">
                <a:solidFill>
                  <a:srgbClr val="E0561F"/>
                </a:solidFill>
                <a:latin typeface="Calibri" pitchFamily="34" charset="0"/>
                <a:ea typeface="Calibri" pitchFamily="34" charset="-122"/>
                <a:cs typeface="Calibri" pitchFamily="34" charset="-120"/>
              </a:rPr>
              <a:t>THE MANAGER</a:t>
            </a:r>
            <a:endParaRPr lang="en-US" sz="1100" dirty="0"/>
          </a:p>
        </p:txBody>
      </p:sp>
      <p:sp>
        <p:nvSpPr>
          <p:cNvPr id="14" name="Text 9"/>
          <p:cNvSpPr txBox="1"/>
          <p:nvPr/>
        </p:nvSpPr>
        <p:spPr>
          <a:xfrm>
            <a:off x="8138160" y="3493008"/>
            <a:ext cx="3520440" cy="411480"/>
          </a:xfrm>
          <a:prstGeom prst="rect">
            <a:avLst/>
          </a:prstGeom>
          <a:noFill/>
          <a:ln/>
        </p:spPr>
        <p:txBody>
          <a:bodyPr wrap="square" lIns="0" tIns="0" rIns="0" bIns="0" rtlCol="0" anchor="ctr"/>
          <a:lstStyle/>
          <a:p>
            <a:pPr indent="0" marL="0">
              <a:buNone/>
            </a:pPr>
            <a:r>
              <a:rPr lang="en-US" sz="1900" dirty="0">
                <a:solidFill>
                  <a:srgbClr val="1A1D21"/>
                </a:solidFill>
                <a:latin typeface="Cambria" pitchFamily="34" charset="0"/>
                <a:ea typeface="Cambria" pitchFamily="34" charset="-122"/>
                <a:cs typeface="Cambria" pitchFamily="34" charset="-120"/>
              </a:rPr>
              <a:t>Managerial understanding</a:t>
            </a:r>
            <a:endParaRPr lang="en-US" sz="1900" dirty="0"/>
          </a:p>
        </p:txBody>
      </p:sp>
      <p:sp>
        <p:nvSpPr>
          <p:cNvPr id="15" name="Text 10"/>
          <p:cNvSpPr txBox="1"/>
          <p:nvPr/>
        </p:nvSpPr>
        <p:spPr>
          <a:xfrm>
            <a:off x="8138160" y="4023360"/>
            <a:ext cx="352044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E4750"/>
                </a:solidFill>
                <a:latin typeface="Calibri" pitchFamily="34" charset="0"/>
                <a:ea typeface="Calibri" pitchFamily="34" charset="-122"/>
                <a:cs typeface="Calibri" pitchFamily="34" charset="-120"/>
              </a:rPr>
              <a:t>Requirement gathering from users</a:t>
            </a:r>
            <a:endParaRPr lang="en-US" sz="1300" dirty="0"/>
          </a:p>
          <a:p>
            <a:pPr marL="342900" indent="-342900">
              <a:spcAft>
                <a:spcPts val="600"/>
              </a:spcAft>
              <a:buSzPct val="100000"/>
              <a:buChar char="•"/>
            </a:pPr>
            <a:r>
              <a:rPr lang="en-US" sz="1300" dirty="0">
                <a:solidFill>
                  <a:srgbClr val="3E4750"/>
                </a:solidFill>
                <a:latin typeface="Calibri" pitchFamily="34" charset="0"/>
                <a:ea typeface="Calibri" pitchFamily="34" charset="-122"/>
                <a:cs typeface="Calibri" pitchFamily="34" charset="-120"/>
              </a:rPr>
              <a:t>A system is only useful if people adopt it</a:t>
            </a:r>
            <a:endParaRPr lang="en-US" sz="1300" dirty="0"/>
          </a:p>
          <a:p>
            <a:pPr marL="342900" indent="-342900">
              <a:spcAft>
                <a:spcPts val="600"/>
              </a:spcAft>
              <a:buSzPct val="100000"/>
              <a:buChar char="•"/>
            </a:pPr>
            <a:r>
              <a:rPr lang="en-US" sz="1300" dirty="0">
                <a:solidFill>
                  <a:srgbClr val="3E4750"/>
                </a:solidFill>
                <a:latin typeface="Calibri" pitchFamily="34" charset="0"/>
                <a:ea typeface="Calibri" pitchFamily="34" charset="-122"/>
                <a:cs typeface="Calibri" pitchFamily="34" charset="-120"/>
              </a:rPr>
              <a:t>Scoping under time and tool constraints</a:t>
            </a:r>
            <a:endParaRPr lang="en-US" sz="1300" dirty="0"/>
          </a:p>
          <a:p>
            <a:pPr marL="342900" indent="-342900">
              <a:spcAft>
                <a:spcPts val="600"/>
              </a:spcAft>
              <a:buSzPct val="100000"/>
              <a:buChar char="•"/>
            </a:pPr>
            <a:r>
              <a:rPr lang="en-US" sz="1300" dirty="0">
                <a:solidFill>
                  <a:srgbClr val="3E4750"/>
                </a:solidFill>
                <a:latin typeface="Calibri" pitchFamily="34" charset="0"/>
                <a:ea typeface="Calibri" pitchFamily="34" charset="-122"/>
                <a:cs typeface="Calibri" pitchFamily="34" charset="-120"/>
              </a:rPr>
              <a:t>Being honest about what it can't do</a:t>
            </a:r>
            <a:endParaRPr lang="en-US" sz="1300" dirty="0"/>
          </a:p>
        </p:txBody>
      </p:sp>
      <p:sp>
        <p:nvSpPr>
          <p:cNvPr id="16" name="Text 11"/>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4F1"/>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13</a:t>
            </a:r>
            <a:pPr indent="0" marL="0">
              <a:buNone/>
            </a:pPr>
            <a:r>
              <a:rPr lang="en-US" sz="1050" spc="300" kern="0" dirty="0">
                <a:solidFill>
                  <a:srgbClr val="6B7278"/>
                </a:solidFill>
                <a:latin typeface="Calibri" pitchFamily="34" charset="0"/>
                <a:ea typeface="Calibri" pitchFamily="34" charset="-122"/>
                <a:cs typeface="Calibri" pitchFamily="34" charset="-120"/>
              </a:rPr>
              <a:t>   THE LIMIT</a:t>
            </a:r>
            <a:endParaRPr lang="en-US" sz="1050" dirty="0"/>
          </a:p>
        </p:txBody>
      </p:sp>
      <p:sp>
        <p:nvSpPr>
          <p:cNvPr id="3" name="Text 1"/>
          <p:cNvSpPr txBox="1"/>
          <p:nvPr/>
        </p:nvSpPr>
        <p:spPr>
          <a:xfrm>
            <a:off x="548640" y="713232"/>
            <a:ext cx="10972800" cy="822960"/>
          </a:xfrm>
          <a:prstGeom prst="rect">
            <a:avLst/>
          </a:prstGeom>
          <a:noFill/>
          <a:ln/>
        </p:spPr>
        <p:txBody>
          <a:bodyPr wrap="square" lIns="0" tIns="0" rIns="0" bIns="0" rtlCol="0" anchor="t"/>
          <a:lstStyle/>
          <a:p>
            <a:pPr indent="0" marL="0">
              <a:buNone/>
            </a:pPr>
            <a:r>
              <a:rPr lang="en-US" sz="3000" dirty="0">
                <a:solidFill>
                  <a:srgbClr val="1A1D21"/>
                </a:solidFill>
                <a:latin typeface="Cambria" pitchFamily="34" charset="0"/>
                <a:ea typeface="Cambria" pitchFamily="34" charset="-122"/>
                <a:cs typeface="Cambria" pitchFamily="34" charset="-120"/>
              </a:rPr>
              <a:t>What this system is, and what it isn't.</a:t>
            </a:r>
            <a:endParaRPr lang="en-US" sz="3000" dirty="0"/>
          </a:p>
        </p:txBody>
      </p:sp>
      <p:sp>
        <p:nvSpPr>
          <p:cNvPr id="4" name="Shape 2"/>
          <p:cNvSpPr/>
          <p:nvPr/>
        </p:nvSpPr>
        <p:spPr>
          <a:xfrm>
            <a:off x="548640" y="1508760"/>
            <a:ext cx="5303520" cy="1143000"/>
          </a:xfrm>
          <a:prstGeom prst="rect">
            <a:avLst/>
          </a:prstGeom>
          <a:solidFill>
            <a:srgbClr val="121518"/>
          </a:solidFill>
          <a:ln/>
        </p:spPr>
      </p:sp>
      <p:sp>
        <p:nvSpPr>
          <p:cNvPr id="5" name="Text 3"/>
          <p:cNvSpPr txBox="1"/>
          <p:nvPr/>
        </p:nvSpPr>
        <p:spPr>
          <a:xfrm>
            <a:off x="777240" y="1554480"/>
            <a:ext cx="4937760" cy="1051560"/>
          </a:xfrm>
          <a:prstGeom prst="rect">
            <a:avLst/>
          </a:prstGeom>
          <a:noFill/>
          <a:ln/>
        </p:spPr>
        <p:txBody>
          <a:bodyPr wrap="square" lIns="0" tIns="0" rIns="0" bIns="0" rtlCol="0" anchor="ctr"/>
          <a:lstStyle/>
          <a:p>
            <a:pPr indent="0" marL="0">
              <a:buNone/>
            </a:pPr>
            <a:r>
              <a:rPr lang="en-US" sz="1000" b="1" spc="300" kern="0" dirty="0">
                <a:solidFill>
                  <a:srgbClr val="E0561F"/>
                </a:solidFill>
                <a:latin typeface="Calibri" pitchFamily="34" charset="0"/>
                <a:ea typeface="Calibri" pitchFamily="34" charset="-122"/>
                <a:cs typeface="Calibri" pitchFamily="34" charset="-120"/>
              </a:rPr>
              <a:t>THIS IS</a:t>
            </a:r>
            <a:endParaRPr lang="en-US" sz="1000" dirty="0"/>
          </a:p>
          <a:p>
            <a:pPr indent="0" marL="0">
              <a:buNone/>
            </a:pPr>
            <a:r>
              <a:rPr lang="en-US" sz="1900" dirty="0">
                <a:solidFill>
                  <a:srgbClr val="FFFFFF"/>
                </a:solidFill>
                <a:latin typeface="Cambria" pitchFamily="34" charset="0"/>
                <a:ea typeface="Cambria" pitchFamily="34" charset="-122"/>
                <a:cs typeface="Cambria" pitchFamily="34" charset="-120"/>
              </a:rPr>
              <a:t>A practical, working Excel-based MES prototype.</a:t>
            </a:r>
            <a:endParaRPr lang="en-US" sz="1000" dirty="0"/>
          </a:p>
        </p:txBody>
      </p:sp>
      <p:sp>
        <p:nvSpPr>
          <p:cNvPr id="6" name="Shape 4"/>
          <p:cNvSpPr/>
          <p:nvPr/>
        </p:nvSpPr>
        <p:spPr>
          <a:xfrm>
            <a:off x="6309360" y="1508760"/>
            <a:ext cx="5303520" cy="1143000"/>
          </a:xfrm>
          <a:prstGeom prst="rect">
            <a:avLst/>
          </a:prstGeom>
          <a:solidFill>
            <a:srgbClr val="FFFFFF"/>
          </a:solidFill>
          <a:ln w="12700">
            <a:solidFill>
              <a:srgbClr val="B9BEC2"/>
            </a:solidFill>
            <a:prstDash val="solid"/>
          </a:ln>
        </p:spPr>
      </p:sp>
      <p:sp>
        <p:nvSpPr>
          <p:cNvPr id="7" name="Text 5"/>
          <p:cNvSpPr txBox="1"/>
          <p:nvPr/>
        </p:nvSpPr>
        <p:spPr>
          <a:xfrm>
            <a:off x="6537960" y="1554480"/>
            <a:ext cx="4937760" cy="1051560"/>
          </a:xfrm>
          <a:prstGeom prst="rect">
            <a:avLst/>
          </a:prstGeom>
          <a:noFill/>
          <a:ln/>
        </p:spPr>
        <p:txBody>
          <a:bodyPr wrap="square" lIns="0" tIns="0" rIns="0" bIns="0" rtlCol="0" anchor="ctr"/>
          <a:lstStyle/>
          <a:p>
            <a:pPr indent="0" marL="0">
              <a:buNone/>
            </a:pPr>
            <a:r>
              <a:rPr lang="en-US" sz="1000" b="1" spc="300" kern="0" dirty="0">
                <a:solidFill>
                  <a:srgbClr val="6B7278"/>
                </a:solidFill>
                <a:latin typeface="Calibri" pitchFamily="34" charset="0"/>
                <a:ea typeface="Calibri" pitchFamily="34" charset="-122"/>
                <a:cs typeface="Calibri" pitchFamily="34" charset="-120"/>
              </a:rPr>
              <a:t>THIS IS NOT</a:t>
            </a:r>
            <a:endParaRPr lang="en-US" sz="1000" dirty="0"/>
          </a:p>
          <a:p>
            <a:pPr indent="0" marL="0">
              <a:buNone/>
            </a:pPr>
            <a:r>
              <a:rPr lang="en-US" sz="1900" dirty="0">
                <a:solidFill>
                  <a:srgbClr val="1A1D21"/>
                </a:solidFill>
                <a:latin typeface="Cambria" pitchFamily="34" charset="0"/>
                <a:ea typeface="Cambria" pitchFamily="34" charset="-122"/>
                <a:cs typeface="Cambria" pitchFamily="34" charset="-120"/>
              </a:rPr>
              <a:t>A full enterprise MES.</a:t>
            </a:r>
            <a:endParaRPr lang="en-US" sz="1000" dirty="0"/>
          </a:p>
        </p:txBody>
      </p:sp>
      <p:sp>
        <p:nvSpPr>
          <p:cNvPr id="8" name="Text 6"/>
          <p:cNvSpPr txBox="1"/>
          <p:nvPr/>
        </p:nvSpPr>
        <p:spPr>
          <a:xfrm>
            <a:off x="548640" y="2971800"/>
            <a:ext cx="4572000" cy="274320"/>
          </a:xfrm>
          <a:prstGeom prst="rect">
            <a:avLst/>
          </a:prstGeom>
          <a:noFill/>
          <a:ln/>
        </p:spPr>
        <p:txBody>
          <a:bodyPr wrap="square" lIns="0" tIns="0" rIns="0" bIns="0" rtlCol="0" anchor="ctr"/>
          <a:lstStyle/>
          <a:p>
            <a:pPr indent="0" marL="0">
              <a:buNone/>
            </a:pPr>
            <a:r>
              <a:rPr lang="en-US" sz="1000" b="1" spc="300" kern="0" dirty="0">
                <a:solidFill>
                  <a:srgbClr val="6B7278"/>
                </a:solidFill>
                <a:latin typeface="Calibri" pitchFamily="34" charset="0"/>
                <a:ea typeface="Calibri" pitchFamily="34" charset="-122"/>
                <a:cs typeface="Calibri" pitchFamily="34" charset="-120"/>
              </a:rPr>
              <a:t>LIMITATIONS</a:t>
            </a:r>
            <a:endParaRPr lang="en-US" sz="1000" dirty="0"/>
          </a:p>
        </p:txBody>
      </p:sp>
      <p:sp>
        <p:nvSpPr>
          <p:cNvPr id="9" name="Text 7"/>
          <p:cNvSpPr txBox="1"/>
          <p:nvPr/>
        </p:nvSpPr>
        <p:spPr>
          <a:xfrm>
            <a:off x="548640" y="3337560"/>
            <a:ext cx="3566160" cy="731520"/>
          </a:xfrm>
          <a:prstGeom prst="rect">
            <a:avLst/>
          </a:prstGeom>
          <a:noFill/>
          <a:ln/>
        </p:spPr>
        <p:txBody>
          <a:bodyPr wrap="square" lIns="0" tIns="0" rIns="0" bIns="0" rtlCol="0" anchor="t"/>
          <a:lstStyle/>
          <a:p>
            <a:pPr indent="0" marL="0">
              <a:buNone/>
            </a:pPr>
            <a:r>
              <a:rPr lang="en-US" sz="1300" b="1" dirty="0">
                <a:solidFill>
                  <a:srgbClr val="1A1D21"/>
                </a:solidFill>
                <a:latin typeface="Calibri" pitchFamily="34" charset="0"/>
                <a:ea typeface="Calibri" pitchFamily="34" charset="-122"/>
                <a:cs typeface="Calibri" pitchFamily="34" charset="-120"/>
              </a:rPr>
              <a:t>Scalability</a:t>
            </a:r>
            <a:endParaRPr lang="en-US" sz="1300" dirty="0"/>
          </a:p>
          <a:p>
            <a:pPr indent="0" marL="0">
              <a:buNone/>
            </a:pPr>
            <a:r>
              <a:rPr lang="en-US" sz="1300" dirty="0">
                <a:solidFill>
                  <a:srgbClr val="6B7278"/>
                </a:solidFill>
                <a:latin typeface="Calibri" pitchFamily="34" charset="0"/>
                <a:ea typeface="Calibri" pitchFamily="34" charset="-122"/>
                <a:cs typeface="Calibri" pitchFamily="34" charset="-120"/>
              </a:rPr>
              <a:t>Excel slows down as registers grow</a:t>
            </a:r>
            <a:endParaRPr lang="en-US" sz="1300" dirty="0"/>
          </a:p>
        </p:txBody>
      </p:sp>
      <p:sp>
        <p:nvSpPr>
          <p:cNvPr id="10" name="Text 8"/>
          <p:cNvSpPr txBox="1"/>
          <p:nvPr/>
        </p:nvSpPr>
        <p:spPr>
          <a:xfrm>
            <a:off x="4297680" y="3337560"/>
            <a:ext cx="3566160" cy="731520"/>
          </a:xfrm>
          <a:prstGeom prst="rect">
            <a:avLst/>
          </a:prstGeom>
          <a:noFill/>
          <a:ln/>
        </p:spPr>
        <p:txBody>
          <a:bodyPr wrap="square" lIns="0" tIns="0" rIns="0" bIns="0" rtlCol="0" anchor="t"/>
          <a:lstStyle/>
          <a:p>
            <a:pPr indent="0" marL="0">
              <a:buNone/>
            </a:pPr>
            <a:r>
              <a:rPr lang="en-US" sz="1300" b="1" dirty="0">
                <a:solidFill>
                  <a:srgbClr val="1A1D21"/>
                </a:solidFill>
                <a:latin typeface="Calibri" pitchFamily="34" charset="0"/>
                <a:ea typeface="Calibri" pitchFamily="34" charset="-122"/>
                <a:cs typeface="Calibri" pitchFamily="34" charset="-120"/>
              </a:rPr>
              <a:t>Concurrent use</a:t>
            </a:r>
            <a:endParaRPr lang="en-US" sz="1300" dirty="0"/>
          </a:p>
          <a:p>
            <a:pPr indent="0" marL="0">
              <a:buNone/>
            </a:pPr>
            <a:r>
              <a:rPr lang="en-US" sz="1300" dirty="0">
                <a:solidFill>
                  <a:srgbClr val="6B7278"/>
                </a:solidFill>
                <a:latin typeface="Calibri" pitchFamily="34" charset="0"/>
                <a:ea typeface="Calibri" pitchFamily="34" charset="-122"/>
                <a:cs typeface="Calibri" pitchFamily="34" charset="-120"/>
              </a:rPr>
              <a:t>Not built for many users editing at once</a:t>
            </a:r>
            <a:endParaRPr lang="en-US" sz="1300" dirty="0"/>
          </a:p>
        </p:txBody>
      </p:sp>
      <p:sp>
        <p:nvSpPr>
          <p:cNvPr id="11" name="Text 9"/>
          <p:cNvSpPr txBox="1"/>
          <p:nvPr/>
        </p:nvSpPr>
        <p:spPr>
          <a:xfrm>
            <a:off x="8046720" y="3337560"/>
            <a:ext cx="3566160" cy="731520"/>
          </a:xfrm>
          <a:prstGeom prst="rect">
            <a:avLst/>
          </a:prstGeom>
          <a:noFill/>
          <a:ln/>
        </p:spPr>
        <p:txBody>
          <a:bodyPr wrap="square" lIns="0" tIns="0" rIns="0" bIns="0" rtlCol="0" anchor="t"/>
          <a:lstStyle/>
          <a:p>
            <a:pPr indent="0" marL="0">
              <a:buNone/>
            </a:pPr>
            <a:r>
              <a:rPr lang="en-US" sz="1300" b="1" dirty="0">
                <a:solidFill>
                  <a:srgbClr val="1A1D21"/>
                </a:solidFill>
                <a:latin typeface="Calibri" pitchFamily="34" charset="0"/>
                <a:ea typeface="Calibri" pitchFamily="34" charset="-122"/>
                <a:cs typeface="Calibri" pitchFamily="34" charset="-120"/>
              </a:rPr>
              <a:t>User roles</a:t>
            </a:r>
            <a:endParaRPr lang="en-US" sz="1300" dirty="0"/>
          </a:p>
          <a:p>
            <a:pPr indent="0" marL="0">
              <a:buNone/>
            </a:pPr>
            <a:r>
              <a:rPr lang="en-US" sz="1300" dirty="0">
                <a:solidFill>
                  <a:srgbClr val="6B7278"/>
                </a:solidFill>
                <a:latin typeface="Calibri" pitchFamily="34" charset="0"/>
                <a:ea typeface="Calibri" pitchFamily="34" charset="-122"/>
                <a:cs typeface="Calibri" pitchFamily="34" charset="-120"/>
              </a:rPr>
              <a:t>No role-based access control</a:t>
            </a:r>
            <a:endParaRPr lang="en-US" sz="1300" dirty="0"/>
          </a:p>
        </p:txBody>
      </p:sp>
      <p:sp>
        <p:nvSpPr>
          <p:cNvPr id="12" name="Text 10"/>
          <p:cNvSpPr txBox="1"/>
          <p:nvPr/>
        </p:nvSpPr>
        <p:spPr>
          <a:xfrm>
            <a:off x="548640" y="4206240"/>
            <a:ext cx="3566160" cy="731520"/>
          </a:xfrm>
          <a:prstGeom prst="rect">
            <a:avLst/>
          </a:prstGeom>
          <a:noFill/>
          <a:ln/>
        </p:spPr>
        <p:txBody>
          <a:bodyPr wrap="square" lIns="0" tIns="0" rIns="0" bIns="0" rtlCol="0" anchor="t"/>
          <a:lstStyle/>
          <a:p>
            <a:pPr indent="0" marL="0">
              <a:buNone/>
            </a:pPr>
            <a:r>
              <a:rPr lang="en-US" sz="1300" b="1" dirty="0">
                <a:solidFill>
                  <a:srgbClr val="1A1D21"/>
                </a:solidFill>
                <a:latin typeface="Calibri" pitchFamily="34" charset="0"/>
                <a:ea typeface="Calibri" pitchFamily="34" charset="-122"/>
                <a:cs typeface="Calibri" pitchFamily="34" charset="-120"/>
              </a:rPr>
              <a:t>Audit trail</a:t>
            </a:r>
            <a:endParaRPr lang="en-US" sz="1300" dirty="0"/>
          </a:p>
          <a:p>
            <a:pPr indent="0" marL="0">
              <a:buNone/>
            </a:pPr>
            <a:r>
              <a:rPr lang="en-US" sz="1300" dirty="0">
                <a:solidFill>
                  <a:srgbClr val="6B7278"/>
                </a:solidFill>
                <a:latin typeface="Calibri" pitchFamily="34" charset="0"/>
                <a:ea typeface="Calibri" pitchFamily="34" charset="-122"/>
                <a:cs typeface="Calibri" pitchFamily="34" charset="-120"/>
              </a:rPr>
              <a:t>No record of who changed what</a:t>
            </a:r>
            <a:endParaRPr lang="en-US" sz="1300" dirty="0"/>
          </a:p>
        </p:txBody>
      </p:sp>
      <p:sp>
        <p:nvSpPr>
          <p:cNvPr id="13" name="Text 11"/>
          <p:cNvSpPr txBox="1"/>
          <p:nvPr/>
        </p:nvSpPr>
        <p:spPr>
          <a:xfrm>
            <a:off x="4297680" y="4206240"/>
            <a:ext cx="3566160" cy="731520"/>
          </a:xfrm>
          <a:prstGeom prst="rect">
            <a:avLst/>
          </a:prstGeom>
          <a:noFill/>
          <a:ln/>
        </p:spPr>
        <p:txBody>
          <a:bodyPr wrap="square" lIns="0" tIns="0" rIns="0" bIns="0" rtlCol="0" anchor="t"/>
          <a:lstStyle/>
          <a:p>
            <a:pPr indent="0" marL="0">
              <a:buNone/>
            </a:pPr>
            <a:r>
              <a:rPr lang="en-US" sz="1300" b="1" dirty="0">
                <a:solidFill>
                  <a:srgbClr val="1A1D21"/>
                </a:solidFill>
                <a:latin typeface="Calibri" pitchFamily="34" charset="0"/>
                <a:ea typeface="Calibri" pitchFamily="34" charset="-122"/>
                <a:cs typeface="Calibri" pitchFamily="34" charset="-120"/>
              </a:rPr>
              <a:t>Manual entry</a:t>
            </a:r>
            <a:endParaRPr lang="en-US" sz="1300" dirty="0"/>
          </a:p>
          <a:p>
            <a:pPr indent="0" marL="0">
              <a:buNone/>
            </a:pPr>
            <a:r>
              <a:rPr lang="en-US" sz="1300" dirty="0">
                <a:solidFill>
                  <a:srgbClr val="6B7278"/>
                </a:solidFill>
                <a:latin typeface="Calibri" pitchFamily="34" charset="0"/>
                <a:ea typeface="Calibri" pitchFamily="34" charset="-122"/>
                <a:cs typeface="Calibri" pitchFamily="34" charset="-120"/>
              </a:rPr>
              <a:t>Only as good as the data typed in</a:t>
            </a:r>
            <a:endParaRPr lang="en-US" sz="1300" dirty="0"/>
          </a:p>
        </p:txBody>
      </p:sp>
      <p:sp>
        <p:nvSpPr>
          <p:cNvPr id="14" name="Text 12"/>
          <p:cNvSpPr txBox="1"/>
          <p:nvPr/>
        </p:nvSpPr>
        <p:spPr>
          <a:xfrm>
            <a:off x="8046720" y="4206240"/>
            <a:ext cx="3566160" cy="731520"/>
          </a:xfrm>
          <a:prstGeom prst="rect">
            <a:avLst/>
          </a:prstGeom>
          <a:noFill/>
          <a:ln/>
        </p:spPr>
        <p:txBody>
          <a:bodyPr wrap="square" lIns="0" tIns="0" rIns="0" bIns="0" rtlCol="0" anchor="t"/>
          <a:lstStyle/>
          <a:p>
            <a:pPr indent="0" marL="0">
              <a:buNone/>
            </a:pPr>
            <a:r>
              <a:rPr lang="en-US" sz="1300" b="1" dirty="0">
                <a:solidFill>
                  <a:srgbClr val="1A1D21"/>
                </a:solidFill>
                <a:latin typeface="Calibri" pitchFamily="34" charset="0"/>
                <a:ea typeface="Calibri" pitchFamily="34" charset="-122"/>
                <a:cs typeface="Calibri" pitchFamily="34" charset="-120"/>
              </a:rPr>
              <a:t>No real-time capture</a:t>
            </a:r>
            <a:endParaRPr lang="en-US" sz="1300" dirty="0"/>
          </a:p>
          <a:p>
            <a:pPr indent="0" marL="0">
              <a:buNone/>
            </a:pPr>
            <a:r>
              <a:rPr lang="en-US" sz="1300" dirty="0">
                <a:solidFill>
                  <a:srgbClr val="6B7278"/>
                </a:solidFill>
                <a:latin typeface="Calibri" pitchFamily="34" charset="0"/>
                <a:ea typeface="Calibri" pitchFamily="34" charset="-122"/>
                <a:cs typeface="Calibri" pitchFamily="34" charset="-120"/>
              </a:rPr>
              <a:t>No direct machine connection</a:t>
            </a:r>
            <a:endParaRPr lang="en-US" sz="1300" dirty="0"/>
          </a:p>
        </p:txBody>
      </p:sp>
      <p:sp>
        <p:nvSpPr>
          <p:cNvPr id="15" name="Text 13"/>
          <p:cNvSpPr txBox="1"/>
          <p:nvPr/>
        </p:nvSpPr>
        <p:spPr>
          <a:xfrm>
            <a:off x="548640" y="5257800"/>
            <a:ext cx="4572000" cy="274320"/>
          </a:xfrm>
          <a:prstGeom prst="rect">
            <a:avLst/>
          </a:prstGeom>
          <a:noFill/>
          <a:ln/>
        </p:spPr>
        <p:txBody>
          <a:bodyPr wrap="square" lIns="0" tIns="0" rIns="0" bIns="0" rtlCol="0" anchor="ctr"/>
          <a:lstStyle/>
          <a:p>
            <a:pPr indent="0" marL="0">
              <a:buNone/>
            </a:pPr>
            <a:r>
              <a:rPr lang="en-US" sz="1000" b="1" spc="300" kern="0" dirty="0">
                <a:solidFill>
                  <a:srgbClr val="E0561F"/>
                </a:solidFill>
                <a:latin typeface="Calibri" pitchFamily="34" charset="0"/>
                <a:ea typeface="Calibri" pitchFamily="34" charset="-122"/>
                <a:cs typeface="Calibri" pitchFamily="34" charset="-120"/>
              </a:rPr>
              <a:t>FUTURE SCOPE</a:t>
            </a:r>
            <a:endParaRPr lang="en-US" sz="1000" dirty="0"/>
          </a:p>
        </p:txBody>
      </p:sp>
      <p:sp>
        <p:nvSpPr>
          <p:cNvPr id="16" name="Shape 14"/>
          <p:cNvSpPr/>
          <p:nvPr/>
        </p:nvSpPr>
        <p:spPr>
          <a:xfrm>
            <a:off x="548640" y="5623560"/>
            <a:ext cx="992124" cy="438912"/>
          </a:xfrm>
          <a:prstGeom prst="roundRect">
            <a:avLst>
              <a:gd name="adj" fmla="val 50000"/>
            </a:avLst>
          </a:prstGeom>
          <a:solidFill>
            <a:srgbClr val="FFFFFF"/>
          </a:solidFill>
          <a:ln w="12700">
            <a:solidFill>
              <a:srgbClr val="E0561F"/>
            </a:solidFill>
            <a:prstDash val="solid"/>
          </a:ln>
        </p:spPr>
      </p:sp>
      <p:sp>
        <p:nvSpPr>
          <p:cNvPr id="17" name="Text 15"/>
          <p:cNvSpPr txBox="1"/>
          <p:nvPr/>
        </p:nvSpPr>
        <p:spPr>
          <a:xfrm>
            <a:off x="548640" y="5623560"/>
            <a:ext cx="992124" cy="438912"/>
          </a:xfrm>
          <a:prstGeom prst="rect">
            <a:avLst/>
          </a:prstGeom>
          <a:noFill/>
          <a:ln/>
        </p:spPr>
        <p:txBody>
          <a:bodyPr wrap="square" lIns="0" tIns="0" rIns="0" bIns="0" rtlCol="0" anchor="ctr"/>
          <a:lstStyle/>
          <a:p>
            <a:pPr algn="ctr" indent="0" marL="0">
              <a:buNone/>
            </a:pPr>
            <a:r>
              <a:rPr lang="en-US" sz="1250" b="1" dirty="0">
                <a:solidFill>
                  <a:srgbClr val="1A1D21"/>
                </a:solidFill>
                <a:latin typeface="Calibri" pitchFamily="34" charset="0"/>
                <a:ea typeface="Calibri" pitchFamily="34" charset="-122"/>
                <a:cs typeface="Calibri" pitchFamily="34" charset="-120"/>
              </a:rPr>
              <a:t>Barcode</a:t>
            </a:r>
            <a:endParaRPr lang="en-US" sz="1250" dirty="0"/>
          </a:p>
        </p:txBody>
      </p:sp>
      <p:sp>
        <p:nvSpPr>
          <p:cNvPr id="18" name="Shape 16"/>
          <p:cNvSpPr/>
          <p:nvPr/>
        </p:nvSpPr>
        <p:spPr>
          <a:xfrm>
            <a:off x="1723644" y="5623560"/>
            <a:ext cx="704088" cy="438912"/>
          </a:xfrm>
          <a:prstGeom prst="roundRect">
            <a:avLst>
              <a:gd name="adj" fmla="val 50000"/>
            </a:avLst>
          </a:prstGeom>
          <a:solidFill>
            <a:srgbClr val="FFFFFF"/>
          </a:solidFill>
          <a:ln w="12700">
            <a:solidFill>
              <a:srgbClr val="E0561F"/>
            </a:solidFill>
            <a:prstDash val="solid"/>
          </a:ln>
        </p:spPr>
      </p:sp>
      <p:sp>
        <p:nvSpPr>
          <p:cNvPr id="19" name="Text 17"/>
          <p:cNvSpPr txBox="1"/>
          <p:nvPr/>
        </p:nvSpPr>
        <p:spPr>
          <a:xfrm>
            <a:off x="1723644" y="5623560"/>
            <a:ext cx="704088" cy="438912"/>
          </a:xfrm>
          <a:prstGeom prst="rect">
            <a:avLst/>
          </a:prstGeom>
          <a:noFill/>
          <a:ln/>
        </p:spPr>
        <p:txBody>
          <a:bodyPr wrap="square" lIns="0" tIns="0" rIns="0" bIns="0" rtlCol="0" anchor="ctr"/>
          <a:lstStyle/>
          <a:p>
            <a:pPr algn="ctr" indent="0" marL="0">
              <a:buNone/>
            </a:pPr>
            <a:r>
              <a:rPr lang="en-US" sz="1250" b="1" dirty="0">
                <a:solidFill>
                  <a:srgbClr val="1A1D21"/>
                </a:solidFill>
                <a:latin typeface="Calibri" pitchFamily="34" charset="0"/>
                <a:ea typeface="Calibri" pitchFamily="34" charset="-122"/>
                <a:cs typeface="Calibri" pitchFamily="34" charset="-120"/>
              </a:rPr>
              <a:t>RFID</a:t>
            </a:r>
            <a:endParaRPr lang="en-US" sz="1250" dirty="0"/>
          </a:p>
        </p:txBody>
      </p:sp>
      <p:sp>
        <p:nvSpPr>
          <p:cNvPr id="20" name="Shape 18"/>
          <p:cNvSpPr/>
          <p:nvPr/>
        </p:nvSpPr>
        <p:spPr>
          <a:xfrm>
            <a:off x="2610612" y="5623560"/>
            <a:ext cx="608076" cy="438912"/>
          </a:xfrm>
          <a:prstGeom prst="roundRect">
            <a:avLst>
              <a:gd name="adj" fmla="val 50000"/>
            </a:avLst>
          </a:prstGeom>
          <a:solidFill>
            <a:srgbClr val="FFFFFF"/>
          </a:solidFill>
          <a:ln w="12700">
            <a:solidFill>
              <a:srgbClr val="E0561F"/>
            </a:solidFill>
            <a:prstDash val="solid"/>
          </a:ln>
        </p:spPr>
      </p:sp>
      <p:sp>
        <p:nvSpPr>
          <p:cNvPr id="21" name="Text 19"/>
          <p:cNvSpPr txBox="1"/>
          <p:nvPr/>
        </p:nvSpPr>
        <p:spPr>
          <a:xfrm>
            <a:off x="2610612" y="5623560"/>
            <a:ext cx="608076" cy="438912"/>
          </a:xfrm>
          <a:prstGeom prst="rect">
            <a:avLst/>
          </a:prstGeom>
          <a:noFill/>
          <a:ln/>
        </p:spPr>
        <p:txBody>
          <a:bodyPr wrap="square" lIns="0" tIns="0" rIns="0" bIns="0" rtlCol="0" anchor="ctr"/>
          <a:lstStyle/>
          <a:p>
            <a:pPr algn="ctr" indent="0" marL="0">
              <a:buNone/>
            </a:pPr>
            <a:r>
              <a:rPr lang="en-US" sz="1250" b="1" dirty="0">
                <a:solidFill>
                  <a:srgbClr val="1A1D21"/>
                </a:solidFill>
                <a:latin typeface="Calibri" pitchFamily="34" charset="0"/>
                <a:ea typeface="Calibri" pitchFamily="34" charset="-122"/>
                <a:cs typeface="Calibri" pitchFamily="34" charset="-120"/>
              </a:rPr>
              <a:t>SQL</a:t>
            </a:r>
            <a:endParaRPr lang="en-US" sz="1250" dirty="0"/>
          </a:p>
        </p:txBody>
      </p:sp>
      <p:sp>
        <p:nvSpPr>
          <p:cNvPr id="22" name="Shape 20"/>
          <p:cNvSpPr/>
          <p:nvPr/>
        </p:nvSpPr>
        <p:spPr>
          <a:xfrm>
            <a:off x="3401568" y="5623560"/>
            <a:ext cx="608076" cy="438912"/>
          </a:xfrm>
          <a:prstGeom prst="roundRect">
            <a:avLst>
              <a:gd name="adj" fmla="val 50000"/>
            </a:avLst>
          </a:prstGeom>
          <a:solidFill>
            <a:srgbClr val="FFFFFF"/>
          </a:solidFill>
          <a:ln w="12700">
            <a:solidFill>
              <a:srgbClr val="E0561F"/>
            </a:solidFill>
            <a:prstDash val="solid"/>
          </a:ln>
        </p:spPr>
      </p:sp>
      <p:sp>
        <p:nvSpPr>
          <p:cNvPr id="23" name="Text 21"/>
          <p:cNvSpPr txBox="1"/>
          <p:nvPr/>
        </p:nvSpPr>
        <p:spPr>
          <a:xfrm>
            <a:off x="3401568" y="5623560"/>
            <a:ext cx="608076" cy="438912"/>
          </a:xfrm>
          <a:prstGeom prst="rect">
            <a:avLst/>
          </a:prstGeom>
          <a:noFill/>
          <a:ln/>
        </p:spPr>
        <p:txBody>
          <a:bodyPr wrap="square" lIns="0" tIns="0" rIns="0" bIns="0" rtlCol="0" anchor="ctr"/>
          <a:lstStyle/>
          <a:p>
            <a:pPr algn="ctr" indent="0" marL="0">
              <a:buNone/>
            </a:pPr>
            <a:r>
              <a:rPr lang="en-US" sz="1250" b="1" dirty="0">
                <a:solidFill>
                  <a:srgbClr val="1A1D21"/>
                </a:solidFill>
                <a:latin typeface="Calibri" pitchFamily="34" charset="0"/>
                <a:ea typeface="Calibri" pitchFamily="34" charset="-122"/>
                <a:cs typeface="Calibri" pitchFamily="34" charset="-120"/>
              </a:rPr>
              <a:t>IoT</a:t>
            </a:r>
            <a:endParaRPr lang="en-US" sz="1250" dirty="0"/>
          </a:p>
        </p:txBody>
      </p:sp>
      <p:sp>
        <p:nvSpPr>
          <p:cNvPr id="24" name="Shape 22"/>
          <p:cNvSpPr/>
          <p:nvPr/>
        </p:nvSpPr>
        <p:spPr>
          <a:xfrm>
            <a:off x="4192524" y="5623560"/>
            <a:ext cx="608076" cy="438912"/>
          </a:xfrm>
          <a:prstGeom prst="roundRect">
            <a:avLst>
              <a:gd name="adj" fmla="val 50000"/>
            </a:avLst>
          </a:prstGeom>
          <a:solidFill>
            <a:srgbClr val="FFFFFF"/>
          </a:solidFill>
          <a:ln w="12700">
            <a:solidFill>
              <a:srgbClr val="E0561F"/>
            </a:solidFill>
            <a:prstDash val="solid"/>
          </a:ln>
        </p:spPr>
      </p:sp>
      <p:sp>
        <p:nvSpPr>
          <p:cNvPr id="25" name="Text 23"/>
          <p:cNvSpPr txBox="1"/>
          <p:nvPr/>
        </p:nvSpPr>
        <p:spPr>
          <a:xfrm>
            <a:off x="4192524" y="5623560"/>
            <a:ext cx="608076" cy="438912"/>
          </a:xfrm>
          <a:prstGeom prst="rect">
            <a:avLst/>
          </a:prstGeom>
          <a:noFill/>
          <a:ln/>
        </p:spPr>
        <p:txBody>
          <a:bodyPr wrap="square" lIns="0" tIns="0" rIns="0" bIns="0" rtlCol="0" anchor="ctr"/>
          <a:lstStyle/>
          <a:p>
            <a:pPr algn="ctr" indent="0" marL="0">
              <a:buNone/>
            </a:pPr>
            <a:r>
              <a:rPr lang="en-US" sz="1250" b="1" dirty="0">
                <a:solidFill>
                  <a:srgbClr val="1A1D21"/>
                </a:solidFill>
                <a:latin typeface="Calibri" pitchFamily="34" charset="0"/>
                <a:ea typeface="Calibri" pitchFamily="34" charset="-122"/>
                <a:cs typeface="Calibri" pitchFamily="34" charset="-120"/>
              </a:rPr>
              <a:t>ERP</a:t>
            </a:r>
            <a:endParaRPr lang="en-US" sz="1250" dirty="0"/>
          </a:p>
        </p:txBody>
      </p:sp>
      <p:sp>
        <p:nvSpPr>
          <p:cNvPr id="26" name="Shape 24"/>
          <p:cNvSpPr/>
          <p:nvPr/>
        </p:nvSpPr>
        <p:spPr>
          <a:xfrm>
            <a:off x="4983480" y="5623560"/>
            <a:ext cx="1088136" cy="438912"/>
          </a:xfrm>
          <a:prstGeom prst="roundRect">
            <a:avLst>
              <a:gd name="adj" fmla="val 50000"/>
            </a:avLst>
          </a:prstGeom>
          <a:solidFill>
            <a:srgbClr val="FFFFFF"/>
          </a:solidFill>
          <a:ln w="12700">
            <a:solidFill>
              <a:srgbClr val="E0561F"/>
            </a:solidFill>
            <a:prstDash val="solid"/>
          </a:ln>
        </p:spPr>
      </p:sp>
      <p:sp>
        <p:nvSpPr>
          <p:cNvPr id="27" name="Text 25"/>
          <p:cNvSpPr txBox="1"/>
          <p:nvPr/>
        </p:nvSpPr>
        <p:spPr>
          <a:xfrm>
            <a:off x="4983480" y="5623560"/>
            <a:ext cx="1088136" cy="438912"/>
          </a:xfrm>
          <a:prstGeom prst="rect">
            <a:avLst/>
          </a:prstGeom>
          <a:noFill/>
          <a:ln/>
        </p:spPr>
        <p:txBody>
          <a:bodyPr wrap="square" lIns="0" tIns="0" rIns="0" bIns="0" rtlCol="0" anchor="ctr"/>
          <a:lstStyle/>
          <a:p>
            <a:pPr algn="ctr" indent="0" marL="0">
              <a:buNone/>
            </a:pPr>
            <a:r>
              <a:rPr lang="en-US" sz="1250" b="1" dirty="0">
                <a:solidFill>
                  <a:srgbClr val="1A1D21"/>
                </a:solidFill>
                <a:latin typeface="Calibri" pitchFamily="34" charset="0"/>
                <a:ea typeface="Calibri" pitchFamily="34" charset="-122"/>
                <a:cs typeface="Calibri" pitchFamily="34" charset="-120"/>
              </a:rPr>
              <a:t>Power BI</a:t>
            </a:r>
            <a:endParaRPr lang="en-US" sz="1250" dirty="0"/>
          </a:p>
        </p:txBody>
      </p:sp>
      <p:sp>
        <p:nvSpPr>
          <p:cNvPr id="28" name="Shape 26"/>
          <p:cNvSpPr/>
          <p:nvPr/>
        </p:nvSpPr>
        <p:spPr>
          <a:xfrm>
            <a:off x="6254496" y="5623560"/>
            <a:ext cx="2240280" cy="438912"/>
          </a:xfrm>
          <a:prstGeom prst="roundRect">
            <a:avLst>
              <a:gd name="adj" fmla="val 50000"/>
            </a:avLst>
          </a:prstGeom>
          <a:solidFill>
            <a:srgbClr val="FFFFFF"/>
          </a:solidFill>
          <a:ln w="12700">
            <a:solidFill>
              <a:srgbClr val="E0561F"/>
            </a:solidFill>
            <a:prstDash val="solid"/>
          </a:ln>
        </p:spPr>
      </p:sp>
      <p:sp>
        <p:nvSpPr>
          <p:cNvPr id="29" name="Text 27"/>
          <p:cNvSpPr txBox="1"/>
          <p:nvPr/>
        </p:nvSpPr>
        <p:spPr>
          <a:xfrm>
            <a:off x="6254496" y="5623560"/>
            <a:ext cx="2240280" cy="438912"/>
          </a:xfrm>
          <a:prstGeom prst="rect">
            <a:avLst/>
          </a:prstGeom>
          <a:noFill/>
          <a:ln/>
        </p:spPr>
        <p:txBody>
          <a:bodyPr wrap="square" lIns="0" tIns="0" rIns="0" bIns="0" rtlCol="0" anchor="ctr"/>
          <a:lstStyle/>
          <a:p>
            <a:pPr algn="ctr" indent="0" marL="0">
              <a:buNone/>
            </a:pPr>
            <a:r>
              <a:rPr lang="en-US" sz="1250" b="1" dirty="0">
                <a:solidFill>
                  <a:srgbClr val="1A1D21"/>
                </a:solidFill>
                <a:latin typeface="Calibri" pitchFamily="34" charset="0"/>
                <a:ea typeface="Calibri" pitchFamily="34" charset="-122"/>
                <a:cs typeface="Calibri" pitchFamily="34" charset="-120"/>
              </a:rPr>
              <a:t>Predictive analytics</a:t>
            </a:r>
            <a:endParaRPr lang="en-US" sz="1250" dirty="0"/>
          </a:p>
        </p:txBody>
      </p:sp>
      <p:sp>
        <p:nvSpPr>
          <p:cNvPr id="30" name="Text 28"/>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B9BEC2"/>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21518"/>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14</a:t>
            </a:r>
            <a:pPr indent="0" marL="0">
              <a:buNone/>
            </a:pPr>
            <a:r>
              <a:rPr lang="en-US" sz="1050" spc="300" kern="0" dirty="0">
                <a:solidFill>
                  <a:srgbClr val="9AA1A7"/>
                </a:solidFill>
                <a:latin typeface="Calibri" pitchFamily="34" charset="0"/>
                <a:ea typeface="Calibri" pitchFamily="34" charset="-122"/>
                <a:cs typeface="Calibri" pitchFamily="34" charset="-120"/>
              </a:rPr>
              <a:t>   FINAL INSIGHT</a:t>
            </a:r>
            <a:endParaRPr lang="en-US" sz="1050" dirty="0"/>
          </a:p>
        </p:txBody>
      </p:sp>
      <p:sp>
        <p:nvSpPr>
          <p:cNvPr id="3" name="Text 1"/>
          <p:cNvSpPr txBox="1"/>
          <p:nvPr/>
        </p:nvSpPr>
        <p:spPr>
          <a:xfrm>
            <a:off x="548640" y="2103120"/>
            <a:ext cx="10972800" cy="2194560"/>
          </a:xfrm>
          <a:prstGeom prst="rect">
            <a:avLst/>
          </a:prstGeom>
          <a:noFill/>
          <a:ln/>
        </p:spPr>
        <p:txBody>
          <a:bodyPr wrap="square" lIns="0" tIns="0" rIns="0" bIns="0" rtlCol="0" anchor="t"/>
          <a:lstStyle/>
          <a:p>
            <a:pPr indent="0" marL="0">
              <a:buNone/>
            </a:pPr>
            <a:r>
              <a:rPr lang="en-US" sz="5400" dirty="0">
                <a:solidFill>
                  <a:srgbClr val="FFFFFF"/>
                </a:solidFill>
                <a:latin typeface="Cambria" pitchFamily="34" charset="0"/>
                <a:ea typeface="Cambria" pitchFamily="34" charset="-122"/>
                <a:cs typeface="Cambria" pitchFamily="34" charset="-120"/>
              </a:rPr>
              <a:t>The hardest part wasn't</a:t>
            </a:r>
            <a:endParaRPr lang="en-US" sz="5400" dirty="0"/>
          </a:p>
          <a:p>
            <a:pPr indent="0" marL="0">
              <a:buNone/>
            </a:pPr>
            <a:r>
              <a:rPr lang="en-US" sz="5400" dirty="0">
                <a:solidFill>
                  <a:srgbClr val="FFFFFF"/>
                </a:solidFill>
                <a:latin typeface="Cambria" pitchFamily="34" charset="0"/>
                <a:ea typeface="Cambria" pitchFamily="34" charset="-122"/>
                <a:cs typeface="Cambria" pitchFamily="34" charset="-120"/>
              </a:rPr>
              <a:t>building the workbook.</a:t>
            </a:r>
            <a:endParaRPr lang="en-US" sz="5400" dirty="0"/>
          </a:p>
        </p:txBody>
      </p:sp>
      <p:sp>
        <p:nvSpPr>
          <p:cNvPr id="4" name="Text 2"/>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7D858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21518"/>
        </a:solidFill>
      </p:bgPr>
    </p:bg>
    <p:spTree>
      <p:nvGrpSpPr>
        <p:cNvPr id="1" name=""/>
        <p:cNvGrpSpPr/>
        <p:nvPr/>
      </p:nvGrpSpPr>
      <p:grpSpPr>
        <a:xfrm>
          <a:off x="0" y="0"/>
          <a:ext cx="0" cy="0"/>
          <a:chOff x="0" y="0"/>
          <a:chExt cx="0" cy="0"/>
        </a:xfrm>
      </p:grpSpPr>
      <p:sp>
        <p:nvSpPr>
          <p:cNvPr id="2" name="Text 0"/>
          <p:cNvSpPr txBox="1"/>
          <p:nvPr/>
        </p:nvSpPr>
        <p:spPr>
          <a:xfrm>
            <a:off x="548640" y="347472"/>
            <a:ext cx="7315200" cy="274320"/>
          </a:xfrm>
          <a:prstGeom prst="rect">
            <a:avLst/>
          </a:prstGeom>
          <a:noFill/>
          <a:ln/>
        </p:spPr>
        <p:txBody>
          <a:bodyPr wrap="square" lIns="0" tIns="0" rIns="0" bIns="0" rtlCol="0" anchor="ctr"/>
          <a:lstStyle/>
          <a:p>
            <a:pPr indent="0" marL="0">
              <a:buNone/>
            </a:pPr>
            <a:r>
              <a:rPr lang="en-US" sz="1050" b="1" spc="300" kern="0" dirty="0">
                <a:solidFill>
                  <a:srgbClr val="E0561F"/>
                </a:solidFill>
                <a:latin typeface="Calibri" pitchFamily="34" charset="0"/>
                <a:ea typeface="Calibri" pitchFamily="34" charset="-122"/>
                <a:cs typeface="Calibri" pitchFamily="34" charset="-120"/>
              </a:rPr>
              <a:t>ACT 14</a:t>
            </a:r>
            <a:pPr indent="0" marL="0">
              <a:buNone/>
            </a:pPr>
            <a:r>
              <a:rPr lang="en-US" sz="1050" spc="300" kern="0" dirty="0">
                <a:solidFill>
                  <a:srgbClr val="9AA1A7"/>
                </a:solidFill>
                <a:latin typeface="Calibri" pitchFamily="34" charset="0"/>
                <a:ea typeface="Calibri" pitchFamily="34" charset="-122"/>
                <a:cs typeface="Calibri" pitchFamily="34" charset="-120"/>
              </a:rPr>
              <a:t>   FINAL INSIGHT</a:t>
            </a:r>
            <a:endParaRPr lang="en-US" sz="1050" dirty="0"/>
          </a:p>
        </p:txBody>
      </p:sp>
      <p:sp>
        <p:nvSpPr>
          <p:cNvPr id="3" name="Text 1"/>
          <p:cNvSpPr txBox="1"/>
          <p:nvPr/>
        </p:nvSpPr>
        <p:spPr>
          <a:xfrm>
            <a:off x="548640" y="1188720"/>
            <a:ext cx="10607040" cy="2103120"/>
          </a:xfrm>
          <a:prstGeom prst="rect">
            <a:avLst/>
          </a:prstGeom>
          <a:noFill/>
          <a:ln/>
        </p:spPr>
        <p:txBody>
          <a:bodyPr wrap="square" lIns="0" tIns="0" rIns="0" bIns="0" rtlCol="0" anchor="t"/>
          <a:lstStyle/>
          <a:p>
            <a:pPr indent="0" marL="0">
              <a:buNone/>
            </a:pPr>
            <a:r>
              <a:rPr lang="en-US" sz="3800" dirty="0">
                <a:solidFill>
                  <a:srgbClr val="FFFFFF"/>
                </a:solidFill>
                <a:latin typeface="Cambria" pitchFamily="34" charset="0"/>
                <a:ea typeface="Cambria" pitchFamily="34" charset="-122"/>
                <a:cs typeface="Cambria" pitchFamily="34" charset="-120"/>
              </a:rPr>
              <a:t>It was understanding the operation well enough to know what the system needed to answer.</a:t>
            </a:r>
            <a:endParaRPr lang="en-US" sz="3800" dirty="0"/>
          </a:p>
        </p:txBody>
      </p:sp>
      <p:sp>
        <p:nvSpPr>
          <p:cNvPr id="4" name="Shape 2"/>
          <p:cNvSpPr/>
          <p:nvPr/>
        </p:nvSpPr>
        <p:spPr>
          <a:xfrm>
            <a:off x="548640" y="4023360"/>
            <a:ext cx="2514600" cy="914400"/>
          </a:xfrm>
          <a:prstGeom prst="rect">
            <a:avLst/>
          </a:prstGeom>
          <a:solidFill>
            <a:srgbClr val="2A3138"/>
          </a:solidFill>
          <a:ln/>
        </p:spPr>
      </p:sp>
      <p:sp>
        <p:nvSpPr>
          <p:cNvPr id="5" name="Text 3"/>
          <p:cNvSpPr txBox="1"/>
          <p:nvPr/>
        </p:nvSpPr>
        <p:spPr>
          <a:xfrm>
            <a:off x="685800" y="4023360"/>
            <a:ext cx="2240280"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Manufacturing understanding</a:t>
            </a:r>
            <a:endParaRPr lang="en-US" sz="1500" dirty="0"/>
          </a:p>
        </p:txBody>
      </p:sp>
      <p:sp>
        <p:nvSpPr>
          <p:cNvPr id="6" name="Text 4"/>
          <p:cNvSpPr txBox="1"/>
          <p:nvPr/>
        </p:nvSpPr>
        <p:spPr>
          <a:xfrm>
            <a:off x="3063240" y="4023360"/>
            <a:ext cx="301752" cy="914400"/>
          </a:xfrm>
          <a:prstGeom prst="rect">
            <a:avLst/>
          </a:prstGeom>
          <a:noFill/>
          <a:ln/>
        </p:spPr>
        <p:txBody>
          <a:bodyPr wrap="square" lIns="0" tIns="0" rIns="0" bIns="0" rtlCol="0" anchor="ctr"/>
          <a:lstStyle/>
          <a:p>
            <a:pPr algn="ctr" indent="0" marL="0">
              <a:buNone/>
            </a:pPr>
            <a:r>
              <a:rPr lang="en-US" sz="1600" dirty="0">
                <a:solidFill>
                  <a:srgbClr val="E0561F"/>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3364992" y="4023360"/>
            <a:ext cx="2514600" cy="914400"/>
          </a:xfrm>
          <a:prstGeom prst="rect">
            <a:avLst/>
          </a:prstGeom>
          <a:solidFill>
            <a:srgbClr val="2A3138"/>
          </a:solidFill>
          <a:ln/>
        </p:spPr>
      </p:sp>
      <p:sp>
        <p:nvSpPr>
          <p:cNvPr id="8" name="Text 6"/>
          <p:cNvSpPr txBox="1"/>
          <p:nvPr/>
        </p:nvSpPr>
        <p:spPr>
          <a:xfrm>
            <a:off x="3502152" y="4023360"/>
            <a:ext cx="2240280"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Structured data</a:t>
            </a:r>
            <a:endParaRPr lang="en-US" sz="1500" dirty="0"/>
          </a:p>
        </p:txBody>
      </p:sp>
      <p:sp>
        <p:nvSpPr>
          <p:cNvPr id="9" name="Text 7"/>
          <p:cNvSpPr txBox="1"/>
          <p:nvPr/>
        </p:nvSpPr>
        <p:spPr>
          <a:xfrm>
            <a:off x="5879592" y="4023360"/>
            <a:ext cx="301752" cy="914400"/>
          </a:xfrm>
          <a:prstGeom prst="rect">
            <a:avLst/>
          </a:prstGeom>
          <a:noFill/>
          <a:ln/>
        </p:spPr>
        <p:txBody>
          <a:bodyPr wrap="square" lIns="0" tIns="0" rIns="0" bIns="0" rtlCol="0" anchor="ctr"/>
          <a:lstStyle/>
          <a:p>
            <a:pPr algn="ctr" indent="0" marL="0">
              <a:buNone/>
            </a:pPr>
            <a:r>
              <a:rPr lang="en-US" sz="1600" dirty="0">
                <a:solidFill>
                  <a:srgbClr val="E0561F"/>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6181344" y="4023360"/>
            <a:ext cx="2514600" cy="914400"/>
          </a:xfrm>
          <a:prstGeom prst="rect">
            <a:avLst/>
          </a:prstGeom>
          <a:solidFill>
            <a:srgbClr val="2A3138"/>
          </a:solidFill>
          <a:ln/>
        </p:spPr>
      </p:sp>
      <p:sp>
        <p:nvSpPr>
          <p:cNvPr id="11" name="Text 9"/>
          <p:cNvSpPr txBox="1"/>
          <p:nvPr/>
        </p:nvSpPr>
        <p:spPr>
          <a:xfrm>
            <a:off x="6318504" y="4023360"/>
            <a:ext cx="2240280"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Traceability</a:t>
            </a:r>
            <a:endParaRPr lang="en-US" sz="1500" dirty="0"/>
          </a:p>
        </p:txBody>
      </p:sp>
      <p:sp>
        <p:nvSpPr>
          <p:cNvPr id="12" name="Text 10"/>
          <p:cNvSpPr txBox="1"/>
          <p:nvPr/>
        </p:nvSpPr>
        <p:spPr>
          <a:xfrm>
            <a:off x="8695944" y="4023360"/>
            <a:ext cx="301752" cy="914400"/>
          </a:xfrm>
          <a:prstGeom prst="rect">
            <a:avLst/>
          </a:prstGeom>
          <a:noFill/>
          <a:ln/>
        </p:spPr>
        <p:txBody>
          <a:bodyPr wrap="square" lIns="0" tIns="0" rIns="0" bIns="0" rtlCol="0" anchor="ctr"/>
          <a:lstStyle/>
          <a:p>
            <a:pPr algn="ctr" indent="0" marL="0">
              <a:buNone/>
            </a:pPr>
            <a:r>
              <a:rPr lang="en-US" sz="1600" dirty="0">
                <a:solidFill>
                  <a:srgbClr val="E0561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8997696" y="4023360"/>
            <a:ext cx="2514600" cy="914400"/>
          </a:xfrm>
          <a:prstGeom prst="rect">
            <a:avLst/>
          </a:prstGeom>
          <a:solidFill>
            <a:srgbClr val="E0561F"/>
          </a:solidFill>
          <a:ln/>
        </p:spPr>
      </p:sp>
      <p:sp>
        <p:nvSpPr>
          <p:cNvPr id="14" name="Text 12"/>
          <p:cNvSpPr txBox="1"/>
          <p:nvPr/>
        </p:nvSpPr>
        <p:spPr>
          <a:xfrm>
            <a:off x="9134856" y="4023360"/>
            <a:ext cx="2240280"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Decision support</a:t>
            </a:r>
            <a:endParaRPr lang="en-US" sz="1500" dirty="0"/>
          </a:p>
        </p:txBody>
      </p:sp>
      <p:sp>
        <p:nvSpPr>
          <p:cNvPr id="15" name="Text 13"/>
          <p:cNvSpPr txBox="1"/>
          <p:nvPr/>
        </p:nvSpPr>
        <p:spPr>
          <a:xfrm>
            <a:off x="11185855" y="6355080"/>
            <a:ext cx="457200" cy="228600"/>
          </a:xfrm>
          <a:prstGeom prst="rect">
            <a:avLst/>
          </a:prstGeom>
          <a:noFill/>
          <a:ln/>
        </p:spPr>
        <p:txBody>
          <a:bodyPr wrap="square" lIns="0" tIns="0" rIns="0" bIns="0" rtlCol="0" anchor="ctr"/>
          <a:lstStyle/>
          <a:p>
            <a:pPr algn="r" indent="0" marL="0">
              <a:buNone/>
            </a:pPr>
            <a:r>
              <a:rPr lang="en-US" sz="900" dirty="0">
                <a:solidFill>
                  <a:srgbClr val="7D858B"/>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21518"/>
        </a:solidFill>
      </p:bgPr>
    </p:bg>
    <p:spTree>
      <p:nvGrpSpPr>
        <p:cNvPr id="1" name=""/>
        <p:cNvGrpSpPr/>
        <p:nvPr/>
      </p:nvGrpSpPr>
      <p:grpSpPr>
        <a:xfrm>
          <a:off x="0" y="0"/>
          <a:ext cx="0" cy="0"/>
          <a:chOff x="0" y="0"/>
          <a:chExt cx="0" cy="0"/>
        </a:xfrm>
      </p:grpSpPr>
      <p:pic>
        <p:nvPicPr>
          <p:cNvPr id="2" name="Image 0" descr="/home/user/master-executive-system/sip-presentation/source/photos/1.jp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75000"/>
            </a:srgbClr>
          </a:solidFill>
          <a:ln/>
        </p:spPr>
      </p:sp>
      <p:sp>
        <p:nvSpPr>
          <p:cNvPr id="4" name="Text 1"/>
          <p:cNvSpPr txBox="1"/>
          <p:nvPr/>
        </p:nvSpPr>
        <p:spPr>
          <a:xfrm>
            <a:off x="548640" y="1097280"/>
            <a:ext cx="10972800" cy="640080"/>
          </a:xfrm>
          <a:prstGeom prst="rect">
            <a:avLst/>
          </a:prstGeom>
          <a:noFill/>
          <a:ln/>
        </p:spPr>
        <p:txBody>
          <a:bodyPr wrap="square" lIns="0" tIns="0" rIns="0" bIns="0" rtlCol="0" anchor="ctr"/>
          <a:lstStyle/>
          <a:p>
            <a:pPr indent="0" marL="0">
              <a:buNone/>
            </a:pPr>
            <a:r>
              <a:rPr lang="en-US" sz="2600" i="1" dirty="0">
                <a:solidFill>
                  <a:srgbClr val="D5D9DC"/>
                </a:solidFill>
                <a:latin typeface="Cambria" pitchFamily="34" charset="0"/>
                <a:ea typeface="Cambria" pitchFamily="34" charset="-122"/>
                <a:cs typeface="Cambria" pitchFamily="34" charset="-120"/>
              </a:rPr>
              <a:t>“The bristles are getting off.”</a:t>
            </a:r>
            <a:endParaRPr lang="en-US" sz="2600" dirty="0"/>
          </a:p>
        </p:txBody>
      </p:sp>
      <p:sp>
        <p:nvSpPr>
          <p:cNvPr id="5" name="Text 2"/>
          <p:cNvSpPr txBox="1"/>
          <p:nvPr/>
        </p:nvSpPr>
        <p:spPr>
          <a:xfrm>
            <a:off x="548640" y="1737360"/>
            <a:ext cx="10972800" cy="640080"/>
          </a:xfrm>
          <a:prstGeom prst="rect">
            <a:avLst/>
          </a:prstGeom>
          <a:noFill/>
          <a:ln/>
        </p:spPr>
        <p:txBody>
          <a:bodyPr wrap="square" lIns="0" tIns="0" rIns="0" bIns="0" rtlCol="0" anchor="ctr"/>
          <a:lstStyle/>
          <a:p>
            <a:pPr indent="0" marL="0">
              <a:buNone/>
            </a:pPr>
            <a:r>
              <a:rPr lang="en-US" sz="2600" dirty="0">
                <a:solidFill>
                  <a:srgbClr val="FFFFFF"/>
                </a:solidFill>
                <a:latin typeface="Cambria" pitchFamily="34" charset="0"/>
                <a:ea typeface="Cambria" pitchFamily="34" charset="-122"/>
                <a:cs typeface="Cambria" pitchFamily="34" charset="-120"/>
              </a:rPr>
              <a:t>Now we know where to look.</a:t>
            </a:r>
            <a:endParaRPr lang="en-US" sz="2600" dirty="0"/>
          </a:p>
        </p:txBody>
      </p:sp>
      <p:sp>
        <p:nvSpPr>
          <p:cNvPr id="6" name="Text 3"/>
          <p:cNvSpPr txBox="1"/>
          <p:nvPr/>
        </p:nvSpPr>
        <p:spPr>
          <a:xfrm>
            <a:off x="548640" y="3931920"/>
            <a:ext cx="10972800" cy="1097280"/>
          </a:xfrm>
          <a:prstGeom prst="rect">
            <a:avLst/>
          </a:prstGeom>
          <a:noFill/>
          <a:ln/>
        </p:spPr>
        <p:txBody>
          <a:bodyPr wrap="square" lIns="0" tIns="0" rIns="0" bIns="0" rtlCol="0" anchor="ctr"/>
          <a:lstStyle/>
          <a:p>
            <a:pPr indent="0" marL="0">
              <a:buNone/>
            </a:pPr>
            <a:r>
              <a:rPr lang="en-US" sz="6600" dirty="0">
                <a:solidFill>
                  <a:srgbClr val="FFFFFF"/>
                </a:solidFill>
                <a:latin typeface="Cambria" pitchFamily="34" charset="0"/>
                <a:ea typeface="Cambria" pitchFamily="34" charset="-122"/>
                <a:cs typeface="Cambria" pitchFamily="34" charset="-120"/>
              </a:rPr>
              <a:t>Thank you.</a:t>
            </a:r>
            <a:endParaRPr lang="en-US" sz="6600" dirty="0"/>
          </a:p>
        </p:txBody>
      </p:sp>
      <p:sp>
        <p:nvSpPr>
          <p:cNvPr id="7" name="Text 4"/>
          <p:cNvSpPr txBox="1"/>
          <p:nvPr/>
        </p:nvSpPr>
        <p:spPr>
          <a:xfrm>
            <a:off x="548640" y="5029200"/>
            <a:ext cx="109728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Questions welcome.</a:t>
            </a:r>
            <a:endParaRPr lang="en-US" sz="2000" dirty="0"/>
          </a:p>
        </p:txBody>
      </p:sp>
      <p:sp>
        <p:nvSpPr>
          <p:cNvPr id="8" name="Text 5"/>
          <p:cNvSpPr txBox="1"/>
          <p:nvPr/>
        </p:nvSpPr>
        <p:spPr>
          <a:xfrm>
            <a:off x="548640" y="6126480"/>
            <a:ext cx="10972800" cy="274320"/>
          </a:xfrm>
          <a:prstGeom prst="rect">
            <a:avLst/>
          </a:prstGeom>
          <a:noFill/>
          <a:ln/>
        </p:spPr>
        <p:txBody>
          <a:bodyPr wrap="square" lIns="0" tIns="0" rIns="0" bIns="0" rtlCol="0" anchor="ctr"/>
          <a:lstStyle/>
          <a:p>
            <a:pPr indent="0" marL="0">
              <a:buNone/>
            </a:pPr>
            <a:r>
              <a:rPr lang="en-US" sz="1200" dirty="0">
                <a:solidFill>
                  <a:srgbClr val="C9CDD1"/>
                </a:solidFill>
                <a:latin typeface="Calibri" pitchFamily="34" charset="0"/>
                <a:ea typeface="Calibri" pitchFamily="34" charset="-122"/>
                <a:cs typeface="Calibri" pitchFamily="34" charset="-120"/>
              </a:rPr>
              <a:t>Shreejita Srivastava  ·  MBA, IIIT Allahabad  ·  IMB2025026  ·  SIP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a complaint to a system: SIP at JHS Svendgaard Laboratories</dc:title>
  <dc:subject>PptxGenJS Presentation</dc:subject>
  <dc:creator>Shreejita Srivastava</dc:creator>
  <cp:lastModifiedBy>Shreejita Srivastava</cp:lastModifiedBy>
  <cp:revision>1</cp:revision>
  <dcterms:created xsi:type="dcterms:W3CDTF">2026-09-28T13:32:55Z</dcterms:created>
  <dcterms:modified xsi:type="dcterms:W3CDTF">2026-09-28T13:32:55Z</dcterms:modified>
</cp:coreProperties>
</file>